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7" r:id="rId11"/>
    <p:sldId id="268" r:id="rId12"/>
    <p:sldId id="269" r:id="rId13"/>
    <p:sldId id="270" r:id="rId14"/>
    <p:sldId id="272" r:id="rId15"/>
    <p:sldId id="271"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841A3CD-ACCD-4BDC-BF4B-C42CF2019C39}">
          <p14:sldIdLst>
            <p14:sldId id="256"/>
            <p14:sldId id="257"/>
            <p14:sldId id="258"/>
            <p14:sldId id="259"/>
            <p14:sldId id="260"/>
            <p14:sldId id="261"/>
            <p14:sldId id="262"/>
            <p14:sldId id="263"/>
            <p14:sldId id="264"/>
            <p14:sldId id="267"/>
            <p14:sldId id="268"/>
            <p14:sldId id="269"/>
            <p14:sldId id="270"/>
            <p14:sldId id="272"/>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1" d="100"/>
          <a:sy n="91" d="100"/>
        </p:scale>
        <p:origin x="96"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61327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8D1A8-7FDC-5B21-6359-DE6CBAAD6B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1A41FF-9662-0FCC-D14E-1449CCC951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F73AD2-DB66-160A-70A9-B19A78DDFE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A0E856-4C44-55F6-23B1-48CD2F057533}"/>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2463446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9.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9.png"/><Relationship Id="rId10" Type="http://schemas.openxmlformats.org/officeDocument/2006/relationships/image" Target="../media/image10.png"/><Relationship Id="rId4" Type="http://schemas.openxmlformats.org/officeDocument/2006/relationships/image" Target="../media/image20.jpg"/><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8.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9.png"/><Relationship Id="rId7"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30.png"/><Relationship Id="rId4" Type="http://schemas.openxmlformats.org/officeDocument/2006/relationships/image" Target="../media/image21.png"/><Relationship Id="rId9" Type="http://schemas.openxmlformats.org/officeDocument/2006/relationships/image" Target="../media/image17.png"/></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1.png"/><Relationship Id="rId7"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6.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2.png"/><Relationship Id="rId7"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6.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1.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8" Type="http://schemas.openxmlformats.org/officeDocument/2006/relationships/image" Target="../media/image34.svg"/><Relationship Id="rId13" Type="http://schemas.openxmlformats.org/officeDocument/2006/relationships/image" Target="../media/image39.png"/><Relationship Id="rId3" Type="http://schemas.openxmlformats.org/officeDocument/2006/relationships/image" Target="../media/image25.png"/><Relationship Id="rId7" Type="http://schemas.openxmlformats.org/officeDocument/2006/relationships/image" Target="../media/image33.png"/><Relationship Id="rId12" Type="http://schemas.openxmlformats.org/officeDocument/2006/relationships/image" Target="../media/image38.sv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37.png"/><Relationship Id="rId5" Type="http://schemas.openxmlformats.org/officeDocument/2006/relationships/image" Target="../media/image26.png"/><Relationship Id="rId10" Type="http://schemas.openxmlformats.org/officeDocument/2006/relationships/image" Target="../media/image36.svg"/><Relationship Id="rId4" Type="http://schemas.openxmlformats.org/officeDocument/2006/relationships/image" Target="../media/image32.png"/><Relationship Id="rId9" Type="http://schemas.openxmlformats.org/officeDocument/2006/relationships/image" Target="../media/image35.png"/><Relationship Id="rId14" Type="http://schemas.openxmlformats.org/officeDocument/2006/relationships/image" Target="../media/image40.sv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33"/>
        </a:solidFill>
        <a:effectLst/>
      </p:bgPr>
    </p:bg>
    <p:spTree>
      <p:nvGrpSpPr>
        <p:cNvPr id="1" name=""/>
        <p:cNvGrpSpPr/>
        <p:nvPr/>
      </p:nvGrpSpPr>
      <p:grpSpPr>
        <a:xfrm>
          <a:off x="0" y="0"/>
          <a:ext cx="0" cy="0"/>
          <a:chOff x="0" y="0"/>
          <a:chExt cx="0" cy="0"/>
        </a:xfrm>
      </p:grpSpPr>
      <p:sp>
        <p:nvSpPr>
          <p:cNvPr id="4" name="Text 0"/>
          <p:cNvSpPr/>
          <p:nvPr/>
        </p:nvSpPr>
        <p:spPr>
          <a:xfrm>
            <a:off x="0" y="1280160"/>
            <a:ext cx="12191695" cy="310896"/>
          </a:xfrm>
          <a:prstGeom prst="rect">
            <a:avLst/>
          </a:prstGeom>
          <a:noFill/>
          <a:ln/>
        </p:spPr>
        <p:txBody>
          <a:bodyPr wrap="square" lIns="0" tIns="0" rIns="0" bIns="0" rtlCol="0" anchor="ctr"/>
          <a:lstStyle/>
          <a:p>
            <a:pPr marL="0" indent="0" algn="ctr">
              <a:buNone/>
            </a:pPr>
            <a:r>
              <a:rPr lang="en-US" sz="1400" b="1" kern="0" spc="250" dirty="0">
                <a:solidFill>
                  <a:srgbClr val="FFFFFF"/>
                </a:solidFill>
                <a:latin typeface="Calibri" pitchFamily="34" charset="0"/>
                <a:ea typeface="Calibri" pitchFamily="34" charset="-122"/>
                <a:cs typeface="Calibri" pitchFamily="34" charset="-120"/>
              </a:rPr>
              <a:t>WORLD UNIVERSITY OF BANGLADESH</a:t>
            </a:r>
            <a:endParaRPr lang="en-US" sz="1400" dirty="0"/>
          </a:p>
        </p:txBody>
      </p:sp>
      <p:sp>
        <p:nvSpPr>
          <p:cNvPr id="5" name="Text 1"/>
          <p:cNvSpPr/>
          <p:nvPr/>
        </p:nvSpPr>
        <p:spPr>
          <a:xfrm>
            <a:off x="0" y="1572768"/>
            <a:ext cx="12191695" cy="274320"/>
          </a:xfrm>
          <a:prstGeom prst="rect">
            <a:avLst/>
          </a:prstGeom>
          <a:noFill/>
          <a:ln/>
        </p:spPr>
        <p:txBody>
          <a:bodyPr wrap="square" lIns="0" tIns="0" rIns="0" bIns="0" rtlCol="0" anchor="ctr"/>
          <a:lstStyle/>
          <a:p>
            <a:pPr marL="0" indent="0" algn="ctr">
              <a:buNone/>
            </a:pPr>
            <a:r>
              <a:rPr lang="en-US" sz="1150" dirty="0">
                <a:solidFill>
                  <a:srgbClr val="9FC9C7"/>
                </a:solidFill>
                <a:latin typeface="Calibri" pitchFamily="34" charset="0"/>
                <a:ea typeface="Calibri" pitchFamily="34" charset="-122"/>
                <a:cs typeface="Calibri" pitchFamily="34" charset="-120"/>
              </a:rPr>
              <a:t>Department of Computer Science and Engineering</a:t>
            </a:r>
            <a:endParaRPr lang="en-US" sz="1150" dirty="0"/>
          </a:p>
        </p:txBody>
      </p:sp>
      <p:sp>
        <p:nvSpPr>
          <p:cNvPr id="6" name="Text 2"/>
          <p:cNvSpPr/>
          <p:nvPr/>
        </p:nvSpPr>
        <p:spPr>
          <a:xfrm>
            <a:off x="914400" y="1993392"/>
            <a:ext cx="10362895" cy="1417320"/>
          </a:xfrm>
          <a:prstGeom prst="rect">
            <a:avLst/>
          </a:prstGeom>
          <a:noFill/>
          <a:ln/>
        </p:spPr>
        <p:txBody>
          <a:bodyPr wrap="square" lIns="0" tIns="0" rIns="0" bIns="0" rtlCol="0" anchor="ctr"/>
          <a:lstStyle/>
          <a:p>
            <a:pPr marL="0" indent="0" algn="ctr">
              <a:lnSpc>
                <a:spcPct val="116000"/>
              </a:lnSpc>
              <a:buNone/>
            </a:pPr>
            <a:r>
              <a:rPr lang="en-US" sz="3200" b="1" dirty="0">
                <a:solidFill>
                  <a:srgbClr val="FFFFFF"/>
                </a:solidFill>
                <a:latin typeface="Cambria" pitchFamily="34" charset="0"/>
                <a:ea typeface="Cambria" pitchFamily="34" charset="-122"/>
                <a:cs typeface="Cambria" pitchFamily="34" charset="-120"/>
              </a:rPr>
              <a:t>Early Detection of Heart Failure through Machine</a:t>
            </a:r>
            <a:endParaRPr lang="en-US" sz="3200" dirty="0"/>
          </a:p>
          <a:p>
            <a:pPr marL="0" indent="0" algn="ctr">
              <a:lnSpc>
                <a:spcPct val="116000"/>
              </a:lnSpc>
              <a:buNone/>
            </a:pPr>
            <a:r>
              <a:rPr lang="en-US" sz="3200" b="1" dirty="0">
                <a:solidFill>
                  <a:srgbClr val="FFFFFF"/>
                </a:solidFill>
                <a:latin typeface="Cambria" pitchFamily="34" charset="0"/>
                <a:ea typeface="Cambria" pitchFamily="34" charset="-122"/>
                <a:cs typeface="Cambria" pitchFamily="34" charset="-120"/>
              </a:rPr>
              <a:t>Learning with Explainable Artificial Intelligence</a:t>
            </a:r>
            <a:endParaRPr lang="en-US" sz="3200" dirty="0"/>
          </a:p>
        </p:txBody>
      </p:sp>
      <p:pic>
        <p:nvPicPr>
          <p:cNvPr id="8" name="Image 2" descr="motif/ecg-coral.png"/>
          <p:cNvPicPr>
            <a:picLocks noChangeAspect="1"/>
          </p:cNvPicPr>
          <p:nvPr/>
        </p:nvPicPr>
        <p:blipFill>
          <a:blip r:embed="rId3"/>
          <a:stretch>
            <a:fillRect/>
          </a:stretch>
        </p:blipFill>
        <p:spPr>
          <a:xfrm>
            <a:off x="3169768" y="3593592"/>
            <a:ext cx="5852160" cy="731520"/>
          </a:xfrm>
          <a:prstGeom prst="rect">
            <a:avLst/>
          </a:prstGeom>
        </p:spPr>
      </p:pic>
      <p:sp>
        <p:nvSpPr>
          <p:cNvPr id="9" name="Text 4"/>
          <p:cNvSpPr/>
          <p:nvPr/>
        </p:nvSpPr>
        <p:spPr>
          <a:xfrm>
            <a:off x="883768" y="4663440"/>
            <a:ext cx="3291840"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Md. Tohidul Islam</a:t>
            </a:r>
            <a:endParaRPr lang="en-US" sz="1400" dirty="0"/>
          </a:p>
        </p:txBody>
      </p:sp>
      <p:sp>
        <p:nvSpPr>
          <p:cNvPr id="10" name="Text 5"/>
          <p:cNvSpPr/>
          <p:nvPr/>
        </p:nvSpPr>
        <p:spPr>
          <a:xfrm>
            <a:off x="883768" y="4974336"/>
            <a:ext cx="3291840" cy="274320"/>
          </a:xfrm>
          <a:prstGeom prst="rect">
            <a:avLst/>
          </a:prstGeom>
          <a:noFill/>
          <a:ln/>
        </p:spPr>
        <p:txBody>
          <a:bodyPr wrap="square" lIns="0" tIns="0" rIns="0" bIns="0" rtlCol="0" anchor="ctr"/>
          <a:lstStyle/>
          <a:p>
            <a:pPr marL="0" indent="0" algn="ctr">
              <a:buNone/>
            </a:pPr>
            <a:r>
              <a:rPr lang="en-US" sz="1050" dirty="0">
                <a:solidFill>
                  <a:srgbClr val="8FB8B6"/>
                </a:solidFill>
                <a:latin typeface="Calibri" pitchFamily="34" charset="0"/>
                <a:ea typeface="Calibri" pitchFamily="34" charset="-122"/>
                <a:cs typeface="Calibri" pitchFamily="34" charset="-120"/>
              </a:rPr>
              <a:t>WUB 03/23/63/3741</a:t>
            </a:r>
            <a:endParaRPr lang="en-US" sz="1050" dirty="0"/>
          </a:p>
        </p:txBody>
      </p:sp>
      <p:sp>
        <p:nvSpPr>
          <p:cNvPr id="11" name="Text 6"/>
          <p:cNvSpPr/>
          <p:nvPr/>
        </p:nvSpPr>
        <p:spPr>
          <a:xfrm>
            <a:off x="4449928" y="4663440"/>
            <a:ext cx="3291840"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Mahfuz Sarker</a:t>
            </a:r>
            <a:endParaRPr lang="en-US" sz="1400" dirty="0"/>
          </a:p>
        </p:txBody>
      </p:sp>
      <p:sp>
        <p:nvSpPr>
          <p:cNvPr id="12" name="Text 7"/>
          <p:cNvSpPr/>
          <p:nvPr/>
        </p:nvSpPr>
        <p:spPr>
          <a:xfrm>
            <a:off x="4449928" y="4974336"/>
            <a:ext cx="3291840" cy="274320"/>
          </a:xfrm>
          <a:prstGeom prst="rect">
            <a:avLst/>
          </a:prstGeom>
          <a:noFill/>
          <a:ln/>
        </p:spPr>
        <p:txBody>
          <a:bodyPr wrap="square" lIns="0" tIns="0" rIns="0" bIns="0" rtlCol="0" anchor="ctr"/>
          <a:lstStyle/>
          <a:p>
            <a:pPr marL="0" indent="0" algn="ctr">
              <a:buNone/>
            </a:pPr>
            <a:r>
              <a:rPr lang="en-US" sz="1050" dirty="0">
                <a:solidFill>
                  <a:srgbClr val="8FB8B6"/>
                </a:solidFill>
                <a:latin typeface="Calibri" pitchFamily="34" charset="0"/>
                <a:ea typeface="Calibri" pitchFamily="34" charset="-122"/>
                <a:cs typeface="Calibri" pitchFamily="34" charset="-120"/>
              </a:rPr>
              <a:t>WUB 03/23/63/3748</a:t>
            </a:r>
            <a:endParaRPr lang="en-US" sz="1050" dirty="0"/>
          </a:p>
        </p:txBody>
      </p:sp>
      <p:sp>
        <p:nvSpPr>
          <p:cNvPr id="13" name="Text 8"/>
          <p:cNvSpPr/>
          <p:nvPr/>
        </p:nvSpPr>
        <p:spPr>
          <a:xfrm>
            <a:off x="8016088" y="4663440"/>
            <a:ext cx="3291840"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Md. Ibrahim Khan</a:t>
            </a:r>
            <a:endParaRPr lang="en-US" sz="1400" dirty="0"/>
          </a:p>
        </p:txBody>
      </p:sp>
      <p:sp>
        <p:nvSpPr>
          <p:cNvPr id="14" name="Text 9"/>
          <p:cNvSpPr/>
          <p:nvPr/>
        </p:nvSpPr>
        <p:spPr>
          <a:xfrm>
            <a:off x="8016088" y="4974336"/>
            <a:ext cx="3291840" cy="274320"/>
          </a:xfrm>
          <a:prstGeom prst="rect">
            <a:avLst/>
          </a:prstGeom>
          <a:noFill/>
          <a:ln/>
        </p:spPr>
        <p:txBody>
          <a:bodyPr wrap="square" lIns="0" tIns="0" rIns="0" bIns="0" rtlCol="0" anchor="ctr"/>
          <a:lstStyle/>
          <a:p>
            <a:pPr marL="0" indent="0" algn="ctr">
              <a:buNone/>
            </a:pPr>
            <a:r>
              <a:rPr lang="en-US" sz="1050" dirty="0">
                <a:solidFill>
                  <a:srgbClr val="8FB8B6"/>
                </a:solidFill>
                <a:latin typeface="Calibri" pitchFamily="34" charset="0"/>
                <a:ea typeface="Calibri" pitchFamily="34" charset="-122"/>
                <a:cs typeface="Calibri" pitchFamily="34" charset="-120"/>
              </a:rPr>
              <a:t>WUB 03/23/63/3750</a:t>
            </a:r>
            <a:endParaRPr lang="en-US" sz="1050" dirty="0"/>
          </a:p>
        </p:txBody>
      </p:sp>
      <p:sp>
        <p:nvSpPr>
          <p:cNvPr id="15" name="Text 10"/>
          <p:cNvSpPr/>
          <p:nvPr/>
        </p:nvSpPr>
        <p:spPr>
          <a:xfrm>
            <a:off x="731520" y="5650992"/>
            <a:ext cx="10728655" cy="365760"/>
          </a:xfrm>
          <a:prstGeom prst="rect">
            <a:avLst/>
          </a:prstGeom>
          <a:noFill/>
          <a:ln/>
        </p:spPr>
        <p:txBody>
          <a:bodyPr wrap="square" lIns="0" tIns="0" rIns="0" bIns="0" rtlCol="0" anchor="ctr"/>
          <a:lstStyle/>
          <a:p>
            <a:pPr marL="0" indent="0" algn="ctr">
              <a:buNone/>
            </a:pPr>
            <a:r>
              <a:rPr lang="en-US" dirty="0">
                <a:solidFill>
                  <a:srgbClr val="8FB8B6"/>
                </a:solidFill>
                <a:latin typeface="Calibri" pitchFamily="34" charset="0"/>
                <a:ea typeface="Calibri" pitchFamily="34" charset="-122"/>
                <a:cs typeface="Calibri" pitchFamily="34" charset="-120"/>
              </a:rPr>
              <a:t>Supervised by  </a:t>
            </a:r>
            <a:r>
              <a:rPr lang="en-US" b="1" dirty="0">
                <a:solidFill>
                  <a:srgbClr val="FFFFFF"/>
                </a:solidFill>
                <a:latin typeface="Calibri" pitchFamily="34" charset="0"/>
                <a:ea typeface="Calibri" pitchFamily="34" charset="-122"/>
                <a:cs typeface="Calibri" pitchFamily="34" charset="-120"/>
              </a:rPr>
              <a:t>Md. Raihanul Haque</a:t>
            </a:r>
            <a:r>
              <a:rPr lang="en-US" dirty="0">
                <a:solidFill>
                  <a:srgbClr val="8FB8B6"/>
                </a:solidFill>
                <a:latin typeface="Calibri" pitchFamily="34" charset="0"/>
                <a:ea typeface="Calibri" pitchFamily="34" charset="-122"/>
                <a:cs typeface="Calibri" pitchFamily="34" charset="-120"/>
              </a:rPr>
              <a:t>, Lecturer, Dept. of CSE, World University of Bangladesh</a:t>
            </a:r>
            <a:endParaRPr lang="en-US" dirty="0"/>
          </a:p>
        </p:txBody>
      </p:sp>
      <p:sp>
        <p:nvSpPr>
          <p:cNvPr id="16" name="Text 11"/>
          <p:cNvSpPr/>
          <p:nvPr/>
        </p:nvSpPr>
        <p:spPr>
          <a:xfrm>
            <a:off x="0" y="6108366"/>
            <a:ext cx="12191695" cy="521034"/>
          </a:xfrm>
          <a:prstGeom prst="rect">
            <a:avLst/>
          </a:prstGeom>
          <a:noFill/>
          <a:ln/>
        </p:spPr>
        <p:txBody>
          <a:bodyPr wrap="square" lIns="0" tIns="0" rIns="0" bIns="0" rtlCol="0" anchor="ctr"/>
          <a:lstStyle/>
          <a:p>
            <a:pPr marL="0" indent="0" algn="ctr">
              <a:buNone/>
            </a:pPr>
            <a:endParaRPr lang="en-US" sz="2000" kern="0" spc="300" dirty="0">
              <a:solidFill>
                <a:srgbClr val="5C8D8A"/>
              </a:solidFill>
              <a:latin typeface="Calibri" pitchFamily="34" charset="0"/>
              <a:ea typeface="Calibri" pitchFamily="34" charset="-122"/>
              <a:cs typeface="Calibri" pitchFamily="34" charset="-120"/>
            </a:endParaRPr>
          </a:p>
          <a:p>
            <a:pPr marL="0" indent="0" algn="ctr">
              <a:buNone/>
            </a:pPr>
            <a:r>
              <a:rPr lang="en-US" sz="2000" kern="0" spc="300" dirty="0">
                <a:solidFill>
                  <a:srgbClr val="5C8D8A"/>
                </a:solidFill>
                <a:latin typeface="Calibri" pitchFamily="34" charset="0"/>
                <a:ea typeface="Calibri" pitchFamily="34" charset="-122"/>
                <a:cs typeface="Calibri" pitchFamily="34" charset="-120"/>
              </a:rPr>
              <a:t>JUNE 2026</a:t>
            </a:r>
            <a:endParaRPr lang="en-US" sz="2000" dirty="0"/>
          </a:p>
        </p:txBody>
      </p:sp>
      <p:pic>
        <p:nvPicPr>
          <p:cNvPr id="18" name="Picture 17">
            <a:extLst>
              <a:ext uri="{FF2B5EF4-FFF2-40B4-BE49-F238E27FC236}">
                <a16:creationId xmlns:a16="http://schemas.microsoft.com/office/drawing/2014/main" id="{B43BC9F2-51E9-CAE0-E722-8D02904E3C5F}"/>
              </a:ext>
            </a:extLst>
          </p:cNvPr>
          <p:cNvPicPr>
            <a:picLocks noChangeAspect="1"/>
          </p:cNvPicPr>
          <p:nvPr/>
        </p:nvPicPr>
        <p:blipFill>
          <a:blip r:embed="rId4"/>
          <a:stretch>
            <a:fillRect/>
          </a:stretch>
        </p:blipFill>
        <p:spPr>
          <a:xfrm>
            <a:off x="5294794" y="57591"/>
            <a:ext cx="1455777" cy="12225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869680" y="-411480"/>
            <a:ext cx="3108960" cy="2194560"/>
          </a:xfrm>
          <a:prstGeom prst="rect">
            <a:avLst/>
          </a:prstGeom>
          <a:noFill/>
          <a:ln/>
        </p:spPr>
        <p:txBody>
          <a:bodyPr wrap="square" rtlCol="0" anchor="t"/>
          <a:lstStyle/>
          <a:p>
            <a:pPr marL="0" indent="0" algn="r">
              <a:buNone/>
            </a:pPr>
            <a:endParaRPr lang="en-US" sz="15000" dirty="0"/>
          </a:p>
        </p:txBody>
      </p:sp>
      <p:sp>
        <p:nvSpPr>
          <p:cNvPr id="3" name="Shape 1"/>
          <p:cNvSpPr/>
          <p:nvPr/>
        </p:nvSpPr>
        <p:spPr>
          <a:xfrm>
            <a:off x="502920" y="502920"/>
            <a:ext cx="603504" cy="603504"/>
          </a:xfrm>
          <a:prstGeom prst="ellipse">
            <a:avLst/>
          </a:prstGeom>
          <a:solidFill>
            <a:srgbClr val="0E7C7B"/>
          </a:solidFill>
          <a:ln/>
        </p:spPr>
      </p:sp>
      <p:pic>
        <p:nvPicPr>
          <p:cNvPr id="4" name="Image 0" descr="icons/file-alt-white.png"/>
          <p:cNvPicPr>
            <a:picLocks noChangeAspect="1"/>
          </p:cNvPicPr>
          <p:nvPr/>
        </p:nvPicPr>
        <p:blipFill>
          <a:blip r:embed="rId3"/>
          <a:stretch>
            <a:fillRect/>
          </a:stretch>
        </p:blipFill>
        <p:spPr>
          <a:xfrm>
            <a:off x="649224" y="649224"/>
            <a:ext cx="310896" cy="310896"/>
          </a:xfrm>
          <a:prstGeom prst="rect">
            <a:avLst/>
          </a:prstGeom>
        </p:spPr>
      </p:pic>
      <p:sp>
        <p:nvSpPr>
          <p:cNvPr id="5" name="Text 2"/>
          <p:cNvSpPr/>
          <p:nvPr/>
        </p:nvSpPr>
        <p:spPr>
          <a:xfrm>
            <a:off x="1298448" y="457200"/>
            <a:ext cx="7315200" cy="274320"/>
          </a:xfrm>
          <a:prstGeom prst="rect">
            <a:avLst/>
          </a:prstGeom>
          <a:noFill/>
          <a:ln/>
        </p:spPr>
        <p:txBody>
          <a:bodyPr wrap="square" lIns="0" tIns="0" rIns="0" bIns="0" rtlCol="0" anchor="ctr"/>
          <a:lstStyle/>
          <a:p>
            <a:pPr marL="0" indent="0">
              <a:buNone/>
            </a:pPr>
            <a:endParaRPr lang="en-US" sz="1100" dirty="0"/>
          </a:p>
        </p:txBody>
      </p:sp>
      <p:sp>
        <p:nvSpPr>
          <p:cNvPr id="6" name="Text 3"/>
          <p:cNvSpPr/>
          <p:nvPr/>
        </p:nvSpPr>
        <p:spPr>
          <a:xfrm>
            <a:off x="1252728" y="508047"/>
            <a:ext cx="8778240" cy="566928"/>
          </a:xfrm>
          <a:prstGeom prst="rect">
            <a:avLst/>
          </a:prstGeom>
          <a:noFill/>
          <a:ln/>
        </p:spPr>
        <p:txBody>
          <a:bodyPr wrap="square" lIns="0" tIns="0" rIns="0" bIns="0" rtlCol="0" anchor="ctr"/>
          <a:lstStyle/>
          <a:p>
            <a:pPr marL="0" indent="0">
              <a:buNone/>
            </a:pPr>
            <a:r>
              <a:rPr lang="en-US" sz="3000" b="1" dirty="0">
                <a:solidFill>
                  <a:srgbClr val="0B2E33"/>
                </a:solidFill>
                <a:latin typeface="Cambria" pitchFamily="34" charset="0"/>
                <a:ea typeface="Cambria" pitchFamily="34" charset="-122"/>
                <a:cs typeface="Cambria" pitchFamily="34" charset="-120"/>
              </a:rPr>
              <a:t>Abstract</a:t>
            </a:r>
            <a:endParaRPr lang="en-US" sz="3000" dirty="0"/>
          </a:p>
        </p:txBody>
      </p:sp>
      <p:sp>
        <p:nvSpPr>
          <p:cNvPr id="7" name="Text 4"/>
          <p:cNvSpPr/>
          <p:nvPr/>
        </p:nvSpPr>
        <p:spPr>
          <a:xfrm>
            <a:off x="502920" y="6547104"/>
            <a:ext cx="8229600" cy="256032"/>
          </a:xfrm>
          <a:prstGeom prst="rect">
            <a:avLst/>
          </a:prstGeom>
          <a:noFill/>
          <a:ln/>
        </p:spPr>
        <p:txBody>
          <a:bodyPr wrap="square" lIns="0" tIns="0" rIns="0" bIns="0" rtlCol="0" anchor="ctr"/>
          <a:lstStyle/>
          <a:p>
            <a:pPr marL="0" indent="0">
              <a:buNone/>
            </a:pPr>
            <a:endParaRPr lang="en-US" sz="900" dirty="0"/>
          </a:p>
        </p:txBody>
      </p:sp>
      <p:sp>
        <p:nvSpPr>
          <p:cNvPr id="8" name="Text 5"/>
          <p:cNvSpPr/>
          <p:nvPr/>
        </p:nvSpPr>
        <p:spPr>
          <a:xfrm>
            <a:off x="5579745" y="6391482"/>
            <a:ext cx="1032510" cy="448056"/>
          </a:xfrm>
          <a:prstGeom prst="rect">
            <a:avLst/>
          </a:prstGeom>
          <a:noFill/>
          <a:ln/>
        </p:spPr>
        <p:txBody>
          <a:bodyPr wrap="square" lIns="0" tIns="0" rIns="0" bIns="0" rtlCol="0" anchor="ctr"/>
          <a:lstStyle/>
          <a:p>
            <a:pPr marL="0" indent="0" algn="ctr">
              <a:buNone/>
            </a:pPr>
            <a:r>
              <a:rPr lang="en-US" sz="1200" dirty="0">
                <a:solidFill>
                  <a:srgbClr val="5C7A7D"/>
                </a:solidFill>
                <a:latin typeface="Calibri" pitchFamily="34" charset="0"/>
                <a:ea typeface="Calibri" pitchFamily="34" charset="-122"/>
                <a:cs typeface="Calibri" pitchFamily="34" charset="-120"/>
              </a:rPr>
              <a:t>02 / 15</a:t>
            </a:r>
            <a:endParaRPr lang="en-US" sz="1200" dirty="0"/>
          </a:p>
        </p:txBody>
      </p:sp>
      <p:sp>
        <p:nvSpPr>
          <p:cNvPr id="9" name="Shape 6"/>
          <p:cNvSpPr/>
          <p:nvPr/>
        </p:nvSpPr>
        <p:spPr>
          <a:xfrm>
            <a:off x="502920" y="1417320"/>
            <a:ext cx="6903720" cy="4334256"/>
          </a:xfrm>
          <a:prstGeom prst="roundRect">
            <a:avLst>
              <a:gd name="adj" fmla="val 1978"/>
            </a:avLst>
          </a:prstGeom>
          <a:solidFill>
            <a:srgbClr val="FFFFFF"/>
          </a:solidFill>
          <a:ln w="12700">
            <a:solidFill>
              <a:srgbClr val="D9E6E5"/>
            </a:solidFill>
            <a:prstDash val="solid"/>
          </a:ln>
          <a:effectLst>
            <a:outerShdw blurRad="114300" dist="38100" dir="5400000" algn="bl" rotWithShape="0">
              <a:srgbClr val="0B2E33">
                <a:alpha val="14000"/>
              </a:srgbClr>
            </a:outerShdw>
          </a:effectLst>
        </p:spPr>
      </p:sp>
      <p:pic>
        <p:nvPicPr>
          <p:cNvPr id="10" name="Image 1" descr="icons/heartbeat-teal.png"/>
          <p:cNvPicPr>
            <a:picLocks noChangeAspect="1"/>
          </p:cNvPicPr>
          <p:nvPr/>
        </p:nvPicPr>
        <p:blipFill>
          <a:blip r:embed="rId4"/>
          <a:stretch>
            <a:fillRect/>
          </a:stretch>
        </p:blipFill>
        <p:spPr>
          <a:xfrm>
            <a:off x="713232" y="1627632"/>
            <a:ext cx="365760" cy="365760"/>
          </a:xfrm>
          <a:prstGeom prst="rect">
            <a:avLst/>
          </a:prstGeom>
        </p:spPr>
      </p:pic>
      <p:sp>
        <p:nvSpPr>
          <p:cNvPr id="11" name="Text 7"/>
          <p:cNvSpPr/>
          <p:nvPr/>
        </p:nvSpPr>
        <p:spPr>
          <a:xfrm>
            <a:off x="896112" y="2075688"/>
            <a:ext cx="6217920" cy="3291840"/>
          </a:xfrm>
          <a:prstGeom prst="rect">
            <a:avLst/>
          </a:prstGeom>
          <a:noFill/>
          <a:ln/>
        </p:spPr>
        <p:txBody>
          <a:bodyPr wrap="square" lIns="0" tIns="0" rIns="0" bIns="0" rtlCol="0" anchor="t"/>
          <a:lstStyle/>
          <a:p>
            <a:pPr algn="just">
              <a:lnSpc>
                <a:spcPct val="128000"/>
              </a:lnSpc>
            </a:pPr>
            <a:r>
              <a:rPr lang="en-US" sz="1400" dirty="0"/>
              <a:t>Heart failure is one of the leading causes of death worldwide, making early detection critically important. This thesis proposes a machine learning-based framework using 887 patient records to detect heart failure at an early stage. Seven classification algorithms were trained and evaluated including Logistic Regression, Decision Tree, Random Forest, XGBoost, LightGBM, Gradient Boosting, and AdaBoost. Among all models, LightGBM achieved the best performance with 91.01% accuracy and 94.66% ROC-AUC. Explainable AI techniques SHAP and LIME were applied to interpret predictions, revealing that ST_Slope, ChestPainType, and Sex are the most influential features for heart failure prediction.</a:t>
            </a:r>
            <a:endParaRPr lang="en-US" sz="1300" dirty="0"/>
          </a:p>
        </p:txBody>
      </p:sp>
      <p:sp>
        <p:nvSpPr>
          <p:cNvPr id="12" name="Shape 8"/>
          <p:cNvSpPr/>
          <p:nvPr/>
        </p:nvSpPr>
        <p:spPr>
          <a:xfrm>
            <a:off x="7635240" y="1417320"/>
            <a:ext cx="4069080" cy="960120"/>
          </a:xfrm>
          <a:prstGeom prst="roundRect">
            <a:avLst>
              <a:gd name="adj" fmla="val 8571"/>
            </a:avLst>
          </a:prstGeom>
          <a:solidFill>
            <a:srgbClr val="E5F2F1"/>
          </a:solidFill>
          <a:ln/>
        </p:spPr>
      </p:sp>
      <p:sp>
        <p:nvSpPr>
          <p:cNvPr id="13" name="Text 9"/>
          <p:cNvSpPr/>
          <p:nvPr/>
        </p:nvSpPr>
        <p:spPr>
          <a:xfrm>
            <a:off x="7726680" y="1527048"/>
            <a:ext cx="3886200" cy="484632"/>
          </a:xfrm>
          <a:prstGeom prst="rect">
            <a:avLst/>
          </a:prstGeom>
          <a:noFill/>
          <a:ln/>
        </p:spPr>
        <p:txBody>
          <a:bodyPr wrap="square" lIns="0" tIns="0" rIns="0" bIns="0" rtlCol="0" anchor="b"/>
          <a:lstStyle/>
          <a:p>
            <a:pPr marL="0" indent="0" algn="ctr">
              <a:buNone/>
            </a:pPr>
            <a:r>
              <a:rPr lang="en-US" sz="2600" b="1" dirty="0">
                <a:solidFill>
                  <a:srgbClr val="0E7C7B"/>
                </a:solidFill>
                <a:latin typeface="Cambria" pitchFamily="34" charset="0"/>
                <a:ea typeface="Cambria" pitchFamily="34" charset="-122"/>
                <a:cs typeface="Cambria" pitchFamily="34" charset="-120"/>
              </a:rPr>
              <a:t>887</a:t>
            </a:r>
            <a:endParaRPr lang="en-US" sz="2600" dirty="0"/>
          </a:p>
        </p:txBody>
      </p:sp>
      <p:sp>
        <p:nvSpPr>
          <p:cNvPr id="14" name="Text 10"/>
          <p:cNvSpPr/>
          <p:nvPr/>
        </p:nvSpPr>
        <p:spPr>
          <a:xfrm>
            <a:off x="7708392" y="2011680"/>
            <a:ext cx="3922776" cy="310896"/>
          </a:xfrm>
          <a:prstGeom prst="rect">
            <a:avLst/>
          </a:prstGeom>
          <a:noFill/>
          <a:ln/>
        </p:spPr>
        <p:txBody>
          <a:bodyPr wrap="square" lIns="0" tIns="0" rIns="0" bIns="0" rtlCol="0" anchor="ctr"/>
          <a:lstStyle/>
          <a:p>
            <a:pPr marL="0" indent="0" algn="ctr">
              <a:buNone/>
            </a:pPr>
            <a:r>
              <a:rPr lang="en-US" sz="950" b="1" kern="0" spc="50" dirty="0">
                <a:solidFill>
                  <a:srgbClr val="5C7A7D"/>
                </a:solidFill>
                <a:latin typeface="Calibri" pitchFamily="34" charset="0"/>
                <a:ea typeface="Calibri" pitchFamily="34" charset="-122"/>
                <a:cs typeface="Calibri" pitchFamily="34" charset="-120"/>
              </a:rPr>
              <a:t>PATIENT RECORDS</a:t>
            </a:r>
            <a:endParaRPr lang="en-US" sz="950" dirty="0"/>
          </a:p>
        </p:txBody>
      </p:sp>
      <p:sp>
        <p:nvSpPr>
          <p:cNvPr id="15" name="Shape 11"/>
          <p:cNvSpPr/>
          <p:nvPr/>
        </p:nvSpPr>
        <p:spPr>
          <a:xfrm>
            <a:off x="7635240" y="2542032"/>
            <a:ext cx="4069080" cy="960120"/>
          </a:xfrm>
          <a:prstGeom prst="roundRect">
            <a:avLst>
              <a:gd name="adj" fmla="val 8571"/>
            </a:avLst>
          </a:prstGeom>
          <a:solidFill>
            <a:srgbClr val="E5F2F1"/>
          </a:solidFill>
          <a:ln/>
        </p:spPr>
      </p:sp>
      <p:sp>
        <p:nvSpPr>
          <p:cNvPr id="16" name="Text 12"/>
          <p:cNvSpPr/>
          <p:nvPr/>
        </p:nvSpPr>
        <p:spPr>
          <a:xfrm>
            <a:off x="7726680" y="2651760"/>
            <a:ext cx="3886200" cy="484632"/>
          </a:xfrm>
          <a:prstGeom prst="rect">
            <a:avLst/>
          </a:prstGeom>
          <a:noFill/>
          <a:ln/>
        </p:spPr>
        <p:txBody>
          <a:bodyPr wrap="square" lIns="0" tIns="0" rIns="0" bIns="0" rtlCol="0" anchor="b"/>
          <a:lstStyle/>
          <a:p>
            <a:pPr marL="0" indent="0" algn="ctr">
              <a:buNone/>
            </a:pPr>
            <a:r>
              <a:rPr lang="en-US" sz="2600" b="1" dirty="0">
                <a:solidFill>
                  <a:srgbClr val="0E7C7B"/>
                </a:solidFill>
                <a:latin typeface="Cambria" pitchFamily="34" charset="0"/>
                <a:ea typeface="Cambria" pitchFamily="34" charset="-122"/>
                <a:cs typeface="Cambria" pitchFamily="34" charset="-120"/>
              </a:rPr>
              <a:t>7</a:t>
            </a:r>
            <a:endParaRPr lang="en-US" sz="2600" dirty="0"/>
          </a:p>
        </p:txBody>
      </p:sp>
      <p:sp>
        <p:nvSpPr>
          <p:cNvPr id="17" name="Text 13"/>
          <p:cNvSpPr/>
          <p:nvPr/>
        </p:nvSpPr>
        <p:spPr>
          <a:xfrm>
            <a:off x="7708392" y="3136392"/>
            <a:ext cx="3922776" cy="310896"/>
          </a:xfrm>
          <a:prstGeom prst="rect">
            <a:avLst/>
          </a:prstGeom>
          <a:noFill/>
          <a:ln/>
        </p:spPr>
        <p:txBody>
          <a:bodyPr wrap="square" lIns="0" tIns="0" rIns="0" bIns="0" rtlCol="0" anchor="ctr"/>
          <a:lstStyle/>
          <a:p>
            <a:pPr marL="0" indent="0" algn="ctr">
              <a:buNone/>
            </a:pPr>
            <a:r>
              <a:rPr lang="en-US" sz="950" b="1" kern="0" spc="50" dirty="0">
                <a:solidFill>
                  <a:srgbClr val="5C7A7D"/>
                </a:solidFill>
                <a:latin typeface="Calibri" pitchFamily="34" charset="0"/>
                <a:ea typeface="Calibri" pitchFamily="34" charset="-122"/>
                <a:cs typeface="Calibri" pitchFamily="34" charset="-120"/>
              </a:rPr>
              <a:t>ML ALGORITHMS</a:t>
            </a:r>
            <a:endParaRPr lang="en-US" sz="950" dirty="0"/>
          </a:p>
        </p:txBody>
      </p:sp>
      <p:sp>
        <p:nvSpPr>
          <p:cNvPr id="18" name="Shape 14"/>
          <p:cNvSpPr/>
          <p:nvPr/>
        </p:nvSpPr>
        <p:spPr>
          <a:xfrm>
            <a:off x="7635240" y="3666744"/>
            <a:ext cx="4069080" cy="960120"/>
          </a:xfrm>
          <a:prstGeom prst="roundRect">
            <a:avLst>
              <a:gd name="adj" fmla="val 8571"/>
            </a:avLst>
          </a:prstGeom>
          <a:solidFill>
            <a:srgbClr val="E5F2F1"/>
          </a:solidFill>
          <a:ln/>
        </p:spPr>
      </p:sp>
      <p:sp>
        <p:nvSpPr>
          <p:cNvPr id="19" name="Text 15"/>
          <p:cNvSpPr/>
          <p:nvPr/>
        </p:nvSpPr>
        <p:spPr>
          <a:xfrm>
            <a:off x="7726680" y="3776472"/>
            <a:ext cx="3886200" cy="484632"/>
          </a:xfrm>
          <a:prstGeom prst="rect">
            <a:avLst/>
          </a:prstGeom>
          <a:noFill/>
          <a:ln/>
        </p:spPr>
        <p:txBody>
          <a:bodyPr wrap="square" lIns="0" tIns="0" rIns="0" bIns="0" rtlCol="0" anchor="b"/>
          <a:lstStyle/>
          <a:p>
            <a:pPr marL="0" indent="0" algn="ctr">
              <a:buNone/>
            </a:pPr>
            <a:r>
              <a:rPr lang="en-US" sz="2600" b="1" dirty="0">
                <a:solidFill>
                  <a:srgbClr val="E4572E"/>
                </a:solidFill>
                <a:latin typeface="Cambria" pitchFamily="34" charset="0"/>
                <a:ea typeface="Cambria" pitchFamily="34" charset="-122"/>
                <a:cs typeface="Cambria" pitchFamily="34" charset="-120"/>
              </a:rPr>
              <a:t>91.01%</a:t>
            </a:r>
            <a:endParaRPr lang="en-US" sz="2600" dirty="0"/>
          </a:p>
        </p:txBody>
      </p:sp>
      <p:sp>
        <p:nvSpPr>
          <p:cNvPr id="20" name="Text 16"/>
          <p:cNvSpPr/>
          <p:nvPr/>
        </p:nvSpPr>
        <p:spPr>
          <a:xfrm>
            <a:off x="7708392" y="4261104"/>
            <a:ext cx="3922776" cy="310896"/>
          </a:xfrm>
          <a:prstGeom prst="rect">
            <a:avLst/>
          </a:prstGeom>
          <a:noFill/>
          <a:ln/>
        </p:spPr>
        <p:txBody>
          <a:bodyPr wrap="square" lIns="0" tIns="0" rIns="0" bIns="0" rtlCol="0" anchor="ctr"/>
          <a:lstStyle/>
          <a:p>
            <a:pPr marL="0" indent="0" algn="ctr">
              <a:buNone/>
            </a:pPr>
            <a:r>
              <a:rPr lang="en-US" sz="950" b="1" kern="0" spc="50" dirty="0">
                <a:solidFill>
                  <a:srgbClr val="5C7A7D"/>
                </a:solidFill>
                <a:latin typeface="Calibri" pitchFamily="34" charset="0"/>
                <a:ea typeface="Calibri" pitchFamily="34" charset="-122"/>
                <a:cs typeface="Calibri" pitchFamily="34" charset="-120"/>
              </a:rPr>
              <a:t>BEST ACCURACY (LIGHTGBM)</a:t>
            </a:r>
            <a:endParaRPr lang="en-US" sz="950" dirty="0"/>
          </a:p>
        </p:txBody>
      </p:sp>
      <p:sp>
        <p:nvSpPr>
          <p:cNvPr id="21" name="Shape 17"/>
          <p:cNvSpPr/>
          <p:nvPr/>
        </p:nvSpPr>
        <p:spPr>
          <a:xfrm>
            <a:off x="7635240" y="4791456"/>
            <a:ext cx="4069080" cy="960120"/>
          </a:xfrm>
          <a:prstGeom prst="roundRect">
            <a:avLst>
              <a:gd name="adj" fmla="val 8571"/>
            </a:avLst>
          </a:prstGeom>
          <a:solidFill>
            <a:srgbClr val="E5F2F1"/>
          </a:solidFill>
          <a:ln/>
        </p:spPr>
      </p:sp>
      <p:sp>
        <p:nvSpPr>
          <p:cNvPr id="22" name="Text 18"/>
          <p:cNvSpPr/>
          <p:nvPr/>
        </p:nvSpPr>
        <p:spPr>
          <a:xfrm>
            <a:off x="7726680" y="4901184"/>
            <a:ext cx="3886200" cy="484632"/>
          </a:xfrm>
          <a:prstGeom prst="rect">
            <a:avLst/>
          </a:prstGeom>
          <a:noFill/>
          <a:ln/>
        </p:spPr>
        <p:txBody>
          <a:bodyPr wrap="square" lIns="0" tIns="0" rIns="0" bIns="0" rtlCol="0" anchor="b"/>
          <a:lstStyle/>
          <a:p>
            <a:pPr marL="0" indent="0" algn="ctr">
              <a:buNone/>
            </a:pPr>
            <a:r>
              <a:rPr lang="en-US" sz="2600" b="1" dirty="0">
                <a:solidFill>
                  <a:srgbClr val="0E7C7B"/>
                </a:solidFill>
                <a:latin typeface="Cambria" pitchFamily="34" charset="0"/>
                <a:ea typeface="Cambria" pitchFamily="34" charset="-122"/>
                <a:cs typeface="Cambria" pitchFamily="34" charset="-120"/>
              </a:rPr>
              <a:t>SHAP + LIME</a:t>
            </a:r>
            <a:endParaRPr lang="en-US" sz="2600" dirty="0"/>
          </a:p>
        </p:txBody>
      </p:sp>
      <p:sp>
        <p:nvSpPr>
          <p:cNvPr id="23" name="Text 19"/>
          <p:cNvSpPr/>
          <p:nvPr/>
        </p:nvSpPr>
        <p:spPr>
          <a:xfrm>
            <a:off x="7708392" y="5385816"/>
            <a:ext cx="3922776" cy="310896"/>
          </a:xfrm>
          <a:prstGeom prst="rect">
            <a:avLst/>
          </a:prstGeom>
          <a:noFill/>
          <a:ln/>
        </p:spPr>
        <p:txBody>
          <a:bodyPr wrap="square" lIns="0" tIns="0" rIns="0" bIns="0" rtlCol="0" anchor="ctr"/>
          <a:lstStyle/>
          <a:p>
            <a:pPr marL="0" indent="0" algn="ctr">
              <a:buNone/>
            </a:pPr>
            <a:r>
              <a:rPr lang="en-US" sz="950" b="1" kern="0" spc="50" dirty="0">
                <a:solidFill>
                  <a:srgbClr val="5C7A7D"/>
                </a:solidFill>
                <a:latin typeface="Calibri" pitchFamily="34" charset="0"/>
                <a:ea typeface="Calibri" pitchFamily="34" charset="-122"/>
                <a:cs typeface="Calibri" pitchFamily="34" charset="-120"/>
              </a:rPr>
              <a:t>EXPLAINABILITY METHODS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869680" y="-411480"/>
            <a:ext cx="3108960" cy="2194560"/>
          </a:xfrm>
          <a:prstGeom prst="rect">
            <a:avLst/>
          </a:prstGeom>
          <a:noFill/>
          <a:ln/>
        </p:spPr>
        <p:txBody>
          <a:bodyPr wrap="square" rtlCol="0" anchor="t"/>
          <a:lstStyle/>
          <a:p>
            <a:pPr marL="0" indent="0" algn="r">
              <a:buNone/>
            </a:pPr>
            <a:endParaRPr lang="en-US" sz="15000" dirty="0"/>
          </a:p>
        </p:txBody>
      </p:sp>
      <p:sp>
        <p:nvSpPr>
          <p:cNvPr id="3" name="Shape 1"/>
          <p:cNvSpPr/>
          <p:nvPr/>
        </p:nvSpPr>
        <p:spPr>
          <a:xfrm>
            <a:off x="502920" y="502920"/>
            <a:ext cx="603504" cy="603504"/>
          </a:xfrm>
          <a:prstGeom prst="ellipse">
            <a:avLst/>
          </a:prstGeom>
          <a:solidFill>
            <a:srgbClr val="0E7C7B"/>
          </a:solidFill>
          <a:ln/>
        </p:spPr>
      </p:sp>
      <p:pic>
        <p:nvPicPr>
          <p:cNvPr id="4" name="Image 0" descr="icons/heartbeat-white.png"/>
          <p:cNvPicPr>
            <a:picLocks noChangeAspect="1"/>
          </p:cNvPicPr>
          <p:nvPr/>
        </p:nvPicPr>
        <p:blipFill>
          <a:blip r:embed="rId3"/>
          <a:stretch>
            <a:fillRect/>
          </a:stretch>
        </p:blipFill>
        <p:spPr>
          <a:xfrm>
            <a:off x="649224" y="649224"/>
            <a:ext cx="310896" cy="310896"/>
          </a:xfrm>
          <a:prstGeom prst="rect">
            <a:avLst/>
          </a:prstGeom>
        </p:spPr>
      </p:pic>
      <p:sp>
        <p:nvSpPr>
          <p:cNvPr id="5" name="Text 2"/>
          <p:cNvSpPr/>
          <p:nvPr/>
        </p:nvSpPr>
        <p:spPr>
          <a:xfrm>
            <a:off x="1298448" y="457200"/>
            <a:ext cx="7315200" cy="274320"/>
          </a:xfrm>
          <a:prstGeom prst="rect">
            <a:avLst/>
          </a:prstGeom>
          <a:noFill/>
          <a:ln/>
        </p:spPr>
        <p:txBody>
          <a:bodyPr wrap="square" lIns="0" tIns="0" rIns="0" bIns="0" rtlCol="0" anchor="ctr"/>
          <a:lstStyle/>
          <a:p>
            <a:pPr marL="0" indent="0">
              <a:buNone/>
            </a:pPr>
            <a:endParaRPr lang="en-US" sz="1100" dirty="0"/>
          </a:p>
        </p:txBody>
      </p:sp>
      <p:sp>
        <p:nvSpPr>
          <p:cNvPr id="6" name="Text 3"/>
          <p:cNvSpPr/>
          <p:nvPr/>
        </p:nvSpPr>
        <p:spPr>
          <a:xfrm>
            <a:off x="1280160" y="521208"/>
            <a:ext cx="8778240" cy="566928"/>
          </a:xfrm>
          <a:prstGeom prst="rect">
            <a:avLst/>
          </a:prstGeom>
          <a:noFill/>
          <a:ln/>
        </p:spPr>
        <p:txBody>
          <a:bodyPr wrap="square" lIns="0" tIns="0" rIns="0" bIns="0" rtlCol="0" anchor="ctr"/>
          <a:lstStyle/>
          <a:p>
            <a:pPr marL="0" indent="0">
              <a:buNone/>
            </a:pPr>
            <a:r>
              <a:rPr lang="en-US" sz="3000" b="1" dirty="0">
                <a:solidFill>
                  <a:srgbClr val="0B2E33"/>
                </a:solidFill>
                <a:latin typeface="Cambria" pitchFamily="34" charset="0"/>
                <a:ea typeface="Cambria" pitchFamily="34" charset="-122"/>
                <a:cs typeface="Cambria" pitchFamily="34" charset="-120"/>
              </a:rPr>
              <a:t>Introduction</a:t>
            </a:r>
            <a:endParaRPr lang="en-US" sz="3000" dirty="0"/>
          </a:p>
        </p:txBody>
      </p:sp>
      <p:sp>
        <p:nvSpPr>
          <p:cNvPr id="7" name="Text 4"/>
          <p:cNvSpPr/>
          <p:nvPr/>
        </p:nvSpPr>
        <p:spPr>
          <a:xfrm>
            <a:off x="5182552" y="6430899"/>
            <a:ext cx="1826895" cy="448056"/>
          </a:xfrm>
          <a:prstGeom prst="rect">
            <a:avLst/>
          </a:prstGeom>
          <a:noFill/>
          <a:ln/>
        </p:spPr>
        <p:txBody>
          <a:bodyPr wrap="square" lIns="0" tIns="0" rIns="0" bIns="0" rtlCol="0" anchor="ctr"/>
          <a:lstStyle/>
          <a:p>
            <a:pPr algn="ctr"/>
            <a:r>
              <a:rPr lang="en-US" sz="1200" dirty="0">
                <a:solidFill>
                  <a:srgbClr val="5C7A7D"/>
                </a:solidFill>
                <a:latin typeface="Calibri" pitchFamily="34" charset="0"/>
                <a:ea typeface="Calibri" pitchFamily="34" charset="-122"/>
                <a:cs typeface="Calibri" pitchFamily="34" charset="-120"/>
              </a:rPr>
              <a:t>03 / 15</a:t>
            </a:r>
            <a:endParaRPr lang="en-US" sz="1200" dirty="0"/>
          </a:p>
        </p:txBody>
      </p:sp>
      <p:sp>
        <p:nvSpPr>
          <p:cNvPr id="9" name="Text 6"/>
          <p:cNvSpPr/>
          <p:nvPr/>
        </p:nvSpPr>
        <p:spPr>
          <a:xfrm>
            <a:off x="548640" y="1481328"/>
            <a:ext cx="6492240" cy="4480560"/>
          </a:xfrm>
          <a:prstGeom prst="rect">
            <a:avLst/>
          </a:prstGeom>
          <a:noFill/>
          <a:ln/>
        </p:spPr>
        <p:txBody>
          <a:bodyPr wrap="square" lIns="0" tIns="0" rIns="0" bIns="0" rtlCol="0" anchor="t"/>
          <a:lstStyle/>
          <a:p>
            <a:pPr algn="just">
              <a:lnSpc>
                <a:spcPct val="128000"/>
              </a:lnSpc>
            </a:pPr>
            <a:r>
              <a:rPr lang="en-US" sz="1400" dirty="0"/>
              <a:t>Heart failure affects more than 64 million people globally. Traditional diagnostic methods are costly, time-consuming, and not always accessible in developing countries like Bangladesh. </a:t>
            </a:r>
          </a:p>
          <a:p>
            <a:pPr algn="just">
              <a:lnSpc>
                <a:spcPct val="128000"/>
              </a:lnSpc>
            </a:pPr>
            <a:r>
              <a:rPr lang="en-US" sz="1400" dirty="0"/>
              <a:t>Machine Learning can analyze large volumes of patient data and assist clinicians in early heart failure risk assessment. However, most ML models are black-box models, making their decisions difficult to understand. </a:t>
            </a:r>
          </a:p>
          <a:p>
            <a:pPr algn="just">
              <a:lnSpc>
                <a:spcPct val="128000"/>
              </a:lnSpc>
            </a:pPr>
            <a:r>
              <a:rPr lang="en-US" sz="1400" dirty="0"/>
              <a:t>This thesis proposes an early heart failure detection system combining powerful Machine Learning models with Explainable AI techniques such as SHAP and LIME to ensure accurate and transparent predictions.</a:t>
            </a:r>
            <a:endParaRPr lang="en-US" sz="1350" dirty="0"/>
          </a:p>
        </p:txBody>
      </p:sp>
      <p:sp>
        <p:nvSpPr>
          <p:cNvPr id="10" name="Shape 7"/>
          <p:cNvSpPr/>
          <p:nvPr/>
        </p:nvSpPr>
        <p:spPr>
          <a:xfrm>
            <a:off x="7360920" y="1481328"/>
            <a:ext cx="4343400" cy="4480560"/>
          </a:xfrm>
          <a:prstGeom prst="roundRect">
            <a:avLst>
              <a:gd name="adj" fmla="val 1895"/>
            </a:avLst>
          </a:prstGeom>
          <a:solidFill>
            <a:srgbClr val="0B2E33"/>
          </a:solidFill>
          <a:ln/>
          <a:effectLst>
            <a:outerShdw blurRad="114300" dist="38100" dir="5400000" algn="bl" rotWithShape="0">
              <a:srgbClr val="0B2E33">
                <a:alpha val="14000"/>
              </a:srgbClr>
            </a:outerShdw>
          </a:effectLst>
        </p:spPr>
      </p:sp>
      <p:pic>
        <p:nvPicPr>
          <p:cNvPr id="11" name="Image 1" descr="icons/stethoscope-white.png"/>
          <p:cNvPicPr>
            <a:picLocks noChangeAspect="1"/>
          </p:cNvPicPr>
          <p:nvPr/>
        </p:nvPicPr>
        <p:blipFill>
          <a:blip r:embed="rId4"/>
          <a:stretch>
            <a:fillRect/>
          </a:stretch>
        </p:blipFill>
        <p:spPr>
          <a:xfrm>
            <a:off x="7635240" y="1737360"/>
            <a:ext cx="457200" cy="457200"/>
          </a:xfrm>
          <a:prstGeom prst="rect">
            <a:avLst/>
          </a:prstGeom>
        </p:spPr>
      </p:pic>
      <p:sp>
        <p:nvSpPr>
          <p:cNvPr id="12" name="Text 8"/>
          <p:cNvSpPr/>
          <p:nvPr/>
        </p:nvSpPr>
        <p:spPr>
          <a:xfrm>
            <a:off x="7360920" y="2286000"/>
            <a:ext cx="4343400" cy="822960"/>
          </a:xfrm>
          <a:prstGeom prst="rect">
            <a:avLst/>
          </a:prstGeom>
          <a:noFill/>
          <a:ln/>
        </p:spPr>
        <p:txBody>
          <a:bodyPr wrap="square" lIns="0" tIns="0" rIns="0" bIns="0" rtlCol="0" anchor="ctr"/>
          <a:lstStyle/>
          <a:p>
            <a:pPr marL="0" indent="0" algn="ctr">
              <a:buNone/>
            </a:pPr>
            <a:r>
              <a:rPr lang="en-US" sz="4600" b="1" dirty="0">
                <a:solidFill>
                  <a:srgbClr val="E4572E"/>
                </a:solidFill>
                <a:latin typeface="Cambria" pitchFamily="34" charset="0"/>
                <a:ea typeface="Cambria" pitchFamily="34" charset="-122"/>
                <a:cs typeface="Cambria" pitchFamily="34" charset="-120"/>
              </a:rPr>
              <a:t>64M+</a:t>
            </a:r>
            <a:endParaRPr lang="en-US" sz="4600" dirty="0"/>
          </a:p>
        </p:txBody>
      </p:sp>
      <p:sp>
        <p:nvSpPr>
          <p:cNvPr id="13" name="Text 9"/>
          <p:cNvSpPr/>
          <p:nvPr/>
        </p:nvSpPr>
        <p:spPr>
          <a:xfrm>
            <a:off x="7635240" y="3063240"/>
            <a:ext cx="3794760" cy="548640"/>
          </a:xfrm>
          <a:prstGeom prst="rect">
            <a:avLst/>
          </a:prstGeom>
          <a:noFill/>
          <a:ln/>
        </p:spPr>
        <p:txBody>
          <a:bodyPr wrap="square" lIns="0" tIns="0" rIns="0" bIns="0" rtlCol="0" anchor="ctr"/>
          <a:lstStyle/>
          <a:p>
            <a:pPr marL="0" indent="0" algn="ctr">
              <a:buNone/>
            </a:pPr>
            <a:r>
              <a:rPr lang="en-US" sz="1050" b="1" kern="0" spc="100" dirty="0">
                <a:solidFill>
                  <a:srgbClr val="9FC9C7"/>
                </a:solidFill>
                <a:latin typeface="Calibri" pitchFamily="34" charset="0"/>
                <a:ea typeface="Calibri" pitchFamily="34" charset="-122"/>
                <a:cs typeface="Calibri" pitchFamily="34" charset="-120"/>
              </a:rPr>
              <a:t>PEOPLE AFFECTED BY HEART FAILURE GLOBALLY (WHO)</a:t>
            </a:r>
            <a:endParaRPr lang="en-US" sz="1050" dirty="0"/>
          </a:p>
        </p:txBody>
      </p:sp>
      <p:pic>
        <p:nvPicPr>
          <p:cNvPr id="14" name="Image 2" descr="motif/ecg-coral.png"/>
          <p:cNvPicPr>
            <a:picLocks noChangeAspect="1"/>
          </p:cNvPicPr>
          <p:nvPr/>
        </p:nvPicPr>
        <p:blipFill>
          <a:blip r:embed="rId5"/>
          <a:stretch>
            <a:fillRect/>
          </a:stretch>
        </p:blipFill>
        <p:spPr>
          <a:xfrm>
            <a:off x="7818120" y="3794760"/>
            <a:ext cx="3429000" cy="428625"/>
          </a:xfrm>
          <a:prstGeom prst="rect">
            <a:avLst/>
          </a:prstGeom>
        </p:spPr>
      </p:pic>
      <p:sp>
        <p:nvSpPr>
          <p:cNvPr id="15" name="Text 10"/>
          <p:cNvSpPr/>
          <p:nvPr/>
        </p:nvSpPr>
        <p:spPr>
          <a:xfrm>
            <a:off x="7680960" y="4251960"/>
            <a:ext cx="3749040" cy="1463040"/>
          </a:xfrm>
          <a:prstGeom prst="rect">
            <a:avLst/>
          </a:prstGeom>
          <a:noFill/>
          <a:ln/>
        </p:spPr>
        <p:txBody>
          <a:bodyPr wrap="square" lIns="0" tIns="0" rIns="0" bIns="0" rtlCol="0" anchor="t"/>
          <a:lstStyle/>
          <a:p>
            <a:pPr marL="0" indent="0" algn="ctr">
              <a:lnSpc>
                <a:spcPct val="125000"/>
              </a:lnSpc>
              <a:buNone/>
            </a:pPr>
            <a:r>
              <a:rPr lang="en-US" sz="1200" i="1" dirty="0">
                <a:solidFill>
                  <a:srgbClr val="C7E5E3"/>
                </a:solidFill>
                <a:latin typeface="Calibri" pitchFamily="34" charset="0"/>
                <a:ea typeface="Calibri" pitchFamily="34" charset="-122"/>
                <a:cs typeface="Calibri" pitchFamily="34" charset="-120"/>
              </a:rPr>
              <a:t>Early detection enables timely intervention — the core motivation for this thesis.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869680" y="-411480"/>
            <a:ext cx="3108960" cy="2194560"/>
          </a:xfrm>
          <a:prstGeom prst="rect">
            <a:avLst/>
          </a:prstGeom>
          <a:noFill/>
          <a:ln/>
        </p:spPr>
        <p:txBody>
          <a:bodyPr wrap="square" rtlCol="0" anchor="t"/>
          <a:lstStyle/>
          <a:p>
            <a:pPr marL="0" indent="0" algn="r">
              <a:buNone/>
            </a:pPr>
            <a:endParaRPr lang="en-US" sz="15000" dirty="0"/>
          </a:p>
        </p:txBody>
      </p:sp>
      <p:sp>
        <p:nvSpPr>
          <p:cNvPr id="3" name="Shape 1"/>
          <p:cNvSpPr/>
          <p:nvPr/>
        </p:nvSpPr>
        <p:spPr>
          <a:xfrm>
            <a:off x="502920" y="502920"/>
            <a:ext cx="603504" cy="603504"/>
          </a:xfrm>
          <a:prstGeom prst="ellipse">
            <a:avLst/>
          </a:prstGeom>
          <a:solidFill>
            <a:srgbClr val="0E7C7B"/>
          </a:solidFill>
          <a:ln/>
        </p:spPr>
      </p:sp>
      <p:pic>
        <p:nvPicPr>
          <p:cNvPr id="4" name="Image 0" descr="icons/bullseye-white.png"/>
          <p:cNvPicPr>
            <a:picLocks noChangeAspect="1"/>
          </p:cNvPicPr>
          <p:nvPr/>
        </p:nvPicPr>
        <p:blipFill>
          <a:blip r:embed="rId3"/>
          <a:stretch>
            <a:fillRect/>
          </a:stretch>
        </p:blipFill>
        <p:spPr>
          <a:xfrm>
            <a:off x="649224" y="649224"/>
            <a:ext cx="310896" cy="310896"/>
          </a:xfrm>
          <a:prstGeom prst="rect">
            <a:avLst/>
          </a:prstGeom>
        </p:spPr>
      </p:pic>
      <p:sp>
        <p:nvSpPr>
          <p:cNvPr id="5" name="Text 2"/>
          <p:cNvSpPr/>
          <p:nvPr/>
        </p:nvSpPr>
        <p:spPr>
          <a:xfrm>
            <a:off x="1298448" y="457200"/>
            <a:ext cx="7315200" cy="274320"/>
          </a:xfrm>
          <a:prstGeom prst="rect">
            <a:avLst/>
          </a:prstGeom>
          <a:noFill/>
          <a:ln/>
        </p:spPr>
        <p:txBody>
          <a:bodyPr wrap="square" lIns="0" tIns="0" rIns="0" bIns="0" rtlCol="0" anchor="ctr"/>
          <a:lstStyle/>
          <a:p>
            <a:pPr marL="0" indent="0">
              <a:buNone/>
            </a:pPr>
            <a:endParaRPr lang="en-US" sz="1100" dirty="0"/>
          </a:p>
        </p:txBody>
      </p:sp>
      <p:sp>
        <p:nvSpPr>
          <p:cNvPr id="6" name="Text 3"/>
          <p:cNvSpPr/>
          <p:nvPr/>
        </p:nvSpPr>
        <p:spPr>
          <a:xfrm>
            <a:off x="1280160" y="521208"/>
            <a:ext cx="8778240" cy="566928"/>
          </a:xfrm>
          <a:prstGeom prst="rect">
            <a:avLst/>
          </a:prstGeom>
          <a:noFill/>
          <a:ln/>
        </p:spPr>
        <p:txBody>
          <a:bodyPr wrap="square" lIns="0" tIns="0" rIns="0" bIns="0" rtlCol="0" anchor="ctr"/>
          <a:lstStyle/>
          <a:p>
            <a:pPr marL="0" indent="0">
              <a:buNone/>
            </a:pPr>
            <a:r>
              <a:rPr lang="en-US" sz="3000" b="1" dirty="0">
                <a:solidFill>
                  <a:srgbClr val="0B2E33"/>
                </a:solidFill>
                <a:latin typeface="Cambria" pitchFamily="34" charset="0"/>
                <a:ea typeface="Cambria" pitchFamily="34" charset="-122"/>
                <a:cs typeface="Cambria" pitchFamily="34" charset="-120"/>
              </a:rPr>
              <a:t>Objectives</a:t>
            </a:r>
            <a:endParaRPr lang="en-US" sz="3000" dirty="0"/>
          </a:p>
        </p:txBody>
      </p:sp>
      <p:sp>
        <p:nvSpPr>
          <p:cNvPr id="7" name="Text 4"/>
          <p:cNvSpPr/>
          <p:nvPr/>
        </p:nvSpPr>
        <p:spPr>
          <a:xfrm>
            <a:off x="502920" y="6547104"/>
            <a:ext cx="8229600" cy="256032"/>
          </a:xfrm>
          <a:prstGeom prst="rect">
            <a:avLst/>
          </a:prstGeom>
          <a:noFill/>
          <a:ln/>
        </p:spPr>
        <p:txBody>
          <a:bodyPr wrap="square" lIns="0" tIns="0" rIns="0" bIns="0" rtlCol="0" anchor="ctr"/>
          <a:lstStyle/>
          <a:p>
            <a:pPr marL="0" indent="0">
              <a:buNone/>
            </a:pPr>
            <a:endParaRPr lang="en-US" sz="900" dirty="0"/>
          </a:p>
        </p:txBody>
      </p:sp>
      <p:sp>
        <p:nvSpPr>
          <p:cNvPr id="8" name="Text 5"/>
          <p:cNvSpPr/>
          <p:nvPr/>
        </p:nvSpPr>
        <p:spPr>
          <a:xfrm>
            <a:off x="5358003" y="6400800"/>
            <a:ext cx="960120" cy="371094"/>
          </a:xfrm>
          <a:prstGeom prst="rect">
            <a:avLst/>
          </a:prstGeom>
          <a:noFill/>
          <a:ln/>
        </p:spPr>
        <p:txBody>
          <a:bodyPr wrap="square" lIns="0" tIns="0" rIns="0" bIns="0" rtlCol="0" anchor="ctr"/>
          <a:lstStyle/>
          <a:p>
            <a:pPr marL="0" indent="0" algn="r">
              <a:buNone/>
            </a:pPr>
            <a:r>
              <a:rPr lang="en-US" sz="1200" dirty="0">
                <a:solidFill>
                  <a:srgbClr val="5C7A7D"/>
                </a:solidFill>
                <a:latin typeface="Calibri" pitchFamily="34" charset="0"/>
                <a:ea typeface="Calibri" pitchFamily="34" charset="-122"/>
                <a:cs typeface="Calibri" pitchFamily="34" charset="-120"/>
              </a:rPr>
              <a:t>04 / 15</a:t>
            </a:r>
            <a:endParaRPr lang="en-US" sz="1200" dirty="0"/>
          </a:p>
        </p:txBody>
      </p:sp>
      <p:sp>
        <p:nvSpPr>
          <p:cNvPr id="9" name="Shape 6"/>
          <p:cNvSpPr/>
          <p:nvPr/>
        </p:nvSpPr>
        <p:spPr>
          <a:xfrm>
            <a:off x="502920" y="1481328"/>
            <a:ext cx="5349240" cy="2084832"/>
          </a:xfrm>
          <a:prstGeom prst="roundRect">
            <a:avLst>
              <a:gd name="adj" fmla="val 3947"/>
            </a:avLst>
          </a:prstGeom>
          <a:solidFill>
            <a:srgbClr val="FFFFFF"/>
          </a:solidFill>
          <a:ln/>
          <a:effectLst>
            <a:outerShdw blurRad="114300" dist="38100" dir="5400000" algn="bl" rotWithShape="0">
              <a:srgbClr val="0B2E33">
                <a:alpha val="14000"/>
              </a:srgbClr>
            </a:outerShdw>
          </a:effectLst>
        </p:spPr>
      </p:sp>
      <p:sp>
        <p:nvSpPr>
          <p:cNvPr id="10" name="Shape 7"/>
          <p:cNvSpPr/>
          <p:nvPr/>
        </p:nvSpPr>
        <p:spPr>
          <a:xfrm>
            <a:off x="704088" y="1682496"/>
            <a:ext cx="420624" cy="420624"/>
          </a:xfrm>
          <a:prstGeom prst="ellipse">
            <a:avLst/>
          </a:prstGeom>
          <a:solidFill>
            <a:srgbClr val="0E7C7B"/>
          </a:solidFill>
          <a:ln/>
        </p:spPr>
      </p:sp>
      <p:pic>
        <p:nvPicPr>
          <p:cNvPr id="11" name="Image 1" descr="icons/robot-white.png"/>
          <p:cNvPicPr>
            <a:picLocks noChangeAspect="1"/>
          </p:cNvPicPr>
          <p:nvPr/>
        </p:nvPicPr>
        <p:blipFill>
          <a:blip r:embed="rId4"/>
          <a:stretch>
            <a:fillRect/>
          </a:stretch>
        </p:blipFill>
        <p:spPr>
          <a:xfrm>
            <a:off x="813816" y="1792224"/>
            <a:ext cx="201168" cy="201168"/>
          </a:xfrm>
          <a:prstGeom prst="rect">
            <a:avLst/>
          </a:prstGeom>
        </p:spPr>
      </p:pic>
      <p:sp>
        <p:nvSpPr>
          <p:cNvPr id="12" name="Text 8"/>
          <p:cNvSpPr/>
          <p:nvPr/>
        </p:nvSpPr>
        <p:spPr>
          <a:xfrm>
            <a:off x="1252728" y="1645920"/>
            <a:ext cx="4434840" cy="457200"/>
          </a:xfrm>
          <a:prstGeom prst="rect">
            <a:avLst/>
          </a:prstGeom>
          <a:noFill/>
          <a:ln/>
        </p:spPr>
        <p:txBody>
          <a:bodyPr wrap="square" lIns="0" tIns="0" rIns="0" bIns="0" rtlCol="0" anchor="ctr"/>
          <a:lstStyle/>
          <a:p>
            <a:pPr marL="0" indent="0">
              <a:buNone/>
            </a:pPr>
            <a:r>
              <a:rPr lang="en-US" sz="1500" b="1" dirty="0">
                <a:solidFill>
                  <a:srgbClr val="0B2E33"/>
                </a:solidFill>
                <a:latin typeface="Cambria" pitchFamily="34" charset="0"/>
                <a:ea typeface="Cambria" pitchFamily="34" charset="-122"/>
                <a:cs typeface="Cambria" pitchFamily="34" charset="-120"/>
              </a:rPr>
              <a:t>Model Development</a:t>
            </a:r>
            <a:endParaRPr lang="en-US" sz="1500" dirty="0"/>
          </a:p>
        </p:txBody>
      </p:sp>
      <p:sp>
        <p:nvSpPr>
          <p:cNvPr id="13" name="Text 9"/>
          <p:cNvSpPr/>
          <p:nvPr/>
        </p:nvSpPr>
        <p:spPr>
          <a:xfrm>
            <a:off x="758952" y="2194560"/>
            <a:ext cx="4837176" cy="1298448"/>
          </a:xfrm>
          <a:prstGeom prst="rect">
            <a:avLst/>
          </a:prstGeom>
          <a:noFill/>
          <a:ln/>
        </p:spPr>
        <p:txBody>
          <a:bodyPr wrap="square" lIns="0" tIns="0" rIns="0" bIns="0" rtlCol="0" anchor="t"/>
          <a:lstStyle/>
          <a:p>
            <a:pPr>
              <a:lnSpc>
                <a:spcPct val="112000"/>
              </a:lnSpc>
            </a:pPr>
            <a:r>
              <a:rPr lang="en-US" sz="1200" dirty="0"/>
              <a:t>Implement and compare seven classification algorithms including Logistic Regression, Decision Tree, Random Forest, XGBoost, LightGBM, Gradient Boosting, and AdaBoost.</a:t>
            </a:r>
          </a:p>
        </p:txBody>
      </p:sp>
      <p:sp>
        <p:nvSpPr>
          <p:cNvPr id="14" name="Shape 10"/>
          <p:cNvSpPr/>
          <p:nvPr/>
        </p:nvSpPr>
        <p:spPr>
          <a:xfrm>
            <a:off x="6126480" y="1481328"/>
            <a:ext cx="5349240" cy="2084832"/>
          </a:xfrm>
          <a:prstGeom prst="roundRect">
            <a:avLst>
              <a:gd name="adj" fmla="val 3947"/>
            </a:avLst>
          </a:prstGeom>
          <a:solidFill>
            <a:srgbClr val="FFFFFF"/>
          </a:solidFill>
          <a:ln/>
          <a:effectLst>
            <a:outerShdw blurRad="114300" dist="38100" dir="5400000" algn="bl" rotWithShape="0">
              <a:srgbClr val="0B2E33">
                <a:alpha val="14000"/>
              </a:srgbClr>
            </a:outerShdw>
          </a:effectLst>
        </p:spPr>
      </p:sp>
      <p:sp>
        <p:nvSpPr>
          <p:cNvPr id="15" name="Shape 11"/>
          <p:cNvSpPr/>
          <p:nvPr/>
        </p:nvSpPr>
        <p:spPr>
          <a:xfrm>
            <a:off x="6327648" y="1682496"/>
            <a:ext cx="420624" cy="420624"/>
          </a:xfrm>
          <a:prstGeom prst="ellipse">
            <a:avLst/>
          </a:prstGeom>
          <a:solidFill>
            <a:srgbClr val="0E7C7B"/>
          </a:solidFill>
          <a:ln/>
        </p:spPr>
      </p:sp>
      <p:pic>
        <p:nvPicPr>
          <p:cNvPr id="16" name="Image 2" descr="icons/filter-white.png"/>
          <p:cNvPicPr>
            <a:picLocks noChangeAspect="1"/>
          </p:cNvPicPr>
          <p:nvPr/>
        </p:nvPicPr>
        <p:blipFill>
          <a:blip r:embed="rId5"/>
          <a:stretch>
            <a:fillRect/>
          </a:stretch>
        </p:blipFill>
        <p:spPr>
          <a:xfrm>
            <a:off x="6437376" y="1792224"/>
            <a:ext cx="201168" cy="201168"/>
          </a:xfrm>
          <a:prstGeom prst="rect">
            <a:avLst/>
          </a:prstGeom>
        </p:spPr>
      </p:pic>
      <p:sp>
        <p:nvSpPr>
          <p:cNvPr id="17" name="Text 12"/>
          <p:cNvSpPr/>
          <p:nvPr/>
        </p:nvSpPr>
        <p:spPr>
          <a:xfrm>
            <a:off x="6876288" y="1645920"/>
            <a:ext cx="4434840" cy="457200"/>
          </a:xfrm>
          <a:prstGeom prst="rect">
            <a:avLst/>
          </a:prstGeom>
          <a:noFill/>
          <a:ln/>
        </p:spPr>
        <p:txBody>
          <a:bodyPr wrap="square" lIns="0" tIns="0" rIns="0" bIns="0" rtlCol="0" anchor="ctr"/>
          <a:lstStyle/>
          <a:p>
            <a:pPr marL="0" indent="0">
              <a:buNone/>
            </a:pPr>
            <a:r>
              <a:rPr lang="en-US" sz="1500" b="1" dirty="0">
                <a:solidFill>
                  <a:srgbClr val="0B2E33"/>
                </a:solidFill>
                <a:latin typeface="Cambria" pitchFamily="34" charset="0"/>
                <a:ea typeface="Cambria" pitchFamily="34" charset="-122"/>
                <a:cs typeface="Cambria" pitchFamily="34" charset="-120"/>
              </a:rPr>
              <a:t>Data Preprocessing</a:t>
            </a:r>
            <a:endParaRPr lang="en-US" sz="1500" dirty="0"/>
          </a:p>
        </p:txBody>
      </p:sp>
      <p:sp>
        <p:nvSpPr>
          <p:cNvPr id="18" name="Text 13"/>
          <p:cNvSpPr/>
          <p:nvPr/>
        </p:nvSpPr>
        <p:spPr>
          <a:xfrm>
            <a:off x="6382512" y="2194560"/>
            <a:ext cx="4837176" cy="1298448"/>
          </a:xfrm>
          <a:prstGeom prst="rect">
            <a:avLst/>
          </a:prstGeom>
          <a:noFill/>
          <a:ln/>
        </p:spPr>
        <p:txBody>
          <a:bodyPr wrap="square" lIns="0" tIns="0" rIns="0" bIns="0" rtlCol="0" anchor="t"/>
          <a:lstStyle/>
          <a:p>
            <a:pPr>
              <a:lnSpc>
                <a:spcPct val="112000"/>
              </a:lnSpc>
            </a:pPr>
            <a:r>
              <a:rPr lang="en-US" sz="1200" dirty="0"/>
              <a:t>Apply invalid entry removal, label encoding, feature engineering, and SMOTE oversampling to improve data quality and balance.</a:t>
            </a:r>
          </a:p>
        </p:txBody>
      </p:sp>
      <p:sp>
        <p:nvSpPr>
          <p:cNvPr id="19" name="Shape 14"/>
          <p:cNvSpPr/>
          <p:nvPr/>
        </p:nvSpPr>
        <p:spPr>
          <a:xfrm>
            <a:off x="502920" y="3822192"/>
            <a:ext cx="5349240" cy="2084832"/>
          </a:xfrm>
          <a:prstGeom prst="roundRect">
            <a:avLst>
              <a:gd name="adj" fmla="val 3947"/>
            </a:avLst>
          </a:prstGeom>
          <a:solidFill>
            <a:srgbClr val="FFFFFF"/>
          </a:solidFill>
          <a:ln/>
          <a:effectLst>
            <a:outerShdw blurRad="114300" dist="38100" dir="5400000" algn="bl" rotWithShape="0">
              <a:srgbClr val="0B2E33">
                <a:alpha val="14000"/>
              </a:srgbClr>
            </a:outerShdw>
          </a:effectLst>
        </p:spPr>
      </p:sp>
      <p:sp>
        <p:nvSpPr>
          <p:cNvPr id="20" name="Shape 15"/>
          <p:cNvSpPr/>
          <p:nvPr/>
        </p:nvSpPr>
        <p:spPr>
          <a:xfrm>
            <a:off x="704088" y="4023360"/>
            <a:ext cx="420624" cy="420624"/>
          </a:xfrm>
          <a:prstGeom prst="ellipse">
            <a:avLst/>
          </a:prstGeom>
          <a:solidFill>
            <a:srgbClr val="0E7C7B"/>
          </a:solidFill>
          <a:ln/>
        </p:spPr>
      </p:sp>
      <p:pic>
        <p:nvPicPr>
          <p:cNvPr id="21" name="Image 3" descr="icons/chart-line-white.png"/>
          <p:cNvPicPr>
            <a:picLocks noChangeAspect="1"/>
          </p:cNvPicPr>
          <p:nvPr/>
        </p:nvPicPr>
        <p:blipFill>
          <a:blip r:embed="rId6"/>
          <a:stretch>
            <a:fillRect/>
          </a:stretch>
        </p:blipFill>
        <p:spPr>
          <a:xfrm>
            <a:off x="813816" y="4133088"/>
            <a:ext cx="201168" cy="201168"/>
          </a:xfrm>
          <a:prstGeom prst="rect">
            <a:avLst/>
          </a:prstGeom>
        </p:spPr>
      </p:pic>
      <p:sp>
        <p:nvSpPr>
          <p:cNvPr id="22" name="Text 16"/>
          <p:cNvSpPr/>
          <p:nvPr/>
        </p:nvSpPr>
        <p:spPr>
          <a:xfrm>
            <a:off x="1252728" y="3986784"/>
            <a:ext cx="4434840" cy="457200"/>
          </a:xfrm>
          <a:prstGeom prst="rect">
            <a:avLst/>
          </a:prstGeom>
          <a:noFill/>
          <a:ln/>
        </p:spPr>
        <p:txBody>
          <a:bodyPr wrap="square" lIns="0" tIns="0" rIns="0" bIns="0" rtlCol="0" anchor="ctr"/>
          <a:lstStyle/>
          <a:p>
            <a:pPr marL="0" indent="0">
              <a:buNone/>
            </a:pPr>
            <a:r>
              <a:rPr lang="en-US" sz="1500" b="1" dirty="0">
                <a:solidFill>
                  <a:srgbClr val="0B2E33"/>
                </a:solidFill>
                <a:latin typeface="Cambria" pitchFamily="34" charset="0"/>
                <a:ea typeface="Cambria" pitchFamily="34" charset="-122"/>
                <a:cs typeface="Cambria" pitchFamily="34" charset="-120"/>
              </a:rPr>
              <a:t>Performance Evaluation</a:t>
            </a:r>
            <a:endParaRPr lang="en-US" sz="1500" dirty="0"/>
          </a:p>
        </p:txBody>
      </p:sp>
      <p:sp>
        <p:nvSpPr>
          <p:cNvPr id="23" name="Text 17"/>
          <p:cNvSpPr/>
          <p:nvPr/>
        </p:nvSpPr>
        <p:spPr>
          <a:xfrm>
            <a:off x="758952" y="4535424"/>
            <a:ext cx="4837176" cy="1298448"/>
          </a:xfrm>
          <a:prstGeom prst="rect">
            <a:avLst/>
          </a:prstGeom>
          <a:noFill/>
          <a:ln/>
        </p:spPr>
        <p:txBody>
          <a:bodyPr wrap="square" lIns="0" tIns="0" rIns="0" bIns="0" rtlCol="0" anchor="t"/>
          <a:lstStyle/>
          <a:p>
            <a:pPr>
              <a:lnSpc>
                <a:spcPct val="112000"/>
              </a:lnSpc>
            </a:pPr>
            <a:r>
              <a:rPr lang="en-US" sz="1200" dirty="0"/>
              <a:t>Assess each model with accuracy, precision, recall, F1 score, ROC-AUC, and 10-fold cross-validation for unbiased results.</a:t>
            </a:r>
          </a:p>
        </p:txBody>
      </p:sp>
      <p:sp>
        <p:nvSpPr>
          <p:cNvPr id="24" name="Shape 18"/>
          <p:cNvSpPr/>
          <p:nvPr/>
        </p:nvSpPr>
        <p:spPr>
          <a:xfrm>
            <a:off x="6126480" y="3822192"/>
            <a:ext cx="5349240" cy="2084832"/>
          </a:xfrm>
          <a:prstGeom prst="roundRect">
            <a:avLst>
              <a:gd name="adj" fmla="val 3947"/>
            </a:avLst>
          </a:prstGeom>
          <a:solidFill>
            <a:srgbClr val="FFFFFF"/>
          </a:solidFill>
          <a:ln/>
          <a:effectLst>
            <a:outerShdw blurRad="114300" dist="38100" dir="5400000" algn="bl" rotWithShape="0">
              <a:srgbClr val="0B2E33">
                <a:alpha val="14000"/>
              </a:srgbClr>
            </a:outerShdw>
          </a:effectLst>
        </p:spPr>
      </p:sp>
      <p:sp>
        <p:nvSpPr>
          <p:cNvPr id="25" name="Shape 19"/>
          <p:cNvSpPr/>
          <p:nvPr/>
        </p:nvSpPr>
        <p:spPr>
          <a:xfrm>
            <a:off x="6327648" y="4023360"/>
            <a:ext cx="420624" cy="420624"/>
          </a:xfrm>
          <a:prstGeom prst="ellipse">
            <a:avLst/>
          </a:prstGeom>
          <a:solidFill>
            <a:srgbClr val="0E7C7B"/>
          </a:solidFill>
          <a:ln/>
        </p:spPr>
      </p:sp>
      <p:pic>
        <p:nvPicPr>
          <p:cNvPr id="26" name="Image 4" descr="icons/lightbulb-white.png"/>
          <p:cNvPicPr>
            <a:picLocks noChangeAspect="1"/>
          </p:cNvPicPr>
          <p:nvPr/>
        </p:nvPicPr>
        <p:blipFill>
          <a:blip r:embed="rId7"/>
          <a:stretch>
            <a:fillRect/>
          </a:stretch>
        </p:blipFill>
        <p:spPr>
          <a:xfrm>
            <a:off x="6437376" y="4133088"/>
            <a:ext cx="201168" cy="201168"/>
          </a:xfrm>
          <a:prstGeom prst="rect">
            <a:avLst/>
          </a:prstGeom>
        </p:spPr>
      </p:pic>
      <p:sp>
        <p:nvSpPr>
          <p:cNvPr id="27" name="Text 20"/>
          <p:cNvSpPr/>
          <p:nvPr/>
        </p:nvSpPr>
        <p:spPr>
          <a:xfrm>
            <a:off x="6876288" y="3986784"/>
            <a:ext cx="4434840" cy="457200"/>
          </a:xfrm>
          <a:prstGeom prst="rect">
            <a:avLst/>
          </a:prstGeom>
          <a:noFill/>
          <a:ln/>
        </p:spPr>
        <p:txBody>
          <a:bodyPr wrap="square" lIns="0" tIns="0" rIns="0" bIns="0" rtlCol="0" anchor="ctr"/>
          <a:lstStyle/>
          <a:p>
            <a:pPr marL="0" indent="0">
              <a:buNone/>
            </a:pPr>
            <a:r>
              <a:rPr lang="en-US" sz="1500" b="1" dirty="0">
                <a:solidFill>
                  <a:srgbClr val="0B2E33"/>
                </a:solidFill>
                <a:latin typeface="Cambria" pitchFamily="34" charset="0"/>
                <a:ea typeface="Cambria" pitchFamily="34" charset="-122"/>
                <a:cs typeface="Cambria" pitchFamily="34" charset="-120"/>
              </a:rPr>
              <a:t>Model Explainability</a:t>
            </a:r>
            <a:endParaRPr lang="en-US" sz="1500" dirty="0"/>
          </a:p>
        </p:txBody>
      </p:sp>
      <p:sp>
        <p:nvSpPr>
          <p:cNvPr id="28" name="Text 21"/>
          <p:cNvSpPr/>
          <p:nvPr/>
        </p:nvSpPr>
        <p:spPr>
          <a:xfrm>
            <a:off x="6382512" y="4535424"/>
            <a:ext cx="4837176" cy="1298448"/>
          </a:xfrm>
          <a:prstGeom prst="rect">
            <a:avLst/>
          </a:prstGeom>
          <a:noFill/>
          <a:ln/>
        </p:spPr>
        <p:txBody>
          <a:bodyPr wrap="square" lIns="0" tIns="0" rIns="0" bIns="0" rtlCol="0" anchor="t"/>
          <a:lstStyle/>
          <a:p>
            <a:pPr>
              <a:lnSpc>
                <a:spcPct val="112000"/>
              </a:lnSpc>
            </a:pPr>
            <a:r>
              <a:rPr lang="en-US" sz="1200" dirty="0"/>
              <a:t>Apply SHAP and LIME to the best-performing model to explain predictions at both global and local levels.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869680" y="-411480"/>
            <a:ext cx="3108960" cy="2194560"/>
          </a:xfrm>
          <a:prstGeom prst="rect">
            <a:avLst/>
          </a:prstGeom>
          <a:noFill/>
          <a:ln/>
        </p:spPr>
        <p:txBody>
          <a:bodyPr wrap="square" rtlCol="0" anchor="t"/>
          <a:lstStyle/>
          <a:p>
            <a:pPr marL="0" indent="0" algn="r">
              <a:buNone/>
            </a:pPr>
            <a:endParaRPr lang="en-US" sz="15000" dirty="0"/>
          </a:p>
        </p:txBody>
      </p:sp>
      <p:sp>
        <p:nvSpPr>
          <p:cNvPr id="3" name="Shape 1"/>
          <p:cNvSpPr/>
          <p:nvPr/>
        </p:nvSpPr>
        <p:spPr>
          <a:xfrm>
            <a:off x="502920" y="502920"/>
            <a:ext cx="603504" cy="603504"/>
          </a:xfrm>
          <a:prstGeom prst="ellipse">
            <a:avLst/>
          </a:prstGeom>
          <a:solidFill>
            <a:srgbClr val="0E7C7B"/>
          </a:solidFill>
          <a:ln/>
        </p:spPr>
      </p:sp>
      <p:pic>
        <p:nvPicPr>
          <p:cNvPr id="4" name="Image 0" descr="icons/exclamation-triangle-white.png"/>
          <p:cNvPicPr>
            <a:picLocks noChangeAspect="1"/>
          </p:cNvPicPr>
          <p:nvPr/>
        </p:nvPicPr>
        <p:blipFill>
          <a:blip r:embed="rId3"/>
          <a:stretch>
            <a:fillRect/>
          </a:stretch>
        </p:blipFill>
        <p:spPr>
          <a:xfrm>
            <a:off x="649224" y="649224"/>
            <a:ext cx="310896" cy="310896"/>
          </a:xfrm>
          <a:prstGeom prst="rect">
            <a:avLst/>
          </a:prstGeom>
        </p:spPr>
      </p:pic>
      <p:sp>
        <p:nvSpPr>
          <p:cNvPr id="5" name="Text 2"/>
          <p:cNvSpPr/>
          <p:nvPr/>
        </p:nvSpPr>
        <p:spPr>
          <a:xfrm>
            <a:off x="1298448" y="457200"/>
            <a:ext cx="7315200" cy="274320"/>
          </a:xfrm>
          <a:prstGeom prst="rect">
            <a:avLst/>
          </a:prstGeom>
          <a:noFill/>
          <a:ln/>
        </p:spPr>
        <p:txBody>
          <a:bodyPr wrap="square" lIns="0" tIns="0" rIns="0" bIns="0" rtlCol="0" anchor="ctr"/>
          <a:lstStyle/>
          <a:p>
            <a:pPr marL="0" indent="0">
              <a:buNone/>
            </a:pPr>
            <a:endParaRPr lang="en-US" sz="1100" dirty="0"/>
          </a:p>
        </p:txBody>
      </p:sp>
      <p:sp>
        <p:nvSpPr>
          <p:cNvPr id="6" name="Text 3"/>
          <p:cNvSpPr/>
          <p:nvPr/>
        </p:nvSpPr>
        <p:spPr>
          <a:xfrm>
            <a:off x="1280160" y="521208"/>
            <a:ext cx="8778240" cy="566928"/>
          </a:xfrm>
          <a:prstGeom prst="rect">
            <a:avLst/>
          </a:prstGeom>
          <a:noFill/>
          <a:ln/>
        </p:spPr>
        <p:txBody>
          <a:bodyPr wrap="square" lIns="0" tIns="0" rIns="0" bIns="0" rtlCol="0" anchor="ctr"/>
          <a:lstStyle/>
          <a:p>
            <a:pPr marL="0" indent="0">
              <a:buNone/>
            </a:pPr>
            <a:r>
              <a:rPr lang="en-US" sz="3000" b="1" dirty="0">
                <a:solidFill>
                  <a:srgbClr val="0B2E33"/>
                </a:solidFill>
                <a:latin typeface="Cambria" pitchFamily="34" charset="0"/>
                <a:ea typeface="Cambria" pitchFamily="34" charset="-122"/>
                <a:cs typeface="Cambria" pitchFamily="34" charset="-120"/>
              </a:rPr>
              <a:t>Description of the Problem</a:t>
            </a:r>
            <a:endParaRPr lang="en-US" sz="3000" dirty="0"/>
          </a:p>
        </p:txBody>
      </p:sp>
      <p:sp>
        <p:nvSpPr>
          <p:cNvPr id="7" name="Text 4"/>
          <p:cNvSpPr/>
          <p:nvPr/>
        </p:nvSpPr>
        <p:spPr>
          <a:xfrm>
            <a:off x="502920" y="6547104"/>
            <a:ext cx="8229600" cy="256032"/>
          </a:xfrm>
          <a:prstGeom prst="rect">
            <a:avLst/>
          </a:prstGeom>
          <a:noFill/>
          <a:ln/>
        </p:spPr>
        <p:txBody>
          <a:bodyPr wrap="square" lIns="0" tIns="0" rIns="0" bIns="0" rtlCol="0" anchor="ctr"/>
          <a:lstStyle/>
          <a:p>
            <a:pPr marL="0" indent="0">
              <a:buNone/>
            </a:pPr>
            <a:endParaRPr lang="en-US" sz="900" dirty="0"/>
          </a:p>
        </p:txBody>
      </p:sp>
      <p:sp>
        <p:nvSpPr>
          <p:cNvPr id="8" name="Text 5"/>
          <p:cNvSpPr/>
          <p:nvPr/>
        </p:nvSpPr>
        <p:spPr>
          <a:xfrm>
            <a:off x="5367528" y="6364224"/>
            <a:ext cx="960120" cy="438912"/>
          </a:xfrm>
          <a:prstGeom prst="rect">
            <a:avLst/>
          </a:prstGeom>
          <a:noFill/>
          <a:ln/>
        </p:spPr>
        <p:txBody>
          <a:bodyPr wrap="square" lIns="0" tIns="0" rIns="0" bIns="0" rtlCol="0" anchor="ctr"/>
          <a:lstStyle/>
          <a:p>
            <a:pPr marL="0" indent="0" algn="r">
              <a:buNone/>
            </a:pPr>
            <a:r>
              <a:rPr lang="en-US" sz="1200" dirty="0">
                <a:solidFill>
                  <a:srgbClr val="5C7A7D"/>
                </a:solidFill>
                <a:latin typeface="Calibri" pitchFamily="34" charset="0"/>
                <a:ea typeface="Calibri" pitchFamily="34" charset="-122"/>
                <a:cs typeface="Calibri" pitchFamily="34" charset="-120"/>
              </a:rPr>
              <a:t>05 / 15</a:t>
            </a:r>
            <a:endParaRPr lang="en-US" sz="1200" dirty="0"/>
          </a:p>
        </p:txBody>
      </p:sp>
      <p:sp>
        <p:nvSpPr>
          <p:cNvPr id="9" name="Shape 6"/>
          <p:cNvSpPr/>
          <p:nvPr/>
        </p:nvSpPr>
        <p:spPr>
          <a:xfrm>
            <a:off x="502920" y="1481328"/>
            <a:ext cx="5349240" cy="2084832"/>
          </a:xfrm>
          <a:prstGeom prst="roundRect">
            <a:avLst>
              <a:gd name="adj" fmla="val 3947"/>
            </a:avLst>
          </a:prstGeom>
          <a:solidFill>
            <a:srgbClr val="FFFFFF"/>
          </a:solidFill>
          <a:ln/>
          <a:effectLst>
            <a:outerShdw blurRad="114300" dist="38100" dir="5400000" algn="bl" rotWithShape="0">
              <a:srgbClr val="0B2E33">
                <a:alpha val="14000"/>
              </a:srgbClr>
            </a:outerShdw>
          </a:effectLst>
        </p:spPr>
      </p:sp>
      <p:sp>
        <p:nvSpPr>
          <p:cNvPr id="10" name="Shape 7"/>
          <p:cNvSpPr/>
          <p:nvPr/>
        </p:nvSpPr>
        <p:spPr>
          <a:xfrm>
            <a:off x="704088" y="1682496"/>
            <a:ext cx="420624" cy="420624"/>
          </a:xfrm>
          <a:prstGeom prst="ellipse">
            <a:avLst/>
          </a:prstGeom>
          <a:solidFill>
            <a:srgbClr val="E4572E"/>
          </a:solidFill>
          <a:ln/>
        </p:spPr>
      </p:sp>
      <p:pic>
        <p:nvPicPr>
          <p:cNvPr id="11" name="Image 1" descr="icons/search-plus-white.png"/>
          <p:cNvPicPr>
            <a:picLocks noChangeAspect="1"/>
          </p:cNvPicPr>
          <p:nvPr/>
        </p:nvPicPr>
        <p:blipFill>
          <a:blip r:embed="rId4"/>
          <a:stretch>
            <a:fillRect/>
          </a:stretch>
        </p:blipFill>
        <p:spPr>
          <a:xfrm>
            <a:off x="813816" y="1792224"/>
            <a:ext cx="201168" cy="201168"/>
          </a:xfrm>
          <a:prstGeom prst="rect">
            <a:avLst/>
          </a:prstGeom>
        </p:spPr>
      </p:pic>
      <p:sp>
        <p:nvSpPr>
          <p:cNvPr id="12" name="Text 8"/>
          <p:cNvSpPr/>
          <p:nvPr/>
        </p:nvSpPr>
        <p:spPr>
          <a:xfrm>
            <a:off x="1252728" y="1645920"/>
            <a:ext cx="4434840" cy="457200"/>
          </a:xfrm>
          <a:prstGeom prst="rect">
            <a:avLst/>
          </a:prstGeom>
          <a:noFill/>
          <a:ln/>
        </p:spPr>
        <p:txBody>
          <a:bodyPr wrap="square" lIns="0" tIns="0" rIns="0" bIns="0" rtlCol="0" anchor="ctr"/>
          <a:lstStyle/>
          <a:p>
            <a:pPr marL="0" indent="0">
              <a:buNone/>
            </a:pPr>
            <a:r>
              <a:rPr lang="en-US" sz="1500" b="1" dirty="0">
                <a:solidFill>
                  <a:srgbClr val="0B2E33"/>
                </a:solidFill>
                <a:latin typeface="Cambria" pitchFamily="34" charset="0"/>
                <a:ea typeface="Cambria" pitchFamily="34" charset="-122"/>
                <a:cs typeface="Cambria" pitchFamily="34" charset="-120"/>
              </a:rPr>
              <a:t>Late &amp; Costly Diagnosis</a:t>
            </a:r>
            <a:endParaRPr lang="en-US" sz="1500" dirty="0"/>
          </a:p>
        </p:txBody>
      </p:sp>
      <p:sp>
        <p:nvSpPr>
          <p:cNvPr id="13" name="Text 9"/>
          <p:cNvSpPr/>
          <p:nvPr/>
        </p:nvSpPr>
        <p:spPr>
          <a:xfrm>
            <a:off x="758952" y="2194560"/>
            <a:ext cx="4837176" cy="1298448"/>
          </a:xfrm>
          <a:prstGeom prst="rect">
            <a:avLst/>
          </a:prstGeom>
          <a:noFill/>
          <a:ln/>
        </p:spPr>
        <p:txBody>
          <a:bodyPr wrap="square" lIns="0" tIns="0" rIns="0" bIns="0" rtlCol="0" anchor="t"/>
          <a:lstStyle/>
          <a:p>
            <a:pPr marL="0" indent="0" algn="just">
              <a:lnSpc>
                <a:spcPct val="112000"/>
              </a:lnSpc>
              <a:buNone/>
            </a:pPr>
            <a:r>
              <a:rPr lang="en-US" sz="1200" dirty="0">
                <a:solidFill>
                  <a:srgbClr val="16282A"/>
                </a:solidFill>
                <a:latin typeface="Calibri" pitchFamily="34" charset="0"/>
                <a:ea typeface="Calibri" pitchFamily="34" charset="-122"/>
                <a:cs typeface="Calibri" pitchFamily="34" charset="-120"/>
              </a:rPr>
              <a:t>Heart failure often goes undetected until a critical stage. Conventional diagnostics are expensive, slow, and require specialist expertise that is scarce in resource-limited regions like Bangladesh.</a:t>
            </a:r>
            <a:endParaRPr lang="en-US" sz="1200" dirty="0"/>
          </a:p>
        </p:txBody>
      </p:sp>
      <p:sp>
        <p:nvSpPr>
          <p:cNvPr id="14" name="Shape 10"/>
          <p:cNvSpPr/>
          <p:nvPr/>
        </p:nvSpPr>
        <p:spPr>
          <a:xfrm>
            <a:off x="6126480" y="1517904"/>
            <a:ext cx="5349240" cy="2084832"/>
          </a:xfrm>
          <a:prstGeom prst="roundRect">
            <a:avLst>
              <a:gd name="adj" fmla="val 3947"/>
            </a:avLst>
          </a:prstGeom>
          <a:solidFill>
            <a:srgbClr val="FFFFFF"/>
          </a:solidFill>
          <a:ln/>
          <a:effectLst>
            <a:outerShdw blurRad="114300" dist="38100" dir="5400000" algn="bl" rotWithShape="0">
              <a:srgbClr val="0B2E33">
                <a:alpha val="14000"/>
              </a:srgbClr>
            </a:outerShdw>
          </a:effectLst>
        </p:spPr>
      </p:sp>
      <p:sp>
        <p:nvSpPr>
          <p:cNvPr id="15" name="Shape 11"/>
          <p:cNvSpPr/>
          <p:nvPr/>
        </p:nvSpPr>
        <p:spPr>
          <a:xfrm>
            <a:off x="6327648" y="1682496"/>
            <a:ext cx="420624" cy="420624"/>
          </a:xfrm>
          <a:prstGeom prst="ellipse">
            <a:avLst/>
          </a:prstGeom>
          <a:solidFill>
            <a:srgbClr val="E4572E"/>
          </a:solidFill>
          <a:ln/>
        </p:spPr>
      </p:sp>
      <p:pic>
        <p:nvPicPr>
          <p:cNvPr id="16" name="Image 2" descr="icons/brain-white.png"/>
          <p:cNvPicPr>
            <a:picLocks noChangeAspect="1"/>
          </p:cNvPicPr>
          <p:nvPr/>
        </p:nvPicPr>
        <p:blipFill>
          <a:blip r:embed="rId5"/>
          <a:stretch>
            <a:fillRect/>
          </a:stretch>
        </p:blipFill>
        <p:spPr>
          <a:xfrm>
            <a:off x="6437376" y="1792224"/>
            <a:ext cx="201168" cy="201168"/>
          </a:xfrm>
          <a:prstGeom prst="rect">
            <a:avLst/>
          </a:prstGeom>
        </p:spPr>
      </p:pic>
      <p:sp>
        <p:nvSpPr>
          <p:cNvPr id="17" name="Text 12"/>
          <p:cNvSpPr/>
          <p:nvPr/>
        </p:nvSpPr>
        <p:spPr>
          <a:xfrm>
            <a:off x="6876288" y="1645920"/>
            <a:ext cx="4434840" cy="457200"/>
          </a:xfrm>
          <a:prstGeom prst="rect">
            <a:avLst/>
          </a:prstGeom>
          <a:noFill/>
          <a:ln/>
        </p:spPr>
        <p:txBody>
          <a:bodyPr wrap="square" lIns="0" tIns="0" rIns="0" bIns="0" rtlCol="0" anchor="ctr"/>
          <a:lstStyle/>
          <a:p>
            <a:pPr marL="0" indent="0">
              <a:buNone/>
            </a:pPr>
            <a:r>
              <a:rPr lang="en-US" sz="1500" b="1" dirty="0">
                <a:solidFill>
                  <a:srgbClr val="0B2E33"/>
                </a:solidFill>
                <a:latin typeface="Cambria" pitchFamily="34" charset="0"/>
                <a:ea typeface="Cambria" pitchFamily="34" charset="-122"/>
                <a:cs typeface="Cambria" pitchFamily="34" charset="-120"/>
              </a:rPr>
              <a:t>The Black-Box Problem</a:t>
            </a:r>
            <a:endParaRPr lang="en-US" sz="1500" dirty="0"/>
          </a:p>
        </p:txBody>
      </p:sp>
      <p:sp>
        <p:nvSpPr>
          <p:cNvPr id="18" name="Text 13"/>
          <p:cNvSpPr/>
          <p:nvPr/>
        </p:nvSpPr>
        <p:spPr>
          <a:xfrm>
            <a:off x="6382512" y="2194560"/>
            <a:ext cx="4837176" cy="1298448"/>
          </a:xfrm>
          <a:prstGeom prst="rect">
            <a:avLst/>
          </a:prstGeom>
          <a:noFill/>
          <a:ln/>
        </p:spPr>
        <p:txBody>
          <a:bodyPr wrap="square" lIns="0" tIns="0" rIns="0" bIns="0" rtlCol="0" anchor="t"/>
          <a:lstStyle/>
          <a:p>
            <a:pPr marL="0" indent="0" algn="just">
              <a:lnSpc>
                <a:spcPct val="112000"/>
              </a:lnSpc>
              <a:buNone/>
            </a:pPr>
            <a:r>
              <a:rPr lang="en-US" sz="1200" dirty="0">
                <a:solidFill>
                  <a:srgbClr val="16282A"/>
                </a:solidFill>
                <a:latin typeface="Calibri" pitchFamily="34" charset="0"/>
                <a:ea typeface="Calibri" pitchFamily="34" charset="-122"/>
                <a:cs typeface="Calibri" pitchFamily="34" charset="-120"/>
              </a:rPr>
              <a:t>Top-performing ensemble models such as Random Forest, XGBoost, and LightGBM are opaque. Clinicians cannot see why a prediction was made, undermining trust and clinical adoption.</a:t>
            </a:r>
            <a:endParaRPr lang="en-US" sz="1200" dirty="0"/>
          </a:p>
        </p:txBody>
      </p:sp>
      <p:sp>
        <p:nvSpPr>
          <p:cNvPr id="19" name="Shape 14"/>
          <p:cNvSpPr/>
          <p:nvPr/>
        </p:nvSpPr>
        <p:spPr>
          <a:xfrm>
            <a:off x="502920" y="3822192"/>
            <a:ext cx="5349240" cy="2084832"/>
          </a:xfrm>
          <a:prstGeom prst="roundRect">
            <a:avLst>
              <a:gd name="adj" fmla="val 3947"/>
            </a:avLst>
          </a:prstGeom>
          <a:solidFill>
            <a:srgbClr val="FFFFFF"/>
          </a:solidFill>
          <a:ln/>
          <a:effectLst>
            <a:outerShdw blurRad="114300" dist="38100" dir="5400000" algn="bl" rotWithShape="0">
              <a:srgbClr val="0B2E33">
                <a:alpha val="14000"/>
              </a:srgbClr>
            </a:outerShdw>
          </a:effectLst>
        </p:spPr>
      </p:sp>
      <p:sp>
        <p:nvSpPr>
          <p:cNvPr id="20" name="Shape 15"/>
          <p:cNvSpPr/>
          <p:nvPr/>
        </p:nvSpPr>
        <p:spPr>
          <a:xfrm>
            <a:off x="704088" y="4023360"/>
            <a:ext cx="420624" cy="420624"/>
          </a:xfrm>
          <a:prstGeom prst="ellipse">
            <a:avLst/>
          </a:prstGeom>
          <a:solidFill>
            <a:srgbClr val="E4572E"/>
          </a:solidFill>
          <a:ln/>
        </p:spPr>
      </p:sp>
      <p:pic>
        <p:nvPicPr>
          <p:cNvPr id="21" name="Image 3" descr="icons/balance-scale-white.png"/>
          <p:cNvPicPr>
            <a:picLocks noChangeAspect="1"/>
          </p:cNvPicPr>
          <p:nvPr/>
        </p:nvPicPr>
        <p:blipFill>
          <a:blip r:embed="rId6"/>
          <a:stretch>
            <a:fillRect/>
          </a:stretch>
        </p:blipFill>
        <p:spPr>
          <a:xfrm>
            <a:off x="813816" y="4133088"/>
            <a:ext cx="201168" cy="201168"/>
          </a:xfrm>
          <a:prstGeom prst="rect">
            <a:avLst/>
          </a:prstGeom>
        </p:spPr>
      </p:pic>
      <p:sp>
        <p:nvSpPr>
          <p:cNvPr id="22" name="Text 16"/>
          <p:cNvSpPr/>
          <p:nvPr/>
        </p:nvSpPr>
        <p:spPr>
          <a:xfrm>
            <a:off x="1252728" y="3986784"/>
            <a:ext cx="4434840" cy="457200"/>
          </a:xfrm>
          <a:prstGeom prst="rect">
            <a:avLst/>
          </a:prstGeom>
          <a:noFill/>
          <a:ln/>
        </p:spPr>
        <p:txBody>
          <a:bodyPr wrap="square" lIns="0" tIns="0" rIns="0" bIns="0" rtlCol="0" anchor="ctr"/>
          <a:lstStyle/>
          <a:p>
            <a:pPr marL="0" indent="0">
              <a:buNone/>
            </a:pPr>
            <a:r>
              <a:rPr lang="en-US" sz="1500" b="1" dirty="0">
                <a:solidFill>
                  <a:srgbClr val="0B2E33"/>
                </a:solidFill>
                <a:latin typeface="Cambria" pitchFamily="34" charset="0"/>
                <a:ea typeface="Cambria" pitchFamily="34" charset="-122"/>
                <a:cs typeface="Cambria" pitchFamily="34" charset="-120"/>
              </a:rPr>
              <a:t>Imbalanced Training Data</a:t>
            </a:r>
            <a:endParaRPr lang="en-US" sz="1500" dirty="0"/>
          </a:p>
        </p:txBody>
      </p:sp>
      <p:sp>
        <p:nvSpPr>
          <p:cNvPr id="23" name="Text 17"/>
          <p:cNvSpPr/>
          <p:nvPr/>
        </p:nvSpPr>
        <p:spPr>
          <a:xfrm>
            <a:off x="758952" y="4535424"/>
            <a:ext cx="4928616" cy="1298448"/>
          </a:xfrm>
          <a:prstGeom prst="rect">
            <a:avLst/>
          </a:prstGeom>
          <a:noFill/>
          <a:ln/>
        </p:spPr>
        <p:txBody>
          <a:bodyPr wrap="square" lIns="0" tIns="0" rIns="0" bIns="0" rtlCol="0" anchor="t"/>
          <a:lstStyle/>
          <a:p>
            <a:pPr marL="0" indent="0" algn="just">
              <a:lnSpc>
                <a:spcPct val="112000"/>
              </a:lnSpc>
              <a:buNone/>
            </a:pPr>
            <a:r>
              <a:rPr lang="en-US" sz="1200" dirty="0">
                <a:solidFill>
                  <a:srgbClr val="16282A"/>
                </a:solidFill>
                <a:latin typeface="Calibri" pitchFamily="34" charset="0"/>
                <a:ea typeface="Calibri" pitchFamily="34" charset="-122"/>
                <a:cs typeface="Calibri" pitchFamily="34" charset="-120"/>
              </a:rPr>
              <a:t>Clinical datasets typically contain far fewer heart failure cases than healthy cases, biasing models toward the majority class unless explicitly corrected using techniques like SMOTE.</a:t>
            </a:r>
            <a:endParaRPr lang="en-US" sz="1200" dirty="0"/>
          </a:p>
        </p:txBody>
      </p:sp>
      <p:sp>
        <p:nvSpPr>
          <p:cNvPr id="24" name="Shape 18"/>
          <p:cNvSpPr/>
          <p:nvPr/>
        </p:nvSpPr>
        <p:spPr>
          <a:xfrm>
            <a:off x="6126480" y="3822192"/>
            <a:ext cx="5349240" cy="2084832"/>
          </a:xfrm>
          <a:prstGeom prst="roundRect">
            <a:avLst>
              <a:gd name="adj" fmla="val 3947"/>
            </a:avLst>
          </a:prstGeom>
          <a:solidFill>
            <a:srgbClr val="FFFFFF"/>
          </a:solidFill>
          <a:ln/>
          <a:effectLst>
            <a:outerShdw blurRad="114300" dist="38100" dir="5400000" algn="bl" rotWithShape="0">
              <a:srgbClr val="0B2E33">
                <a:alpha val="14000"/>
              </a:srgbClr>
            </a:outerShdw>
          </a:effectLst>
        </p:spPr>
      </p:sp>
      <p:sp>
        <p:nvSpPr>
          <p:cNvPr id="25" name="Shape 19"/>
          <p:cNvSpPr/>
          <p:nvPr/>
        </p:nvSpPr>
        <p:spPr>
          <a:xfrm>
            <a:off x="6327648" y="4023360"/>
            <a:ext cx="420624" cy="420624"/>
          </a:xfrm>
          <a:prstGeom prst="ellipse">
            <a:avLst/>
          </a:prstGeom>
          <a:solidFill>
            <a:srgbClr val="E4572E"/>
          </a:solidFill>
          <a:ln/>
        </p:spPr>
      </p:sp>
      <p:pic>
        <p:nvPicPr>
          <p:cNvPr id="26" name="Image 4" descr="icons/sitemap-white.png"/>
          <p:cNvPicPr>
            <a:picLocks noChangeAspect="1"/>
          </p:cNvPicPr>
          <p:nvPr/>
        </p:nvPicPr>
        <p:blipFill>
          <a:blip r:embed="rId7"/>
          <a:stretch>
            <a:fillRect/>
          </a:stretch>
        </p:blipFill>
        <p:spPr>
          <a:xfrm>
            <a:off x="6437376" y="4133088"/>
            <a:ext cx="201168" cy="201168"/>
          </a:xfrm>
          <a:prstGeom prst="rect">
            <a:avLst/>
          </a:prstGeom>
        </p:spPr>
      </p:pic>
      <p:sp>
        <p:nvSpPr>
          <p:cNvPr id="27" name="Text 20"/>
          <p:cNvSpPr/>
          <p:nvPr/>
        </p:nvSpPr>
        <p:spPr>
          <a:xfrm>
            <a:off x="6876288" y="3986784"/>
            <a:ext cx="4434840" cy="457200"/>
          </a:xfrm>
          <a:prstGeom prst="rect">
            <a:avLst/>
          </a:prstGeom>
          <a:noFill/>
          <a:ln/>
        </p:spPr>
        <p:txBody>
          <a:bodyPr wrap="square" lIns="0" tIns="0" rIns="0" bIns="0" rtlCol="0" anchor="ctr"/>
          <a:lstStyle/>
          <a:p>
            <a:pPr marL="0" indent="0">
              <a:buNone/>
            </a:pPr>
            <a:r>
              <a:rPr lang="en-US" sz="1500" b="1" dirty="0">
                <a:solidFill>
                  <a:srgbClr val="0B2E33"/>
                </a:solidFill>
                <a:latin typeface="Cambria" pitchFamily="34" charset="0"/>
                <a:ea typeface="Cambria" pitchFamily="34" charset="-122"/>
                <a:cs typeface="Cambria" pitchFamily="34" charset="-120"/>
              </a:rPr>
              <a:t>Research Gap</a:t>
            </a:r>
            <a:endParaRPr lang="en-US" sz="1500" dirty="0"/>
          </a:p>
        </p:txBody>
      </p:sp>
      <p:sp>
        <p:nvSpPr>
          <p:cNvPr id="28" name="Text 21"/>
          <p:cNvSpPr/>
          <p:nvPr/>
        </p:nvSpPr>
        <p:spPr>
          <a:xfrm>
            <a:off x="6382512" y="4535424"/>
            <a:ext cx="4837176" cy="1298448"/>
          </a:xfrm>
          <a:prstGeom prst="rect">
            <a:avLst/>
          </a:prstGeom>
          <a:noFill/>
          <a:ln/>
        </p:spPr>
        <p:txBody>
          <a:bodyPr wrap="square" lIns="0" tIns="0" rIns="0" bIns="0" rtlCol="0" anchor="t"/>
          <a:lstStyle/>
          <a:p>
            <a:pPr marL="0" indent="0" algn="just">
              <a:lnSpc>
                <a:spcPct val="112000"/>
              </a:lnSpc>
              <a:buNone/>
            </a:pPr>
            <a:r>
              <a:rPr lang="en-US" sz="1200" dirty="0">
                <a:solidFill>
                  <a:srgbClr val="16282A"/>
                </a:solidFill>
                <a:latin typeface="Calibri" pitchFamily="34" charset="0"/>
                <a:ea typeface="Calibri" pitchFamily="34" charset="-122"/>
                <a:cs typeface="Calibri" pitchFamily="34" charset="-120"/>
              </a:rPr>
              <a:t>Very few existing studies combine multiple ensemble models with dual explainability using SHAP and LIME in one unified, clinically transparent framework. This is the gap this thesis addresses.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869680" y="-411480"/>
            <a:ext cx="3108960" cy="2194560"/>
          </a:xfrm>
          <a:prstGeom prst="rect">
            <a:avLst/>
          </a:prstGeom>
          <a:noFill/>
          <a:ln/>
        </p:spPr>
        <p:txBody>
          <a:bodyPr wrap="square" rtlCol="0" anchor="t"/>
          <a:lstStyle/>
          <a:p>
            <a:pPr marL="0" indent="0" algn="r">
              <a:buNone/>
            </a:pPr>
            <a:endParaRPr lang="en-US" sz="15000" dirty="0"/>
          </a:p>
        </p:txBody>
      </p:sp>
      <p:sp>
        <p:nvSpPr>
          <p:cNvPr id="3" name="Shape 1"/>
          <p:cNvSpPr/>
          <p:nvPr/>
        </p:nvSpPr>
        <p:spPr>
          <a:xfrm>
            <a:off x="502920" y="502920"/>
            <a:ext cx="603504" cy="603504"/>
          </a:xfrm>
          <a:prstGeom prst="ellipse">
            <a:avLst/>
          </a:prstGeom>
          <a:solidFill>
            <a:srgbClr val="0E7C7B"/>
          </a:solidFill>
          <a:ln/>
        </p:spPr>
      </p:sp>
      <p:pic>
        <p:nvPicPr>
          <p:cNvPr id="4" name="Image 0" descr="icons/compass-white.png"/>
          <p:cNvPicPr>
            <a:picLocks noChangeAspect="1"/>
          </p:cNvPicPr>
          <p:nvPr/>
        </p:nvPicPr>
        <p:blipFill>
          <a:blip r:embed="rId3"/>
          <a:stretch>
            <a:fillRect/>
          </a:stretch>
        </p:blipFill>
        <p:spPr>
          <a:xfrm>
            <a:off x="649224" y="649224"/>
            <a:ext cx="310896" cy="310896"/>
          </a:xfrm>
          <a:prstGeom prst="rect">
            <a:avLst/>
          </a:prstGeom>
        </p:spPr>
      </p:pic>
      <p:sp>
        <p:nvSpPr>
          <p:cNvPr id="5" name="Text 2"/>
          <p:cNvSpPr/>
          <p:nvPr/>
        </p:nvSpPr>
        <p:spPr>
          <a:xfrm>
            <a:off x="1298448" y="457200"/>
            <a:ext cx="7315200" cy="274320"/>
          </a:xfrm>
          <a:prstGeom prst="rect">
            <a:avLst/>
          </a:prstGeom>
          <a:noFill/>
          <a:ln/>
        </p:spPr>
        <p:txBody>
          <a:bodyPr wrap="square" lIns="0" tIns="0" rIns="0" bIns="0" rtlCol="0" anchor="ctr"/>
          <a:lstStyle/>
          <a:p>
            <a:pPr marL="0" indent="0">
              <a:buNone/>
            </a:pPr>
            <a:endParaRPr lang="en-US" sz="1100" dirty="0"/>
          </a:p>
        </p:txBody>
      </p:sp>
      <p:sp>
        <p:nvSpPr>
          <p:cNvPr id="6" name="Text 3"/>
          <p:cNvSpPr/>
          <p:nvPr/>
        </p:nvSpPr>
        <p:spPr>
          <a:xfrm>
            <a:off x="1280160" y="713232"/>
            <a:ext cx="8778240" cy="566928"/>
          </a:xfrm>
          <a:prstGeom prst="rect">
            <a:avLst/>
          </a:prstGeom>
          <a:noFill/>
          <a:ln/>
        </p:spPr>
        <p:txBody>
          <a:bodyPr wrap="square" lIns="0" tIns="0" rIns="0" bIns="0" rtlCol="0" anchor="ctr"/>
          <a:lstStyle/>
          <a:p>
            <a:pPr marL="0" indent="0">
              <a:buNone/>
            </a:pPr>
            <a:r>
              <a:rPr lang="en-US" sz="3000" b="1" dirty="0">
                <a:solidFill>
                  <a:srgbClr val="0B2E33"/>
                </a:solidFill>
                <a:latin typeface="Cambria" pitchFamily="34" charset="0"/>
                <a:ea typeface="Cambria" pitchFamily="34" charset="-122"/>
                <a:cs typeface="Cambria" pitchFamily="34" charset="-120"/>
              </a:rPr>
              <a:t>Scope of the Thesis</a:t>
            </a:r>
            <a:endParaRPr lang="en-US" sz="3000" dirty="0"/>
          </a:p>
        </p:txBody>
      </p:sp>
      <p:sp>
        <p:nvSpPr>
          <p:cNvPr id="7" name="Text 4"/>
          <p:cNvSpPr/>
          <p:nvPr/>
        </p:nvSpPr>
        <p:spPr>
          <a:xfrm>
            <a:off x="502920" y="6547104"/>
            <a:ext cx="8229600" cy="256032"/>
          </a:xfrm>
          <a:prstGeom prst="rect">
            <a:avLst/>
          </a:prstGeom>
          <a:noFill/>
          <a:ln/>
        </p:spPr>
        <p:txBody>
          <a:bodyPr wrap="square" lIns="0" tIns="0" rIns="0" bIns="0" rtlCol="0" anchor="ctr"/>
          <a:lstStyle/>
          <a:p>
            <a:pPr marL="0" indent="0">
              <a:buNone/>
            </a:pPr>
            <a:endParaRPr lang="en-US" sz="900" dirty="0"/>
          </a:p>
        </p:txBody>
      </p:sp>
      <p:sp>
        <p:nvSpPr>
          <p:cNvPr id="8" name="Text 5"/>
          <p:cNvSpPr/>
          <p:nvPr/>
        </p:nvSpPr>
        <p:spPr>
          <a:xfrm>
            <a:off x="5631180" y="6280405"/>
            <a:ext cx="603885" cy="402335"/>
          </a:xfrm>
          <a:prstGeom prst="rect">
            <a:avLst/>
          </a:prstGeom>
          <a:noFill/>
          <a:ln/>
        </p:spPr>
        <p:txBody>
          <a:bodyPr wrap="square" lIns="0" tIns="0" rIns="0" bIns="0" rtlCol="0" anchor="ctr"/>
          <a:lstStyle/>
          <a:p>
            <a:pPr marL="0" indent="0" algn="r">
              <a:buNone/>
            </a:pPr>
            <a:r>
              <a:rPr lang="en-US" sz="1200" dirty="0">
                <a:solidFill>
                  <a:srgbClr val="5C7A7D"/>
                </a:solidFill>
                <a:latin typeface="Calibri" pitchFamily="34" charset="0"/>
                <a:ea typeface="Calibri" pitchFamily="34" charset="-122"/>
                <a:cs typeface="Calibri" pitchFamily="34" charset="-120"/>
              </a:rPr>
              <a:t>06 / 15</a:t>
            </a:r>
            <a:endParaRPr lang="en-US" sz="1200" dirty="0"/>
          </a:p>
        </p:txBody>
      </p:sp>
      <p:sp>
        <p:nvSpPr>
          <p:cNvPr id="9" name="Text 6"/>
          <p:cNvSpPr/>
          <p:nvPr/>
        </p:nvSpPr>
        <p:spPr>
          <a:xfrm>
            <a:off x="548640" y="1444752"/>
            <a:ext cx="6492240" cy="310896"/>
          </a:xfrm>
          <a:prstGeom prst="rect">
            <a:avLst/>
          </a:prstGeom>
          <a:noFill/>
          <a:ln/>
        </p:spPr>
        <p:txBody>
          <a:bodyPr wrap="square" lIns="0" tIns="0" rIns="0" bIns="0" rtlCol="0" anchor="ctr"/>
          <a:lstStyle/>
          <a:p>
            <a:r>
              <a:rPr lang="en-US" sz="1400" dirty="0"/>
              <a:t>✅ </a:t>
            </a:r>
            <a:r>
              <a:rPr lang="en-US" sz="1400" b="1" kern="0" spc="150" dirty="0">
                <a:solidFill>
                  <a:srgbClr val="0E7C7B"/>
                </a:solidFill>
                <a:latin typeface="Calibri" pitchFamily="34" charset="0"/>
                <a:ea typeface="Calibri" pitchFamily="34" charset="-122"/>
                <a:cs typeface="Calibri" pitchFamily="34" charset="-120"/>
              </a:rPr>
              <a:t>IN SCOPE</a:t>
            </a:r>
            <a:endParaRPr lang="en-US" sz="1400" dirty="0"/>
          </a:p>
        </p:txBody>
      </p:sp>
      <p:sp>
        <p:nvSpPr>
          <p:cNvPr id="10" name="Text 7"/>
          <p:cNvSpPr/>
          <p:nvPr/>
        </p:nvSpPr>
        <p:spPr>
          <a:xfrm>
            <a:off x="548640" y="1792224"/>
            <a:ext cx="6492240" cy="2743200"/>
          </a:xfrm>
          <a:prstGeom prst="rect">
            <a:avLst/>
          </a:prstGeom>
          <a:noFill/>
          <a:ln/>
        </p:spPr>
        <p:txBody>
          <a:bodyPr wrap="square" lIns="0" tIns="0" rIns="0" bIns="0" rtlCol="0" anchor="t"/>
          <a:lstStyle/>
          <a:p>
            <a:pPr marL="228600" indent="-228600">
              <a:lnSpc>
                <a:spcPct val="112000"/>
              </a:lnSpc>
              <a:spcAft>
                <a:spcPts val="1000"/>
              </a:spcAft>
              <a:buSzPct val="100000"/>
              <a:buChar char="●"/>
            </a:pPr>
            <a:r>
              <a:rPr lang="en-US" sz="1250" dirty="0">
                <a:solidFill>
                  <a:srgbClr val="16282A"/>
                </a:solidFill>
                <a:latin typeface="Calibri" pitchFamily="34" charset="0"/>
                <a:ea typeface="Calibri" pitchFamily="34" charset="-122"/>
                <a:cs typeface="Calibri" pitchFamily="34" charset="-120"/>
              </a:rPr>
              <a:t>Predicting whether a patient is at risk of heart failure or not based on routine clinical attributes.</a:t>
            </a:r>
            <a:endParaRPr lang="en-US" sz="1250" dirty="0"/>
          </a:p>
          <a:p>
            <a:pPr marL="228600" indent="-228600">
              <a:lnSpc>
                <a:spcPct val="112000"/>
              </a:lnSpc>
              <a:spcAft>
                <a:spcPts val="1000"/>
              </a:spcAft>
              <a:buSzPct val="100000"/>
              <a:buChar char="●"/>
            </a:pPr>
            <a:r>
              <a:rPr lang="en-US" sz="1250" dirty="0">
                <a:solidFill>
                  <a:srgbClr val="16282A"/>
                </a:solidFill>
                <a:latin typeface="Calibri" pitchFamily="34" charset="0"/>
                <a:ea typeface="Calibri" pitchFamily="34" charset="-122"/>
                <a:cs typeface="Calibri" pitchFamily="34" charset="-120"/>
              </a:rPr>
              <a:t>Dataset of 887 valid patient records with 11 core clinical features (age, sex, chest pain type, blood pressure, cholesterol, ECG, etc.).</a:t>
            </a:r>
            <a:endParaRPr lang="en-US" sz="1250" dirty="0"/>
          </a:p>
          <a:p>
            <a:pPr marL="228600" indent="-228600">
              <a:lnSpc>
                <a:spcPct val="112000"/>
              </a:lnSpc>
              <a:spcAft>
                <a:spcPts val="1000"/>
              </a:spcAft>
              <a:buSzPct val="100000"/>
              <a:buChar char="●"/>
            </a:pPr>
            <a:r>
              <a:rPr lang="en-US" sz="1250" dirty="0">
                <a:solidFill>
                  <a:srgbClr val="16282A"/>
                </a:solidFill>
                <a:latin typeface="Calibri" pitchFamily="34" charset="0"/>
                <a:ea typeface="Calibri" pitchFamily="34" charset="-122"/>
                <a:cs typeface="Calibri" pitchFamily="34" charset="-120"/>
              </a:rPr>
              <a:t>The complete pipeline from data preprocessing and feature engineering to model training, evaluation, and explainability was covered in this thesis.</a:t>
            </a:r>
            <a:endParaRPr lang="en-US" sz="1250" dirty="0"/>
          </a:p>
          <a:p>
            <a:pPr marL="228600" indent="-228600">
              <a:lnSpc>
                <a:spcPct val="112000"/>
              </a:lnSpc>
              <a:spcAft>
                <a:spcPts val="1000"/>
              </a:spcAft>
              <a:buSzPct val="100000"/>
              <a:buChar char="●"/>
            </a:pPr>
            <a:r>
              <a:rPr lang="en-US" sz="1250" dirty="0">
                <a:solidFill>
                  <a:srgbClr val="16282A"/>
                </a:solidFill>
                <a:latin typeface="Calibri" pitchFamily="34" charset="0"/>
                <a:ea typeface="Calibri" pitchFamily="34" charset="-122"/>
                <a:cs typeface="Calibri" pitchFamily="34" charset="-120"/>
              </a:rPr>
              <a:t>Seven ML algorithms were compared and SHAP and LIME were applied to the best-performing model LightGBM to explain its predictions.</a:t>
            </a:r>
            <a:endParaRPr lang="en-US" sz="1250" dirty="0"/>
          </a:p>
        </p:txBody>
      </p:sp>
      <p:sp>
        <p:nvSpPr>
          <p:cNvPr id="11" name="Text 8"/>
          <p:cNvSpPr/>
          <p:nvPr/>
        </p:nvSpPr>
        <p:spPr>
          <a:xfrm>
            <a:off x="548640" y="4617720"/>
            <a:ext cx="6492240" cy="310896"/>
          </a:xfrm>
          <a:prstGeom prst="rect">
            <a:avLst/>
          </a:prstGeom>
          <a:noFill/>
          <a:ln/>
        </p:spPr>
        <p:txBody>
          <a:bodyPr wrap="square" lIns="0" tIns="0" rIns="0" bIns="0" rtlCol="0" anchor="ctr"/>
          <a:lstStyle/>
          <a:p>
            <a:r>
              <a:rPr lang="en-US" sz="1300" dirty="0"/>
              <a:t>❌ </a:t>
            </a:r>
            <a:r>
              <a:rPr lang="en-US" sz="1300" b="1" kern="0" spc="150" dirty="0">
                <a:solidFill>
                  <a:srgbClr val="E4572E"/>
                </a:solidFill>
                <a:latin typeface="Calibri" pitchFamily="34" charset="0"/>
                <a:ea typeface="Calibri" pitchFamily="34" charset="-122"/>
                <a:cs typeface="Calibri" pitchFamily="34" charset="-120"/>
              </a:rPr>
              <a:t>OUT OF SCOPE</a:t>
            </a:r>
            <a:endParaRPr lang="en-US" sz="1300" dirty="0"/>
          </a:p>
        </p:txBody>
      </p:sp>
      <p:sp>
        <p:nvSpPr>
          <p:cNvPr id="12" name="Text 9"/>
          <p:cNvSpPr/>
          <p:nvPr/>
        </p:nvSpPr>
        <p:spPr>
          <a:xfrm>
            <a:off x="548640" y="4965192"/>
            <a:ext cx="6492240" cy="914400"/>
          </a:xfrm>
          <a:prstGeom prst="rect">
            <a:avLst/>
          </a:prstGeom>
          <a:noFill/>
          <a:ln/>
        </p:spPr>
        <p:txBody>
          <a:bodyPr wrap="square" lIns="0" tIns="0" rIns="0" bIns="0" rtlCol="0" anchor="t"/>
          <a:lstStyle/>
          <a:p>
            <a:pPr marL="228600" indent="-228600">
              <a:lnSpc>
                <a:spcPct val="112000"/>
              </a:lnSpc>
              <a:spcAft>
                <a:spcPts val="800"/>
              </a:spcAft>
              <a:buSzPct val="100000"/>
              <a:buChar char="●"/>
            </a:pPr>
            <a:r>
              <a:rPr lang="en-US" sz="1250" dirty="0">
                <a:solidFill>
                  <a:srgbClr val="16282A"/>
                </a:solidFill>
                <a:latin typeface="Calibri" pitchFamily="34" charset="0"/>
                <a:ea typeface="Calibri" pitchFamily="34" charset="-122"/>
                <a:cs typeface="Calibri" pitchFamily="34" charset="-120"/>
              </a:rPr>
              <a:t>The system was not deployed in any real hospital or clinical environment.</a:t>
            </a:r>
            <a:endParaRPr lang="en-US" sz="1250" dirty="0"/>
          </a:p>
          <a:p>
            <a:pPr marL="228600" indent="-228600">
              <a:lnSpc>
                <a:spcPct val="112000"/>
              </a:lnSpc>
              <a:spcAft>
                <a:spcPts val="800"/>
              </a:spcAft>
              <a:buSzPct val="100000"/>
              <a:buChar char="●"/>
            </a:pPr>
            <a:r>
              <a:rPr lang="en-US" sz="1250" dirty="0">
                <a:solidFill>
                  <a:srgbClr val="16282A"/>
                </a:solidFill>
                <a:latin typeface="Calibri" pitchFamily="34" charset="0"/>
                <a:ea typeface="Calibri" pitchFamily="34" charset="-122"/>
                <a:cs typeface="Calibri" pitchFamily="34" charset="-120"/>
              </a:rPr>
              <a:t>Medical imaging data such as Echo and MRI were not used in this thesis.</a:t>
            </a:r>
            <a:endParaRPr lang="en-US" sz="1250" dirty="0"/>
          </a:p>
        </p:txBody>
      </p:sp>
      <p:sp>
        <p:nvSpPr>
          <p:cNvPr id="13" name="Shape 10"/>
          <p:cNvSpPr/>
          <p:nvPr/>
        </p:nvSpPr>
        <p:spPr>
          <a:xfrm>
            <a:off x="7360920" y="1444752"/>
            <a:ext cx="4343400" cy="4517136"/>
          </a:xfrm>
          <a:prstGeom prst="roundRect">
            <a:avLst>
              <a:gd name="adj" fmla="val 1895"/>
            </a:avLst>
          </a:prstGeom>
          <a:solidFill>
            <a:srgbClr val="E5F2F1"/>
          </a:solidFill>
          <a:ln/>
          <a:effectLst>
            <a:outerShdw blurRad="114300" dist="38100" dir="5400000" algn="bl" rotWithShape="0">
              <a:srgbClr val="0B2E33">
                <a:alpha val="14000"/>
              </a:srgbClr>
            </a:outerShdw>
          </a:effectLst>
        </p:spPr>
      </p:sp>
      <p:pic>
        <p:nvPicPr>
          <p:cNvPr id="14" name="Image 1" descr="icons/database-teal.png"/>
          <p:cNvPicPr>
            <a:picLocks noChangeAspect="1"/>
          </p:cNvPicPr>
          <p:nvPr/>
        </p:nvPicPr>
        <p:blipFill>
          <a:blip r:embed="rId4"/>
          <a:stretch>
            <a:fillRect/>
          </a:stretch>
        </p:blipFill>
        <p:spPr>
          <a:xfrm>
            <a:off x="7635240" y="1682496"/>
            <a:ext cx="384048" cy="384048"/>
          </a:xfrm>
          <a:prstGeom prst="rect">
            <a:avLst/>
          </a:prstGeom>
        </p:spPr>
      </p:pic>
      <p:sp>
        <p:nvSpPr>
          <p:cNvPr id="15" name="Text 11"/>
          <p:cNvSpPr/>
          <p:nvPr/>
        </p:nvSpPr>
        <p:spPr>
          <a:xfrm>
            <a:off x="8138160" y="1682496"/>
            <a:ext cx="3383280" cy="384048"/>
          </a:xfrm>
          <a:prstGeom prst="rect">
            <a:avLst/>
          </a:prstGeom>
          <a:noFill/>
          <a:ln/>
        </p:spPr>
        <p:txBody>
          <a:bodyPr wrap="square" lIns="0" tIns="0" rIns="0" bIns="0" rtlCol="0" anchor="ctr"/>
          <a:lstStyle/>
          <a:p>
            <a:pPr marL="0" indent="0">
              <a:buNone/>
            </a:pPr>
            <a:r>
              <a:rPr lang="en-US" sz="1500" b="1" dirty="0">
                <a:solidFill>
                  <a:srgbClr val="0B2E33"/>
                </a:solidFill>
                <a:latin typeface="Cambria" pitchFamily="34" charset="0"/>
                <a:ea typeface="Cambria" pitchFamily="34" charset="-122"/>
                <a:cs typeface="Cambria" pitchFamily="34" charset="-120"/>
              </a:rPr>
              <a:t>Dataset Snapshot</a:t>
            </a:r>
            <a:endParaRPr lang="en-US" sz="1500" dirty="0"/>
          </a:p>
        </p:txBody>
      </p:sp>
      <p:sp>
        <p:nvSpPr>
          <p:cNvPr id="16" name="Text 12"/>
          <p:cNvSpPr/>
          <p:nvPr/>
        </p:nvSpPr>
        <p:spPr>
          <a:xfrm>
            <a:off x="7635240" y="2286000"/>
            <a:ext cx="1554480" cy="457200"/>
          </a:xfrm>
          <a:prstGeom prst="rect">
            <a:avLst/>
          </a:prstGeom>
          <a:noFill/>
          <a:ln/>
        </p:spPr>
        <p:txBody>
          <a:bodyPr wrap="square" lIns="0" tIns="0" rIns="0" bIns="0" rtlCol="0" anchor="ctr"/>
          <a:lstStyle/>
          <a:p>
            <a:pPr marL="0" indent="0">
              <a:buNone/>
            </a:pPr>
            <a:r>
              <a:rPr lang="en-US" sz="1900" b="1" dirty="0">
                <a:solidFill>
                  <a:srgbClr val="0A5C5B"/>
                </a:solidFill>
                <a:latin typeface="Cambria" pitchFamily="34" charset="0"/>
                <a:ea typeface="Cambria" pitchFamily="34" charset="-122"/>
                <a:cs typeface="Cambria" pitchFamily="34" charset="-120"/>
              </a:rPr>
              <a:t>887</a:t>
            </a:r>
            <a:endParaRPr lang="en-US" sz="1900" dirty="0"/>
          </a:p>
        </p:txBody>
      </p:sp>
      <p:sp>
        <p:nvSpPr>
          <p:cNvPr id="17" name="Text 13"/>
          <p:cNvSpPr/>
          <p:nvPr/>
        </p:nvSpPr>
        <p:spPr>
          <a:xfrm>
            <a:off x="9189720" y="2286000"/>
            <a:ext cx="2331720" cy="457200"/>
          </a:xfrm>
          <a:prstGeom prst="rect">
            <a:avLst/>
          </a:prstGeom>
          <a:noFill/>
          <a:ln/>
        </p:spPr>
        <p:txBody>
          <a:bodyPr wrap="square" lIns="0" tIns="0" rIns="0" bIns="0" rtlCol="0" anchor="ctr"/>
          <a:lstStyle/>
          <a:p>
            <a:pPr marL="0" indent="0">
              <a:lnSpc>
                <a:spcPct val="105000"/>
              </a:lnSpc>
              <a:buNone/>
            </a:pPr>
            <a:r>
              <a:rPr lang="en-US" sz="1050" dirty="0">
                <a:solidFill>
                  <a:srgbClr val="16282A"/>
                </a:solidFill>
                <a:latin typeface="Calibri" pitchFamily="34" charset="0"/>
                <a:ea typeface="Calibri" pitchFamily="34" charset="-122"/>
                <a:cs typeface="Calibri" pitchFamily="34" charset="-120"/>
              </a:rPr>
              <a:t>valid patient records (from 1,061 raw)</a:t>
            </a:r>
            <a:endParaRPr lang="en-US" sz="1050" dirty="0"/>
          </a:p>
        </p:txBody>
      </p:sp>
      <p:sp>
        <p:nvSpPr>
          <p:cNvPr id="18" name="Text 14"/>
          <p:cNvSpPr/>
          <p:nvPr/>
        </p:nvSpPr>
        <p:spPr>
          <a:xfrm>
            <a:off x="7635240" y="2852928"/>
            <a:ext cx="1554480" cy="457200"/>
          </a:xfrm>
          <a:prstGeom prst="rect">
            <a:avLst/>
          </a:prstGeom>
          <a:noFill/>
          <a:ln/>
        </p:spPr>
        <p:txBody>
          <a:bodyPr wrap="square" lIns="0" tIns="0" rIns="0" bIns="0" rtlCol="0" anchor="ctr"/>
          <a:lstStyle/>
          <a:p>
            <a:pPr marL="0" indent="0">
              <a:buNone/>
            </a:pPr>
            <a:r>
              <a:rPr lang="en-US" sz="1900" b="1" dirty="0">
                <a:solidFill>
                  <a:srgbClr val="0A5C5B"/>
                </a:solidFill>
                <a:latin typeface="Cambria" pitchFamily="34" charset="0"/>
                <a:ea typeface="Cambria" pitchFamily="34" charset="-122"/>
                <a:cs typeface="Cambria" pitchFamily="34" charset="-120"/>
              </a:rPr>
              <a:t>11 → 14</a:t>
            </a:r>
            <a:endParaRPr lang="en-US" sz="1900" dirty="0"/>
          </a:p>
        </p:txBody>
      </p:sp>
      <p:sp>
        <p:nvSpPr>
          <p:cNvPr id="19" name="Text 15"/>
          <p:cNvSpPr/>
          <p:nvPr/>
        </p:nvSpPr>
        <p:spPr>
          <a:xfrm>
            <a:off x="9189720" y="2852928"/>
            <a:ext cx="2331720" cy="457200"/>
          </a:xfrm>
          <a:prstGeom prst="rect">
            <a:avLst/>
          </a:prstGeom>
          <a:noFill/>
          <a:ln/>
        </p:spPr>
        <p:txBody>
          <a:bodyPr wrap="square" lIns="0" tIns="0" rIns="0" bIns="0" rtlCol="0" anchor="ctr"/>
          <a:lstStyle/>
          <a:p>
            <a:pPr marL="0" indent="0">
              <a:lnSpc>
                <a:spcPct val="105000"/>
              </a:lnSpc>
              <a:buNone/>
            </a:pPr>
            <a:r>
              <a:rPr lang="en-US" sz="1050" dirty="0">
                <a:solidFill>
                  <a:srgbClr val="16282A"/>
                </a:solidFill>
                <a:latin typeface="Calibri" pitchFamily="34" charset="0"/>
                <a:ea typeface="Calibri" pitchFamily="34" charset="-122"/>
                <a:cs typeface="Calibri" pitchFamily="34" charset="-120"/>
              </a:rPr>
              <a:t>clinical features after engineering</a:t>
            </a:r>
            <a:endParaRPr lang="en-US" sz="1050" dirty="0"/>
          </a:p>
        </p:txBody>
      </p:sp>
      <p:sp>
        <p:nvSpPr>
          <p:cNvPr id="20" name="Text 16"/>
          <p:cNvSpPr/>
          <p:nvPr/>
        </p:nvSpPr>
        <p:spPr>
          <a:xfrm>
            <a:off x="7635240" y="3419856"/>
            <a:ext cx="1554480" cy="457200"/>
          </a:xfrm>
          <a:prstGeom prst="rect">
            <a:avLst/>
          </a:prstGeom>
          <a:noFill/>
          <a:ln/>
        </p:spPr>
        <p:txBody>
          <a:bodyPr wrap="square" lIns="0" tIns="0" rIns="0" bIns="0" rtlCol="0" anchor="ctr"/>
          <a:lstStyle/>
          <a:p>
            <a:pPr marL="0" indent="0">
              <a:buNone/>
            </a:pPr>
            <a:r>
              <a:rPr lang="en-US" sz="1900" b="1" dirty="0">
                <a:solidFill>
                  <a:srgbClr val="0A5C5B"/>
                </a:solidFill>
                <a:latin typeface="Cambria" pitchFamily="34" charset="0"/>
                <a:ea typeface="Cambria" pitchFamily="34" charset="-122"/>
                <a:cs typeface="Cambria" pitchFamily="34" charset="-120"/>
              </a:rPr>
              <a:t>51% / 49%</a:t>
            </a:r>
            <a:endParaRPr lang="en-US" sz="1900" dirty="0"/>
          </a:p>
        </p:txBody>
      </p:sp>
      <p:sp>
        <p:nvSpPr>
          <p:cNvPr id="21" name="Text 17"/>
          <p:cNvSpPr/>
          <p:nvPr/>
        </p:nvSpPr>
        <p:spPr>
          <a:xfrm>
            <a:off x="9189720" y="3419856"/>
            <a:ext cx="2331720" cy="457200"/>
          </a:xfrm>
          <a:prstGeom prst="rect">
            <a:avLst/>
          </a:prstGeom>
          <a:noFill/>
          <a:ln/>
        </p:spPr>
        <p:txBody>
          <a:bodyPr wrap="square" lIns="0" tIns="0" rIns="0" bIns="0" rtlCol="0" anchor="ctr"/>
          <a:lstStyle/>
          <a:p>
            <a:pPr marL="0" indent="0">
              <a:lnSpc>
                <a:spcPct val="105000"/>
              </a:lnSpc>
              <a:buNone/>
            </a:pPr>
            <a:r>
              <a:rPr lang="en-US" sz="1050" dirty="0">
                <a:solidFill>
                  <a:srgbClr val="16282A"/>
                </a:solidFill>
                <a:latin typeface="Calibri" pitchFamily="34" charset="0"/>
                <a:ea typeface="Calibri" pitchFamily="34" charset="-122"/>
                <a:cs typeface="Calibri" pitchFamily="34" charset="-120"/>
              </a:rPr>
              <a:t>class balance (No HF / HF)</a:t>
            </a:r>
            <a:endParaRPr lang="en-US" sz="1050" dirty="0"/>
          </a:p>
        </p:txBody>
      </p:sp>
      <p:sp>
        <p:nvSpPr>
          <p:cNvPr id="22" name="Text 18"/>
          <p:cNvSpPr/>
          <p:nvPr/>
        </p:nvSpPr>
        <p:spPr>
          <a:xfrm>
            <a:off x="7635240" y="3986784"/>
            <a:ext cx="1554480" cy="457200"/>
          </a:xfrm>
          <a:prstGeom prst="rect">
            <a:avLst/>
          </a:prstGeom>
          <a:noFill/>
          <a:ln/>
        </p:spPr>
        <p:txBody>
          <a:bodyPr wrap="square" lIns="0" tIns="0" rIns="0" bIns="0" rtlCol="0" anchor="ctr"/>
          <a:lstStyle/>
          <a:p>
            <a:pPr marL="0" indent="0">
              <a:buNone/>
            </a:pPr>
            <a:r>
              <a:rPr lang="en-US" sz="1900" b="1" dirty="0">
                <a:solidFill>
                  <a:srgbClr val="0A5C5B"/>
                </a:solidFill>
                <a:latin typeface="Cambria" pitchFamily="34" charset="0"/>
                <a:ea typeface="Cambria" pitchFamily="34" charset="-122"/>
                <a:cs typeface="Cambria" pitchFamily="34" charset="-120"/>
              </a:rPr>
              <a:t>80 / 20</a:t>
            </a:r>
            <a:endParaRPr lang="en-US" sz="1900" dirty="0"/>
          </a:p>
        </p:txBody>
      </p:sp>
      <p:sp>
        <p:nvSpPr>
          <p:cNvPr id="23" name="Text 19"/>
          <p:cNvSpPr/>
          <p:nvPr/>
        </p:nvSpPr>
        <p:spPr>
          <a:xfrm>
            <a:off x="9189720" y="3986784"/>
            <a:ext cx="2331720" cy="457200"/>
          </a:xfrm>
          <a:prstGeom prst="rect">
            <a:avLst/>
          </a:prstGeom>
          <a:noFill/>
          <a:ln/>
        </p:spPr>
        <p:txBody>
          <a:bodyPr wrap="square" lIns="0" tIns="0" rIns="0" bIns="0" rtlCol="0" anchor="ctr"/>
          <a:lstStyle/>
          <a:p>
            <a:pPr marL="0" indent="0">
              <a:lnSpc>
                <a:spcPct val="105000"/>
              </a:lnSpc>
              <a:buNone/>
            </a:pPr>
            <a:r>
              <a:rPr lang="en-US" sz="1050" dirty="0">
                <a:solidFill>
                  <a:srgbClr val="16282A"/>
                </a:solidFill>
                <a:latin typeface="Calibri" pitchFamily="34" charset="0"/>
                <a:ea typeface="Calibri" pitchFamily="34" charset="-122"/>
                <a:cs typeface="Calibri" pitchFamily="34" charset="-120"/>
              </a:rPr>
              <a:t>stratified train–test split</a:t>
            </a:r>
            <a:endParaRPr lang="en-US" sz="1050" dirty="0"/>
          </a:p>
        </p:txBody>
      </p:sp>
      <p:sp>
        <p:nvSpPr>
          <p:cNvPr id="24" name="Text 20"/>
          <p:cNvSpPr/>
          <p:nvPr/>
        </p:nvSpPr>
        <p:spPr>
          <a:xfrm>
            <a:off x="7635240" y="4718304"/>
            <a:ext cx="3749040" cy="868680"/>
          </a:xfrm>
          <a:prstGeom prst="rect">
            <a:avLst/>
          </a:prstGeom>
          <a:noFill/>
          <a:ln/>
        </p:spPr>
        <p:txBody>
          <a:bodyPr wrap="square" lIns="0" tIns="0" rIns="0" bIns="0" rtlCol="0" anchor="ctr"/>
          <a:lstStyle/>
          <a:p>
            <a:pPr marL="0" indent="0">
              <a:lnSpc>
                <a:spcPct val="120000"/>
              </a:lnSpc>
              <a:buNone/>
            </a:pPr>
            <a:r>
              <a:rPr lang="en-US" sz="950" i="1" dirty="0">
                <a:solidFill>
                  <a:srgbClr val="5C7A7D"/>
                </a:solidFill>
                <a:latin typeface="Calibri" pitchFamily="34" charset="0"/>
                <a:ea typeface="Calibri" pitchFamily="34" charset="-122"/>
                <a:cs typeface="Calibri" pitchFamily="34" charset="-120"/>
              </a:rPr>
              <a:t>Source: Kaggle Heart Failure Prediction Dataset (V, 2024), validated in peer-reviewed research (Liu et al., 2025).</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13" name="Shape 9">
            <a:extLst>
              <a:ext uri="{FF2B5EF4-FFF2-40B4-BE49-F238E27FC236}">
                <a16:creationId xmlns:a16="http://schemas.microsoft.com/office/drawing/2014/main" id="{4CBC3361-9537-DDE2-C9C1-BCABC7449582}"/>
              </a:ext>
            </a:extLst>
          </p:cNvPr>
          <p:cNvSpPr/>
          <p:nvPr/>
        </p:nvSpPr>
        <p:spPr>
          <a:xfrm>
            <a:off x="7068312" y="2089785"/>
            <a:ext cx="384048" cy="384048"/>
          </a:xfrm>
          <a:prstGeom prst="ellipse">
            <a:avLst/>
          </a:prstGeom>
          <a:solidFill>
            <a:srgbClr val="0E7C7B"/>
          </a:solidFill>
          <a:ln/>
        </p:spPr>
      </p:sp>
      <p:sp>
        <p:nvSpPr>
          <p:cNvPr id="3" name="Shape 1"/>
          <p:cNvSpPr/>
          <p:nvPr/>
        </p:nvSpPr>
        <p:spPr>
          <a:xfrm>
            <a:off x="502920" y="502920"/>
            <a:ext cx="603504" cy="603504"/>
          </a:xfrm>
          <a:prstGeom prst="ellipse">
            <a:avLst/>
          </a:prstGeom>
          <a:solidFill>
            <a:srgbClr val="0E7C7B"/>
          </a:solidFill>
          <a:ln/>
        </p:spPr>
      </p:sp>
      <p:pic>
        <p:nvPicPr>
          <p:cNvPr id="4" name="Image 0" descr="icons/cogs-white.png"/>
          <p:cNvPicPr>
            <a:picLocks noChangeAspect="1"/>
          </p:cNvPicPr>
          <p:nvPr/>
        </p:nvPicPr>
        <p:blipFill>
          <a:blip r:embed="rId3"/>
          <a:stretch>
            <a:fillRect/>
          </a:stretch>
        </p:blipFill>
        <p:spPr>
          <a:xfrm>
            <a:off x="649224" y="649224"/>
            <a:ext cx="310896" cy="310896"/>
          </a:xfrm>
          <a:prstGeom prst="rect">
            <a:avLst/>
          </a:prstGeom>
        </p:spPr>
      </p:pic>
      <p:sp>
        <p:nvSpPr>
          <p:cNvPr id="6" name="Text 3"/>
          <p:cNvSpPr/>
          <p:nvPr/>
        </p:nvSpPr>
        <p:spPr>
          <a:xfrm>
            <a:off x="1280160" y="516792"/>
            <a:ext cx="8778240" cy="566928"/>
          </a:xfrm>
          <a:prstGeom prst="rect">
            <a:avLst/>
          </a:prstGeom>
          <a:noFill/>
          <a:ln/>
        </p:spPr>
        <p:txBody>
          <a:bodyPr wrap="square" lIns="0" tIns="0" rIns="0" bIns="0" rtlCol="0" anchor="ctr"/>
          <a:lstStyle/>
          <a:p>
            <a:pPr marL="0" indent="0">
              <a:buNone/>
            </a:pPr>
            <a:r>
              <a:rPr lang="en-US" sz="3000" b="1" dirty="0">
                <a:solidFill>
                  <a:srgbClr val="0B2E33"/>
                </a:solidFill>
                <a:latin typeface="Cambria" pitchFamily="34" charset="0"/>
                <a:ea typeface="Cambria" pitchFamily="34" charset="-122"/>
                <a:cs typeface="Cambria" pitchFamily="34" charset="-120"/>
              </a:rPr>
              <a:t>Methodology</a:t>
            </a:r>
            <a:endParaRPr lang="en-US" sz="3000" dirty="0"/>
          </a:p>
        </p:txBody>
      </p:sp>
      <p:sp>
        <p:nvSpPr>
          <p:cNvPr id="8" name="Text 5"/>
          <p:cNvSpPr/>
          <p:nvPr/>
        </p:nvSpPr>
        <p:spPr>
          <a:xfrm>
            <a:off x="5478780" y="6336792"/>
            <a:ext cx="960120" cy="256032"/>
          </a:xfrm>
          <a:prstGeom prst="rect">
            <a:avLst/>
          </a:prstGeom>
          <a:noFill/>
          <a:ln/>
        </p:spPr>
        <p:txBody>
          <a:bodyPr wrap="square" lIns="0" tIns="0" rIns="0" bIns="0" rtlCol="0" anchor="ctr"/>
          <a:lstStyle/>
          <a:p>
            <a:pPr marL="0" indent="0" algn="r">
              <a:buNone/>
            </a:pPr>
            <a:r>
              <a:rPr lang="en-US" sz="1200" dirty="0">
                <a:solidFill>
                  <a:srgbClr val="5C7A7D"/>
                </a:solidFill>
                <a:latin typeface="Calibri" pitchFamily="34" charset="0"/>
                <a:ea typeface="Calibri" pitchFamily="34" charset="-122"/>
                <a:cs typeface="Calibri" pitchFamily="34" charset="-120"/>
              </a:rPr>
              <a:t>07 / 15</a:t>
            </a:r>
            <a:endParaRPr lang="en-US" sz="1200" dirty="0"/>
          </a:p>
        </p:txBody>
      </p:sp>
      <p:sp>
        <p:nvSpPr>
          <p:cNvPr id="9" name="Text 6"/>
          <p:cNvSpPr/>
          <p:nvPr/>
        </p:nvSpPr>
        <p:spPr>
          <a:xfrm>
            <a:off x="548640" y="1481328"/>
            <a:ext cx="6309360" cy="4480560"/>
          </a:xfrm>
          <a:prstGeom prst="rect">
            <a:avLst/>
          </a:prstGeom>
          <a:noFill/>
          <a:ln/>
        </p:spPr>
        <p:txBody>
          <a:bodyPr wrap="square" lIns="0" tIns="0" rIns="0" bIns="0" rtlCol="0" anchor="t"/>
          <a:lstStyle/>
          <a:p>
            <a:pPr>
              <a:lnSpc>
                <a:spcPct val="116000"/>
              </a:lnSpc>
              <a:spcAft>
                <a:spcPts val="1300"/>
              </a:spcAft>
              <a:buSzPct val="100000"/>
            </a:pPr>
            <a:endParaRPr lang="en-US" sz="1300" dirty="0"/>
          </a:p>
        </p:txBody>
      </p:sp>
      <p:sp>
        <p:nvSpPr>
          <p:cNvPr id="10" name="Shape 7"/>
          <p:cNvSpPr/>
          <p:nvPr/>
        </p:nvSpPr>
        <p:spPr>
          <a:xfrm>
            <a:off x="6960208" y="1481328"/>
            <a:ext cx="4641743" cy="4448556"/>
          </a:xfrm>
          <a:prstGeom prst="roundRect">
            <a:avLst>
              <a:gd name="adj" fmla="val 1837"/>
            </a:avLst>
          </a:prstGeom>
          <a:solidFill>
            <a:srgbClr val="0B2E33"/>
          </a:solidFill>
          <a:ln/>
          <a:effectLst>
            <a:outerShdw blurRad="114300" dist="38100" dir="5400000" algn="bl" rotWithShape="0">
              <a:srgbClr val="0B2E33">
                <a:alpha val="14000"/>
              </a:srgbClr>
            </a:outerShdw>
          </a:effectLst>
        </p:spPr>
        <p:txBody>
          <a:bodyPr/>
          <a:lstStyle/>
          <a:p>
            <a:endParaRPr lang="en-US" dirty="0"/>
          </a:p>
        </p:txBody>
      </p:sp>
      <p:sp>
        <p:nvSpPr>
          <p:cNvPr id="11" name="Text 8"/>
          <p:cNvSpPr/>
          <p:nvPr/>
        </p:nvSpPr>
        <p:spPr>
          <a:xfrm>
            <a:off x="7118604" y="1661922"/>
            <a:ext cx="3931920" cy="310896"/>
          </a:xfrm>
          <a:prstGeom prst="rect">
            <a:avLst/>
          </a:prstGeom>
          <a:noFill/>
          <a:ln/>
        </p:spPr>
        <p:txBody>
          <a:bodyPr wrap="square" lIns="0" tIns="0" rIns="0" bIns="0" rtlCol="0" anchor="ctr"/>
          <a:lstStyle/>
          <a:p>
            <a:pPr marL="0" indent="0">
              <a:buNone/>
            </a:pPr>
            <a:r>
              <a:rPr lang="en-US" sz="1200" b="1" kern="0" spc="150" dirty="0">
                <a:solidFill>
                  <a:srgbClr val="5FBDB9"/>
                </a:solidFill>
                <a:latin typeface="Calibri" pitchFamily="34" charset="0"/>
                <a:ea typeface="Calibri" pitchFamily="34" charset="-122"/>
                <a:cs typeface="Calibri" pitchFamily="34" charset="-120"/>
              </a:rPr>
              <a:t>KEY TECHNIQUES</a:t>
            </a:r>
            <a:endParaRPr lang="en-US" sz="1200" dirty="0"/>
          </a:p>
        </p:txBody>
      </p:sp>
      <p:sp>
        <p:nvSpPr>
          <p:cNvPr id="14" name="Text 10"/>
          <p:cNvSpPr/>
          <p:nvPr/>
        </p:nvSpPr>
        <p:spPr>
          <a:xfrm>
            <a:off x="8010144" y="2103120"/>
            <a:ext cx="3520440" cy="274320"/>
          </a:xfrm>
          <a:prstGeom prst="rect">
            <a:avLst/>
          </a:prstGeom>
          <a:noFill/>
          <a:ln/>
        </p:spPr>
        <p:txBody>
          <a:bodyPr wrap="square" lIns="0" tIns="0" rIns="0" bIns="0" rtlCol="0" anchor="ctr"/>
          <a:lstStyle/>
          <a:p>
            <a:pPr marL="0" indent="0">
              <a:buNone/>
            </a:pPr>
            <a:endParaRPr lang="en-US" sz="1250" dirty="0"/>
          </a:p>
        </p:txBody>
      </p:sp>
      <p:sp>
        <p:nvSpPr>
          <p:cNvPr id="18" name="Text 13"/>
          <p:cNvSpPr/>
          <p:nvPr/>
        </p:nvSpPr>
        <p:spPr>
          <a:xfrm>
            <a:off x="7498080" y="2148684"/>
            <a:ext cx="3965088" cy="3169313"/>
          </a:xfrm>
          <a:prstGeom prst="rect">
            <a:avLst/>
          </a:prstGeom>
          <a:noFill/>
          <a:ln/>
        </p:spPr>
        <p:txBody>
          <a:bodyPr wrap="square" lIns="0" tIns="0" rIns="0" bIns="0" rtlCol="0" anchor="ctr"/>
          <a:lstStyle/>
          <a:p>
            <a:pPr algn="just"/>
            <a:r>
              <a:rPr lang="en-US" sz="1250" b="1" dirty="0">
                <a:solidFill>
                  <a:srgbClr val="FFFFFF"/>
                </a:solidFill>
                <a:latin typeface="Calibri" pitchFamily="34" charset="0"/>
                <a:ea typeface="Calibri" pitchFamily="34" charset="-122"/>
                <a:cs typeface="Calibri" pitchFamily="34" charset="-120"/>
              </a:rPr>
              <a:t>Data Cleaning — </a:t>
            </a:r>
            <a:r>
              <a:rPr lang="en-US" sz="1250" dirty="0">
                <a:solidFill>
                  <a:srgbClr val="FFFFFF"/>
                </a:solidFill>
                <a:latin typeface="Calibri" pitchFamily="34" charset="0"/>
                <a:ea typeface="Calibri" pitchFamily="34" charset="-122"/>
                <a:cs typeface="Calibri" pitchFamily="34" charset="-120"/>
              </a:rPr>
              <a:t>Removed 174 invalid records with zero cholesterol and blood pressure values</a:t>
            </a:r>
          </a:p>
          <a:p>
            <a:pPr algn="just"/>
            <a:endParaRPr lang="en-US" sz="1250" dirty="0">
              <a:solidFill>
                <a:srgbClr val="FFFFFF"/>
              </a:solidFill>
              <a:latin typeface="Calibri" pitchFamily="34" charset="0"/>
              <a:ea typeface="Calibri" pitchFamily="34" charset="-122"/>
              <a:cs typeface="Calibri" pitchFamily="34" charset="-120"/>
            </a:endParaRPr>
          </a:p>
          <a:p>
            <a:pPr algn="just"/>
            <a:r>
              <a:rPr lang="en-US" sz="1250" b="1" dirty="0">
                <a:solidFill>
                  <a:srgbClr val="FFFFFF"/>
                </a:solidFill>
                <a:latin typeface="Calibri" pitchFamily="34" charset="0"/>
                <a:ea typeface="Calibri" pitchFamily="34" charset="-122"/>
                <a:cs typeface="Calibri" pitchFamily="34" charset="-120"/>
              </a:rPr>
              <a:t>Feature Engineering — </a:t>
            </a:r>
            <a:r>
              <a:rPr lang="en-US" sz="1250" dirty="0">
                <a:solidFill>
                  <a:srgbClr val="FFFFFF"/>
                </a:solidFill>
                <a:latin typeface="Calibri" pitchFamily="34" charset="0"/>
                <a:ea typeface="Calibri" pitchFamily="34" charset="-122"/>
                <a:cs typeface="Calibri" pitchFamily="34" charset="-120"/>
              </a:rPr>
              <a:t>Created 3 new features: </a:t>
            </a:r>
            <a:r>
              <a:rPr lang="en-US" sz="1250" dirty="0" err="1">
                <a:solidFill>
                  <a:srgbClr val="FFFFFF"/>
                </a:solidFill>
                <a:latin typeface="Calibri" pitchFamily="34" charset="0"/>
                <a:ea typeface="Calibri" pitchFamily="34" charset="-122"/>
                <a:cs typeface="Calibri" pitchFamily="34" charset="-120"/>
              </a:rPr>
              <a:t>Age_MaxHR</a:t>
            </a:r>
            <a:r>
              <a:rPr lang="en-US" sz="1250" dirty="0">
                <a:solidFill>
                  <a:srgbClr val="FFFFFF"/>
                </a:solidFill>
                <a:latin typeface="Calibri" pitchFamily="34" charset="0"/>
                <a:ea typeface="Calibri" pitchFamily="34" charset="-122"/>
                <a:cs typeface="Calibri" pitchFamily="34" charset="-120"/>
              </a:rPr>
              <a:t>, BP_Cholesterol, and </a:t>
            </a:r>
            <a:r>
              <a:rPr lang="en-US" sz="1250" dirty="0" err="1">
                <a:solidFill>
                  <a:srgbClr val="FFFFFF"/>
                </a:solidFill>
                <a:latin typeface="Calibri" pitchFamily="34" charset="0"/>
                <a:ea typeface="Calibri" pitchFamily="34" charset="-122"/>
                <a:cs typeface="Calibri" pitchFamily="34" charset="-120"/>
              </a:rPr>
              <a:t>Risk_Score</a:t>
            </a:r>
            <a:endParaRPr lang="en-US" sz="1250" dirty="0">
              <a:solidFill>
                <a:srgbClr val="FFFFFF"/>
              </a:solidFill>
              <a:latin typeface="Calibri" pitchFamily="34" charset="0"/>
              <a:ea typeface="Calibri" pitchFamily="34" charset="-122"/>
              <a:cs typeface="Calibri" pitchFamily="34" charset="-120"/>
            </a:endParaRPr>
          </a:p>
          <a:p>
            <a:pPr algn="just"/>
            <a:endParaRPr lang="en-US" sz="1250" dirty="0">
              <a:solidFill>
                <a:srgbClr val="FFFFFF"/>
              </a:solidFill>
              <a:latin typeface="Calibri" pitchFamily="34" charset="0"/>
              <a:ea typeface="Calibri" pitchFamily="34" charset="-122"/>
              <a:cs typeface="Calibri" pitchFamily="34" charset="-120"/>
            </a:endParaRPr>
          </a:p>
          <a:p>
            <a:pPr algn="just"/>
            <a:r>
              <a:rPr lang="en-US" sz="1250" b="1" dirty="0">
                <a:solidFill>
                  <a:srgbClr val="FFFFFF"/>
                </a:solidFill>
                <a:latin typeface="Calibri" pitchFamily="34" charset="0"/>
                <a:ea typeface="Calibri" pitchFamily="34" charset="-122"/>
                <a:cs typeface="Calibri" pitchFamily="34" charset="-120"/>
              </a:rPr>
              <a:t>SMOTE — </a:t>
            </a:r>
            <a:r>
              <a:rPr lang="en-US" sz="1250" dirty="0">
                <a:solidFill>
                  <a:srgbClr val="FFFFFF"/>
                </a:solidFill>
                <a:latin typeface="Calibri" pitchFamily="34" charset="0"/>
                <a:ea typeface="Calibri" pitchFamily="34" charset="-122"/>
                <a:cs typeface="Calibri" pitchFamily="34" charset="-120"/>
              </a:rPr>
              <a:t>Applied to balance the training data by generating synthetic samples</a:t>
            </a:r>
          </a:p>
          <a:p>
            <a:pPr algn="just"/>
            <a:endParaRPr lang="en-US" sz="1250" b="1" dirty="0">
              <a:solidFill>
                <a:srgbClr val="FFFFFF"/>
              </a:solidFill>
              <a:latin typeface="Calibri" pitchFamily="34" charset="0"/>
              <a:ea typeface="Calibri" pitchFamily="34" charset="-122"/>
              <a:cs typeface="Calibri" pitchFamily="34" charset="-120"/>
            </a:endParaRPr>
          </a:p>
          <a:p>
            <a:pPr algn="just"/>
            <a:r>
              <a:rPr lang="en-US" sz="1250" b="1" dirty="0">
                <a:solidFill>
                  <a:srgbClr val="FFFFFF"/>
                </a:solidFill>
                <a:latin typeface="Calibri" pitchFamily="34" charset="0"/>
                <a:ea typeface="Calibri" pitchFamily="34" charset="-122"/>
                <a:cs typeface="Calibri" pitchFamily="34" charset="-120"/>
              </a:rPr>
              <a:t>StandardScaler — </a:t>
            </a:r>
            <a:r>
              <a:rPr lang="en-US" sz="1250" dirty="0">
                <a:solidFill>
                  <a:srgbClr val="FFFFFF"/>
                </a:solidFill>
                <a:latin typeface="Calibri" pitchFamily="34" charset="0"/>
                <a:ea typeface="Calibri" pitchFamily="34" charset="-122"/>
                <a:cs typeface="Calibri" pitchFamily="34" charset="-120"/>
              </a:rPr>
              <a:t>Normalized all feature values to the same scale</a:t>
            </a:r>
          </a:p>
          <a:p>
            <a:pPr algn="just"/>
            <a:endParaRPr lang="en-US" sz="1250" dirty="0">
              <a:solidFill>
                <a:srgbClr val="FFFFFF"/>
              </a:solidFill>
              <a:latin typeface="Calibri" pitchFamily="34" charset="0"/>
              <a:ea typeface="Calibri" pitchFamily="34" charset="-122"/>
              <a:cs typeface="Calibri" pitchFamily="34" charset="-120"/>
            </a:endParaRPr>
          </a:p>
          <a:p>
            <a:pPr algn="just"/>
            <a:r>
              <a:rPr lang="en-US" sz="1250" b="1" dirty="0">
                <a:solidFill>
                  <a:srgbClr val="FFFFFF"/>
                </a:solidFill>
                <a:latin typeface="Calibri" pitchFamily="34" charset="0"/>
                <a:ea typeface="Calibri" pitchFamily="34" charset="-122"/>
                <a:cs typeface="Calibri" pitchFamily="34" charset="-120"/>
              </a:rPr>
              <a:t>7 Classifiers — </a:t>
            </a:r>
            <a:r>
              <a:rPr lang="en-US" sz="1250" dirty="0">
                <a:solidFill>
                  <a:srgbClr val="FFFFFF"/>
                </a:solidFill>
                <a:latin typeface="Calibri" pitchFamily="34" charset="0"/>
                <a:ea typeface="Calibri" pitchFamily="34" charset="-122"/>
                <a:cs typeface="Calibri" pitchFamily="34" charset="-120"/>
              </a:rPr>
              <a:t>Logistic Regression, Decision Tree, Random Forest, XGBoost, LightGBM, Gradient Boosting, and AdaBoost</a:t>
            </a:r>
          </a:p>
          <a:p>
            <a:pPr algn="just"/>
            <a:endParaRPr lang="en-US" sz="1250" b="1" dirty="0">
              <a:solidFill>
                <a:srgbClr val="FFFFFF"/>
              </a:solidFill>
              <a:latin typeface="Calibri" pitchFamily="34" charset="0"/>
              <a:ea typeface="Calibri" pitchFamily="34" charset="-122"/>
              <a:cs typeface="Calibri" pitchFamily="34" charset="-120"/>
            </a:endParaRPr>
          </a:p>
          <a:p>
            <a:pPr algn="just"/>
            <a:r>
              <a:rPr lang="en-US" sz="1250" b="1" dirty="0">
                <a:solidFill>
                  <a:srgbClr val="FFFFFF"/>
                </a:solidFill>
                <a:latin typeface="Calibri" pitchFamily="34" charset="0"/>
                <a:ea typeface="Calibri" pitchFamily="34" charset="-122"/>
                <a:cs typeface="Calibri" pitchFamily="34" charset="-120"/>
              </a:rPr>
              <a:t>10-Fold Cross Validation — </a:t>
            </a:r>
            <a:r>
              <a:rPr lang="en-US" sz="1250" dirty="0">
                <a:solidFill>
                  <a:srgbClr val="FFFFFF"/>
                </a:solidFill>
                <a:latin typeface="Calibri" pitchFamily="34" charset="0"/>
                <a:ea typeface="Calibri" pitchFamily="34" charset="-122"/>
                <a:cs typeface="Calibri" pitchFamily="34" charset="-120"/>
              </a:rPr>
              <a:t>Used for robust and unbiased model performance evaluation</a:t>
            </a:r>
          </a:p>
        </p:txBody>
      </p:sp>
      <p:sp>
        <p:nvSpPr>
          <p:cNvPr id="19" name="Text 14"/>
          <p:cNvSpPr/>
          <p:nvPr/>
        </p:nvSpPr>
        <p:spPr>
          <a:xfrm>
            <a:off x="8010144" y="2802636"/>
            <a:ext cx="3520440" cy="237744"/>
          </a:xfrm>
          <a:prstGeom prst="rect">
            <a:avLst/>
          </a:prstGeom>
          <a:noFill/>
          <a:ln/>
        </p:spPr>
        <p:txBody>
          <a:bodyPr wrap="square" lIns="0" tIns="0" rIns="0" bIns="0" rtlCol="0" anchor="ctr"/>
          <a:lstStyle/>
          <a:p>
            <a:pPr marL="0" indent="0">
              <a:buNone/>
            </a:pPr>
            <a:endParaRPr lang="en-US" sz="1000" dirty="0"/>
          </a:p>
        </p:txBody>
      </p:sp>
      <p:sp>
        <p:nvSpPr>
          <p:cNvPr id="22" name="Text 16"/>
          <p:cNvSpPr/>
          <p:nvPr/>
        </p:nvSpPr>
        <p:spPr>
          <a:xfrm>
            <a:off x="8010144" y="2990088"/>
            <a:ext cx="3520440" cy="274320"/>
          </a:xfrm>
          <a:prstGeom prst="rect">
            <a:avLst/>
          </a:prstGeom>
          <a:noFill/>
          <a:ln/>
        </p:spPr>
        <p:txBody>
          <a:bodyPr wrap="square" lIns="0" tIns="0" rIns="0" bIns="0" rtlCol="0" anchor="ctr"/>
          <a:lstStyle/>
          <a:p>
            <a:pPr marL="0" indent="0">
              <a:buNone/>
            </a:pPr>
            <a:endParaRPr lang="en-US" sz="1250" dirty="0"/>
          </a:p>
        </p:txBody>
      </p:sp>
      <p:sp>
        <p:nvSpPr>
          <p:cNvPr id="23" name="Text 17"/>
          <p:cNvSpPr/>
          <p:nvPr/>
        </p:nvSpPr>
        <p:spPr>
          <a:xfrm>
            <a:off x="8010144" y="3246120"/>
            <a:ext cx="3520440" cy="237744"/>
          </a:xfrm>
          <a:prstGeom prst="rect">
            <a:avLst/>
          </a:prstGeom>
          <a:noFill/>
          <a:ln/>
        </p:spPr>
        <p:txBody>
          <a:bodyPr wrap="square" lIns="0" tIns="0" rIns="0" bIns="0" rtlCol="0" anchor="ctr"/>
          <a:lstStyle/>
          <a:p>
            <a:pPr marL="0" indent="0">
              <a:buNone/>
            </a:pPr>
            <a:endParaRPr lang="en-US" sz="1000" dirty="0"/>
          </a:p>
        </p:txBody>
      </p:sp>
      <p:sp>
        <p:nvSpPr>
          <p:cNvPr id="26" name="Text 19"/>
          <p:cNvSpPr/>
          <p:nvPr/>
        </p:nvSpPr>
        <p:spPr>
          <a:xfrm>
            <a:off x="8010144" y="3433572"/>
            <a:ext cx="3520440" cy="274320"/>
          </a:xfrm>
          <a:prstGeom prst="rect">
            <a:avLst/>
          </a:prstGeom>
          <a:noFill/>
          <a:ln/>
        </p:spPr>
        <p:txBody>
          <a:bodyPr wrap="square" lIns="0" tIns="0" rIns="0" bIns="0" rtlCol="0" anchor="ctr"/>
          <a:lstStyle/>
          <a:p>
            <a:pPr marL="0" indent="0">
              <a:buNone/>
            </a:pPr>
            <a:endParaRPr lang="en-US" sz="1250" dirty="0"/>
          </a:p>
        </p:txBody>
      </p:sp>
      <p:sp>
        <p:nvSpPr>
          <p:cNvPr id="27" name="Text 20"/>
          <p:cNvSpPr/>
          <p:nvPr/>
        </p:nvSpPr>
        <p:spPr>
          <a:xfrm>
            <a:off x="8010144" y="3689604"/>
            <a:ext cx="3520440" cy="237744"/>
          </a:xfrm>
          <a:prstGeom prst="rect">
            <a:avLst/>
          </a:prstGeom>
          <a:noFill/>
          <a:ln/>
        </p:spPr>
        <p:txBody>
          <a:bodyPr wrap="square" lIns="0" tIns="0" rIns="0" bIns="0" rtlCol="0" anchor="ctr"/>
          <a:lstStyle/>
          <a:p>
            <a:pPr marL="0" indent="0">
              <a:buNone/>
            </a:pPr>
            <a:endParaRPr lang="en-US" sz="1000" dirty="0"/>
          </a:p>
        </p:txBody>
      </p:sp>
      <p:sp>
        <p:nvSpPr>
          <p:cNvPr id="30" name="Text 22"/>
          <p:cNvSpPr/>
          <p:nvPr/>
        </p:nvSpPr>
        <p:spPr>
          <a:xfrm>
            <a:off x="8010144" y="3877056"/>
            <a:ext cx="3520440" cy="274320"/>
          </a:xfrm>
          <a:prstGeom prst="rect">
            <a:avLst/>
          </a:prstGeom>
          <a:noFill/>
          <a:ln/>
        </p:spPr>
        <p:txBody>
          <a:bodyPr wrap="square" lIns="0" tIns="0" rIns="0" bIns="0" rtlCol="0" anchor="ctr"/>
          <a:lstStyle/>
          <a:p>
            <a:pPr marL="0" indent="0">
              <a:buNone/>
            </a:pPr>
            <a:endParaRPr lang="en-US" sz="1250" dirty="0"/>
          </a:p>
        </p:txBody>
      </p:sp>
      <p:sp>
        <p:nvSpPr>
          <p:cNvPr id="31" name="Text 23"/>
          <p:cNvSpPr/>
          <p:nvPr/>
        </p:nvSpPr>
        <p:spPr>
          <a:xfrm>
            <a:off x="8010144" y="4133088"/>
            <a:ext cx="3520440" cy="237744"/>
          </a:xfrm>
          <a:prstGeom prst="rect">
            <a:avLst/>
          </a:prstGeom>
          <a:noFill/>
          <a:ln/>
        </p:spPr>
        <p:txBody>
          <a:bodyPr wrap="square" lIns="0" tIns="0" rIns="0" bIns="0" rtlCol="0" anchor="ctr"/>
          <a:lstStyle/>
          <a:p>
            <a:pPr marL="0" indent="0">
              <a:buNone/>
            </a:pPr>
            <a:endParaRPr lang="en-US" sz="1000" dirty="0"/>
          </a:p>
        </p:txBody>
      </p:sp>
      <p:sp>
        <p:nvSpPr>
          <p:cNvPr id="34" name="Text 25"/>
          <p:cNvSpPr/>
          <p:nvPr/>
        </p:nvSpPr>
        <p:spPr>
          <a:xfrm>
            <a:off x="8010144" y="4320540"/>
            <a:ext cx="3520440" cy="274320"/>
          </a:xfrm>
          <a:prstGeom prst="rect">
            <a:avLst/>
          </a:prstGeom>
          <a:noFill/>
          <a:ln/>
        </p:spPr>
        <p:txBody>
          <a:bodyPr wrap="square" lIns="0" tIns="0" rIns="0" bIns="0" rtlCol="0" anchor="ctr"/>
          <a:lstStyle/>
          <a:p>
            <a:pPr marL="0" indent="0">
              <a:buNone/>
            </a:pPr>
            <a:endParaRPr lang="en-US" sz="1250" dirty="0"/>
          </a:p>
        </p:txBody>
      </p:sp>
      <p:sp>
        <p:nvSpPr>
          <p:cNvPr id="35" name="Text 26"/>
          <p:cNvSpPr/>
          <p:nvPr/>
        </p:nvSpPr>
        <p:spPr>
          <a:xfrm>
            <a:off x="8010144" y="4576572"/>
            <a:ext cx="3520440" cy="237744"/>
          </a:xfrm>
          <a:prstGeom prst="rect">
            <a:avLst/>
          </a:prstGeom>
          <a:noFill/>
          <a:ln/>
        </p:spPr>
        <p:txBody>
          <a:bodyPr wrap="square" lIns="0" tIns="0" rIns="0" bIns="0" rtlCol="0" anchor="ctr"/>
          <a:lstStyle/>
          <a:p>
            <a:pPr marL="0" indent="0">
              <a:buNone/>
            </a:pPr>
            <a:endParaRPr lang="en-US" sz="1000" dirty="0"/>
          </a:p>
        </p:txBody>
      </p:sp>
      <p:pic>
        <p:nvPicPr>
          <p:cNvPr id="37" name="Picture 36">
            <a:extLst>
              <a:ext uri="{FF2B5EF4-FFF2-40B4-BE49-F238E27FC236}">
                <a16:creationId xmlns:a16="http://schemas.microsoft.com/office/drawing/2014/main" id="{CA93A8F3-6D36-66DB-94E1-0A8B7CC73072}"/>
              </a:ext>
            </a:extLst>
          </p:cNvPr>
          <p:cNvPicPr>
            <a:picLocks noChangeAspect="1"/>
          </p:cNvPicPr>
          <p:nvPr/>
        </p:nvPicPr>
        <p:blipFill>
          <a:blip r:embed="rId4"/>
          <a:stretch>
            <a:fillRect/>
          </a:stretch>
        </p:blipFill>
        <p:spPr>
          <a:xfrm>
            <a:off x="766311" y="2909202"/>
            <a:ext cx="5866497" cy="2651147"/>
          </a:xfrm>
          <a:prstGeom prst="rect">
            <a:avLst/>
          </a:prstGeom>
        </p:spPr>
      </p:pic>
      <p:sp>
        <p:nvSpPr>
          <p:cNvPr id="40" name="TextBox 39">
            <a:extLst>
              <a:ext uri="{FF2B5EF4-FFF2-40B4-BE49-F238E27FC236}">
                <a16:creationId xmlns:a16="http://schemas.microsoft.com/office/drawing/2014/main" id="{9A878129-955E-A766-1D1E-68273A25033B}"/>
              </a:ext>
            </a:extLst>
          </p:cNvPr>
          <p:cNvSpPr txBox="1"/>
          <p:nvPr/>
        </p:nvSpPr>
        <p:spPr>
          <a:xfrm>
            <a:off x="650848" y="1481542"/>
            <a:ext cx="6097424" cy="830997"/>
          </a:xfrm>
          <a:prstGeom prst="rect">
            <a:avLst/>
          </a:prstGeom>
          <a:noFill/>
        </p:spPr>
        <p:txBody>
          <a:bodyPr wrap="square">
            <a:spAutoFit/>
          </a:bodyPr>
          <a:lstStyle/>
          <a:p>
            <a:pPr algn="just"/>
            <a:r>
              <a:rPr lang="en-US" sz="1600" dirty="0"/>
              <a:t>A structured end-to-end ML pipeline from data collection to model explainability was followed for early heart failure detection using 887 patient records.</a:t>
            </a:r>
          </a:p>
        </p:txBody>
      </p:sp>
      <p:sp>
        <p:nvSpPr>
          <p:cNvPr id="15" name="Shape 9">
            <a:extLst>
              <a:ext uri="{FF2B5EF4-FFF2-40B4-BE49-F238E27FC236}">
                <a16:creationId xmlns:a16="http://schemas.microsoft.com/office/drawing/2014/main" id="{22AC0E2B-07EE-1DA5-2DA6-61D24607C9DC}"/>
              </a:ext>
            </a:extLst>
          </p:cNvPr>
          <p:cNvSpPr/>
          <p:nvPr/>
        </p:nvSpPr>
        <p:spPr>
          <a:xfrm>
            <a:off x="7068312" y="2078224"/>
            <a:ext cx="384048" cy="384048"/>
          </a:xfrm>
          <a:prstGeom prst="ellipse">
            <a:avLst/>
          </a:prstGeom>
          <a:solidFill>
            <a:srgbClr val="0E7C7B"/>
          </a:solidFill>
          <a:ln/>
        </p:spPr>
      </p:sp>
      <p:pic>
        <p:nvPicPr>
          <p:cNvPr id="12" name="Image 1" descr="icons/filter-white.png">
            <a:extLst>
              <a:ext uri="{FF2B5EF4-FFF2-40B4-BE49-F238E27FC236}">
                <a16:creationId xmlns:a16="http://schemas.microsoft.com/office/drawing/2014/main" id="{F45E9AAD-29B1-A832-BC7E-C71B0968D359}"/>
              </a:ext>
            </a:extLst>
          </p:cNvPr>
          <p:cNvPicPr>
            <a:picLocks noChangeAspect="1"/>
          </p:cNvPicPr>
          <p:nvPr/>
        </p:nvPicPr>
        <p:blipFill>
          <a:blip r:embed="rId5"/>
          <a:stretch>
            <a:fillRect/>
          </a:stretch>
        </p:blipFill>
        <p:spPr>
          <a:xfrm>
            <a:off x="7164324" y="2185416"/>
            <a:ext cx="192024" cy="192024"/>
          </a:xfrm>
          <a:prstGeom prst="rect">
            <a:avLst/>
          </a:prstGeom>
        </p:spPr>
      </p:pic>
      <p:sp>
        <p:nvSpPr>
          <p:cNvPr id="16" name="Shape 12">
            <a:extLst>
              <a:ext uri="{FF2B5EF4-FFF2-40B4-BE49-F238E27FC236}">
                <a16:creationId xmlns:a16="http://schemas.microsoft.com/office/drawing/2014/main" id="{0EB56921-18BE-FC20-7ED1-7C83873D3367}"/>
              </a:ext>
            </a:extLst>
          </p:cNvPr>
          <p:cNvSpPr/>
          <p:nvPr/>
        </p:nvSpPr>
        <p:spPr>
          <a:xfrm>
            <a:off x="7062928" y="2679573"/>
            <a:ext cx="384048" cy="384048"/>
          </a:xfrm>
          <a:prstGeom prst="ellipse">
            <a:avLst/>
          </a:prstGeom>
          <a:solidFill>
            <a:srgbClr val="0E7C7B"/>
          </a:solidFill>
          <a:ln/>
        </p:spPr>
      </p:sp>
      <p:pic>
        <p:nvPicPr>
          <p:cNvPr id="17" name="Image 2" descr="icons/layer-group-white.png">
            <a:extLst>
              <a:ext uri="{FF2B5EF4-FFF2-40B4-BE49-F238E27FC236}">
                <a16:creationId xmlns:a16="http://schemas.microsoft.com/office/drawing/2014/main" id="{EAEAB6D7-4A42-B244-B85F-EE44C9F51960}"/>
              </a:ext>
            </a:extLst>
          </p:cNvPr>
          <p:cNvPicPr>
            <a:picLocks noChangeAspect="1"/>
          </p:cNvPicPr>
          <p:nvPr/>
        </p:nvPicPr>
        <p:blipFill>
          <a:blip r:embed="rId6"/>
          <a:stretch>
            <a:fillRect/>
          </a:stretch>
        </p:blipFill>
        <p:spPr>
          <a:xfrm>
            <a:off x="7158940" y="2784729"/>
            <a:ext cx="192024" cy="192024"/>
          </a:xfrm>
          <a:prstGeom prst="rect">
            <a:avLst/>
          </a:prstGeom>
        </p:spPr>
      </p:pic>
      <p:sp>
        <p:nvSpPr>
          <p:cNvPr id="20" name="Shape 15">
            <a:extLst>
              <a:ext uri="{FF2B5EF4-FFF2-40B4-BE49-F238E27FC236}">
                <a16:creationId xmlns:a16="http://schemas.microsoft.com/office/drawing/2014/main" id="{9F1059E3-5AFE-623C-DC1C-5F18738AC2E3}"/>
              </a:ext>
            </a:extLst>
          </p:cNvPr>
          <p:cNvSpPr/>
          <p:nvPr/>
        </p:nvSpPr>
        <p:spPr>
          <a:xfrm>
            <a:off x="7072834" y="3236976"/>
            <a:ext cx="384048" cy="384048"/>
          </a:xfrm>
          <a:prstGeom prst="ellipse">
            <a:avLst/>
          </a:prstGeom>
          <a:solidFill>
            <a:srgbClr val="0E7C7B"/>
          </a:solidFill>
          <a:ln/>
        </p:spPr>
      </p:sp>
      <p:pic>
        <p:nvPicPr>
          <p:cNvPr id="21" name="Image 3" descr="icons/balance-scale-white.png">
            <a:extLst>
              <a:ext uri="{FF2B5EF4-FFF2-40B4-BE49-F238E27FC236}">
                <a16:creationId xmlns:a16="http://schemas.microsoft.com/office/drawing/2014/main" id="{291D3E6F-DE90-A4CA-5332-D00BEB72DC3F}"/>
              </a:ext>
            </a:extLst>
          </p:cNvPr>
          <p:cNvPicPr>
            <a:picLocks noChangeAspect="1"/>
          </p:cNvPicPr>
          <p:nvPr/>
        </p:nvPicPr>
        <p:blipFill>
          <a:blip r:embed="rId7"/>
          <a:stretch>
            <a:fillRect/>
          </a:stretch>
        </p:blipFill>
        <p:spPr>
          <a:xfrm>
            <a:off x="7164324" y="3331464"/>
            <a:ext cx="192024" cy="192024"/>
          </a:xfrm>
          <a:prstGeom prst="rect">
            <a:avLst/>
          </a:prstGeom>
        </p:spPr>
      </p:pic>
      <p:sp>
        <p:nvSpPr>
          <p:cNvPr id="24" name="Shape 18">
            <a:extLst>
              <a:ext uri="{FF2B5EF4-FFF2-40B4-BE49-F238E27FC236}">
                <a16:creationId xmlns:a16="http://schemas.microsoft.com/office/drawing/2014/main" id="{48DDD58B-D5E1-9270-7BE2-993D1AB1B175}"/>
              </a:ext>
            </a:extLst>
          </p:cNvPr>
          <p:cNvSpPr/>
          <p:nvPr/>
        </p:nvSpPr>
        <p:spPr>
          <a:xfrm>
            <a:off x="7072834" y="3822192"/>
            <a:ext cx="384048" cy="384048"/>
          </a:xfrm>
          <a:prstGeom prst="ellipse">
            <a:avLst/>
          </a:prstGeom>
          <a:solidFill>
            <a:srgbClr val="0E7C7B"/>
          </a:solidFill>
          <a:ln/>
        </p:spPr>
      </p:sp>
      <p:pic>
        <p:nvPicPr>
          <p:cNvPr id="25" name="Image 4" descr="icons/sliders-h-white.png">
            <a:extLst>
              <a:ext uri="{FF2B5EF4-FFF2-40B4-BE49-F238E27FC236}">
                <a16:creationId xmlns:a16="http://schemas.microsoft.com/office/drawing/2014/main" id="{C5461A70-FC0D-EAC4-5706-9A1ACF930A79}"/>
              </a:ext>
            </a:extLst>
          </p:cNvPr>
          <p:cNvPicPr>
            <a:picLocks noChangeAspect="1"/>
          </p:cNvPicPr>
          <p:nvPr/>
        </p:nvPicPr>
        <p:blipFill>
          <a:blip r:embed="rId8"/>
          <a:stretch>
            <a:fillRect/>
          </a:stretch>
        </p:blipFill>
        <p:spPr>
          <a:xfrm>
            <a:off x="7164324" y="3927348"/>
            <a:ext cx="192024" cy="192024"/>
          </a:xfrm>
          <a:prstGeom prst="rect">
            <a:avLst/>
          </a:prstGeom>
        </p:spPr>
      </p:pic>
      <p:sp>
        <p:nvSpPr>
          <p:cNvPr id="28" name="Shape 21">
            <a:extLst>
              <a:ext uri="{FF2B5EF4-FFF2-40B4-BE49-F238E27FC236}">
                <a16:creationId xmlns:a16="http://schemas.microsoft.com/office/drawing/2014/main" id="{39EAC2F8-B361-95FF-2DC6-FD6E75A10F41}"/>
              </a:ext>
            </a:extLst>
          </p:cNvPr>
          <p:cNvSpPr/>
          <p:nvPr/>
        </p:nvSpPr>
        <p:spPr>
          <a:xfrm>
            <a:off x="7062928" y="4349496"/>
            <a:ext cx="384048" cy="384048"/>
          </a:xfrm>
          <a:prstGeom prst="ellipse">
            <a:avLst/>
          </a:prstGeom>
          <a:solidFill>
            <a:srgbClr val="0E7C7B"/>
          </a:solidFill>
          <a:ln/>
        </p:spPr>
        <p:txBody>
          <a:bodyPr/>
          <a:lstStyle/>
          <a:p>
            <a:endParaRPr lang="en-US" dirty="0"/>
          </a:p>
        </p:txBody>
      </p:sp>
      <p:pic>
        <p:nvPicPr>
          <p:cNvPr id="29" name="Image 5" descr="icons/robot-white.png">
            <a:extLst>
              <a:ext uri="{FF2B5EF4-FFF2-40B4-BE49-F238E27FC236}">
                <a16:creationId xmlns:a16="http://schemas.microsoft.com/office/drawing/2014/main" id="{05765913-CAB1-193D-8C19-47B1488CE331}"/>
              </a:ext>
            </a:extLst>
          </p:cNvPr>
          <p:cNvPicPr>
            <a:picLocks noChangeAspect="1"/>
          </p:cNvPicPr>
          <p:nvPr/>
        </p:nvPicPr>
        <p:blipFill>
          <a:blip r:embed="rId9"/>
          <a:stretch>
            <a:fillRect/>
          </a:stretch>
        </p:blipFill>
        <p:spPr>
          <a:xfrm>
            <a:off x="7153200" y="4440174"/>
            <a:ext cx="192024" cy="192024"/>
          </a:xfrm>
          <a:prstGeom prst="rect">
            <a:avLst/>
          </a:prstGeom>
        </p:spPr>
      </p:pic>
      <p:sp>
        <p:nvSpPr>
          <p:cNvPr id="32" name="Shape 24">
            <a:extLst>
              <a:ext uri="{FF2B5EF4-FFF2-40B4-BE49-F238E27FC236}">
                <a16:creationId xmlns:a16="http://schemas.microsoft.com/office/drawing/2014/main" id="{7CA542FE-4EFA-F8C1-ED0F-19C5CB43F333}"/>
              </a:ext>
            </a:extLst>
          </p:cNvPr>
          <p:cNvSpPr/>
          <p:nvPr/>
        </p:nvSpPr>
        <p:spPr>
          <a:xfrm>
            <a:off x="7072834" y="4933950"/>
            <a:ext cx="384048" cy="384048"/>
          </a:xfrm>
          <a:prstGeom prst="ellipse">
            <a:avLst/>
          </a:prstGeom>
          <a:solidFill>
            <a:srgbClr val="0E7C7B"/>
          </a:solidFill>
          <a:ln/>
        </p:spPr>
      </p:sp>
      <p:pic>
        <p:nvPicPr>
          <p:cNvPr id="33" name="Image 6" descr="icons/chart-line-white.png">
            <a:extLst>
              <a:ext uri="{FF2B5EF4-FFF2-40B4-BE49-F238E27FC236}">
                <a16:creationId xmlns:a16="http://schemas.microsoft.com/office/drawing/2014/main" id="{3FCF39BE-A8EB-501D-A847-BF8E584B39F1}"/>
              </a:ext>
            </a:extLst>
          </p:cNvPr>
          <p:cNvPicPr>
            <a:picLocks noChangeAspect="1"/>
          </p:cNvPicPr>
          <p:nvPr/>
        </p:nvPicPr>
        <p:blipFill>
          <a:blip r:embed="rId10"/>
          <a:stretch>
            <a:fillRect/>
          </a:stretch>
        </p:blipFill>
        <p:spPr>
          <a:xfrm>
            <a:off x="7164324" y="5029962"/>
            <a:ext cx="192024" cy="19202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869680" y="-411480"/>
            <a:ext cx="3108960" cy="2194560"/>
          </a:xfrm>
          <a:prstGeom prst="rect">
            <a:avLst/>
          </a:prstGeom>
          <a:noFill/>
          <a:ln/>
        </p:spPr>
        <p:txBody>
          <a:bodyPr wrap="square" rtlCol="0" anchor="t"/>
          <a:lstStyle/>
          <a:p>
            <a:pPr marL="0" indent="0" algn="r">
              <a:buNone/>
            </a:pPr>
            <a:endParaRPr lang="en-US" sz="15000" dirty="0"/>
          </a:p>
        </p:txBody>
      </p:sp>
      <p:sp>
        <p:nvSpPr>
          <p:cNvPr id="3" name="Shape 1"/>
          <p:cNvSpPr/>
          <p:nvPr/>
        </p:nvSpPr>
        <p:spPr>
          <a:xfrm>
            <a:off x="502920" y="502920"/>
            <a:ext cx="603504" cy="603504"/>
          </a:xfrm>
          <a:prstGeom prst="ellipse">
            <a:avLst/>
          </a:prstGeom>
          <a:solidFill>
            <a:srgbClr val="0E7C7B"/>
          </a:solidFill>
          <a:ln/>
        </p:spPr>
      </p:sp>
      <p:pic>
        <p:nvPicPr>
          <p:cNvPr id="4" name="Image 0" descr="icons/clipboard-check-white.png"/>
          <p:cNvPicPr>
            <a:picLocks noChangeAspect="1"/>
          </p:cNvPicPr>
          <p:nvPr/>
        </p:nvPicPr>
        <p:blipFill>
          <a:blip r:embed="rId3"/>
          <a:stretch>
            <a:fillRect/>
          </a:stretch>
        </p:blipFill>
        <p:spPr>
          <a:xfrm>
            <a:off x="649224" y="649224"/>
            <a:ext cx="310896" cy="310896"/>
          </a:xfrm>
          <a:prstGeom prst="rect">
            <a:avLst/>
          </a:prstGeom>
        </p:spPr>
      </p:pic>
      <p:sp>
        <p:nvSpPr>
          <p:cNvPr id="5" name="Text 2"/>
          <p:cNvSpPr/>
          <p:nvPr/>
        </p:nvSpPr>
        <p:spPr>
          <a:xfrm>
            <a:off x="1298448" y="457200"/>
            <a:ext cx="7315200" cy="274320"/>
          </a:xfrm>
          <a:prstGeom prst="rect">
            <a:avLst/>
          </a:prstGeom>
          <a:noFill/>
          <a:ln/>
        </p:spPr>
        <p:txBody>
          <a:bodyPr wrap="square" lIns="0" tIns="0" rIns="0" bIns="0" rtlCol="0" anchor="ctr"/>
          <a:lstStyle/>
          <a:p>
            <a:pPr marL="0" indent="0">
              <a:buNone/>
            </a:pPr>
            <a:endParaRPr lang="en-US" sz="1100" dirty="0"/>
          </a:p>
        </p:txBody>
      </p:sp>
      <p:sp>
        <p:nvSpPr>
          <p:cNvPr id="6" name="Text 3"/>
          <p:cNvSpPr/>
          <p:nvPr/>
        </p:nvSpPr>
        <p:spPr>
          <a:xfrm>
            <a:off x="1252728" y="498348"/>
            <a:ext cx="8778240" cy="566928"/>
          </a:xfrm>
          <a:prstGeom prst="rect">
            <a:avLst/>
          </a:prstGeom>
          <a:noFill/>
          <a:ln/>
        </p:spPr>
        <p:txBody>
          <a:bodyPr wrap="square" lIns="0" tIns="0" rIns="0" bIns="0" rtlCol="0" anchor="ctr"/>
          <a:lstStyle/>
          <a:p>
            <a:pPr marL="0" indent="0">
              <a:buNone/>
            </a:pPr>
            <a:r>
              <a:rPr lang="en-US" sz="3000" b="1" dirty="0">
                <a:solidFill>
                  <a:srgbClr val="0B2E33"/>
                </a:solidFill>
                <a:latin typeface="Cambria" pitchFamily="34" charset="0"/>
                <a:ea typeface="Cambria" pitchFamily="34" charset="-122"/>
                <a:cs typeface="Cambria" pitchFamily="34" charset="-120"/>
              </a:rPr>
              <a:t>Requirement Analysis</a:t>
            </a:r>
            <a:endParaRPr lang="en-US" sz="3000" dirty="0"/>
          </a:p>
        </p:txBody>
      </p:sp>
      <p:sp>
        <p:nvSpPr>
          <p:cNvPr id="8" name="Text 5"/>
          <p:cNvSpPr/>
          <p:nvPr/>
        </p:nvSpPr>
        <p:spPr>
          <a:xfrm>
            <a:off x="5719572" y="6521958"/>
            <a:ext cx="960120" cy="256032"/>
          </a:xfrm>
          <a:prstGeom prst="rect">
            <a:avLst/>
          </a:prstGeom>
          <a:noFill/>
          <a:ln/>
        </p:spPr>
        <p:txBody>
          <a:bodyPr wrap="square" lIns="0" tIns="0" rIns="0" bIns="0" rtlCol="0" anchor="ctr"/>
          <a:lstStyle/>
          <a:p>
            <a:pPr marL="0" indent="0" algn="r">
              <a:buNone/>
            </a:pPr>
            <a:r>
              <a:rPr lang="en-US" sz="1200" dirty="0">
                <a:solidFill>
                  <a:srgbClr val="5C7A7D"/>
                </a:solidFill>
                <a:latin typeface="Calibri" pitchFamily="34" charset="0"/>
                <a:ea typeface="Calibri" pitchFamily="34" charset="-122"/>
                <a:cs typeface="Calibri" pitchFamily="34" charset="-120"/>
              </a:rPr>
              <a:t>08 / 15</a:t>
            </a:r>
            <a:endParaRPr lang="en-US" sz="1200" dirty="0"/>
          </a:p>
        </p:txBody>
      </p:sp>
      <p:sp>
        <p:nvSpPr>
          <p:cNvPr id="9" name="Shape 6"/>
          <p:cNvSpPr/>
          <p:nvPr/>
        </p:nvSpPr>
        <p:spPr>
          <a:xfrm>
            <a:off x="502920" y="1444752"/>
            <a:ext cx="5532120" cy="4572000"/>
          </a:xfrm>
          <a:prstGeom prst="roundRect">
            <a:avLst>
              <a:gd name="adj" fmla="val 1800"/>
            </a:avLst>
          </a:prstGeom>
          <a:solidFill>
            <a:srgbClr val="E5F2F1"/>
          </a:solidFill>
          <a:ln/>
          <a:effectLst>
            <a:outerShdw blurRad="114300" dist="38100" dir="5400000" algn="bl" rotWithShape="0">
              <a:srgbClr val="0B2E33">
                <a:alpha val="14000"/>
              </a:srgbClr>
            </a:outerShdw>
          </a:effectLst>
        </p:spPr>
      </p:sp>
      <p:pic>
        <p:nvPicPr>
          <p:cNvPr id="10" name="Image 1" descr="icons/robot-teal.png"/>
          <p:cNvPicPr>
            <a:picLocks noChangeAspect="1"/>
          </p:cNvPicPr>
          <p:nvPr/>
        </p:nvPicPr>
        <p:blipFill>
          <a:blip r:embed="rId4"/>
          <a:stretch>
            <a:fillRect/>
          </a:stretch>
        </p:blipFill>
        <p:spPr>
          <a:xfrm>
            <a:off x="749808" y="1664208"/>
            <a:ext cx="365760" cy="365760"/>
          </a:xfrm>
          <a:prstGeom prst="rect">
            <a:avLst/>
          </a:prstGeom>
        </p:spPr>
      </p:pic>
      <p:sp>
        <p:nvSpPr>
          <p:cNvPr id="11" name="Text 7"/>
          <p:cNvSpPr/>
          <p:nvPr/>
        </p:nvSpPr>
        <p:spPr>
          <a:xfrm>
            <a:off x="1207008" y="1645920"/>
            <a:ext cx="4663440" cy="402336"/>
          </a:xfrm>
          <a:prstGeom prst="rect">
            <a:avLst/>
          </a:prstGeom>
          <a:noFill/>
          <a:ln/>
        </p:spPr>
        <p:txBody>
          <a:bodyPr wrap="square" lIns="0" tIns="0" rIns="0" bIns="0" rtlCol="0" anchor="ctr"/>
          <a:lstStyle/>
          <a:p>
            <a:pPr marL="0" indent="0">
              <a:buNone/>
            </a:pPr>
            <a:r>
              <a:rPr lang="en-US" sz="1600" b="1" dirty="0">
                <a:solidFill>
                  <a:srgbClr val="0B2E33"/>
                </a:solidFill>
                <a:latin typeface="Cambria" pitchFamily="34" charset="0"/>
                <a:ea typeface="Cambria" pitchFamily="34" charset="-122"/>
                <a:cs typeface="Cambria" pitchFamily="34" charset="-120"/>
              </a:rPr>
              <a:t>Functional Requirements</a:t>
            </a:r>
            <a:endParaRPr lang="en-US" sz="1600" dirty="0"/>
          </a:p>
        </p:txBody>
      </p:sp>
      <p:sp>
        <p:nvSpPr>
          <p:cNvPr id="12" name="Text 8"/>
          <p:cNvSpPr/>
          <p:nvPr/>
        </p:nvSpPr>
        <p:spPr>
          <a:xfrm>
            <a:off x="777240" y="2148840"/>
            <a:ext cx="5029200" cy="3749040"/>
          </a:xfrm>
          <a:prstGeom prst="rect">
            <a:avLst/>
          </a:prstGeom>
          <a:noFill/>
          <a:ln/>
        </p:spPr>
        <p:txBody>
          <a:bodyPr wrap="square" lIns="0" tIns="0" rIns="0" bIns="0" rtlCol="0" anchor="t"/>
          <a:lstStyle/>
          <a:p>
            <a:pPr marL="228600" indent="-228600">
              <a:lnSpc>
                <a:spcPct val="115000"/>
              </a:lnSpc>
              <a:spcAft>
                <a:spcPts val="1100"/>
              </a:spcAft>
              <a:buSzPct val="100000"/>
              <a:buChar char="●"/>
            </a:pPr>
            <a:r>
              <a:rPr lang="en-US" sz="1200" dirty="0">
                <a:solidFill>
                  <a:srgbClr val="16282A"/>
                </a:solidFill>
                <a:latin typeface="Calibri" pitchFamily="34" charset="0"/>
                <a:ea typeface="Calibri" pitchFamily="34" charset="-122"/>
                <a:cs typeface="Calibri" pitchFamily="34" charset="-120"/>
              </a:rPr>
              <a:t>Load and preprocess patient data including invalid entry removal, label encoding, and normalization.</a:t>
            </a:r>
          </a:p>
          <a:p>
            <a:pPr marL="228600" indent="-228600">
              <a:lnSpc>
                <a:spcPct val="115000"/>
              </a:lnSpc>
              <a:spcAft>
                <a:spcPts val="1100"/>
              </a:spcAft>
              <a:buSzPct val="100000"/>
              <a:buChar char="●"/>
            </a:pPr>
            <a:r>
              <a:rPr lang="en-US" sz="1200" dirty="0">
                <a:solidFill>
                  <a:srgbClr val="16282A"/>
                </a:solidFill>
                <a:latin typeface="Calibri" pitchFamily="34" charset="0"/>
                <a:ea typeface="Calibri" pitchFamily="34" charset="-122"/>
                <a:cs typeface="Calibri" pitchFamily="34" charset="-120"/>
              </a:rPr>
              <a:t>Engineer 3 new features: Age_MaxHR, BP_Cholesterol, and Risk_Score.</a:t>
            </a:r>
          </a:p>
          <a:p>
            <a:pPr marL="228600" indent="-228600">
              <a:lnSpc>
                <a:spcPct val="115000"/>
              </a:lnSpc>
              <a:spcAft>
                <a:spcPts val="1100"/>
              </a:spcAft>
              <a:buSzPct val="100000"/>
              <a:buChar char="●"/>
            </a:pPr>
            <a:r>
              <a:rPr lang="en-US" sz="1200" dirty="0">
                <a:solidFill>
                  <a:srgbClr val="16282A"/>
                </a:solidFill>
                <a:latin typeface="Calibri" pitchFamily="34" charset="0"/>
                <a:ea typeface="Calibri" pitchFamily="34" charset="-122"/>
                <a:cs typeface="Calibri" pitchFamily="34" charset="-120"/>
              </a:rPr>
              <a:t>Apply SMOTE to balance the training data.</a:t>
            </a:r>
          </a:p>
          <a:p>
            <a:pPr marL="228600" indent="-228600">
              <a:lnSpc>
                <a:spcPct val="115000"/>
              </a:lnSpc>
              <a:spcAft>
                <a:spcPts val="1100"/>
              </a:spcAft>
              <a:buSzPct val="100000"/>
              <a:buChar char="●"/>
            </a:pPr>
            <a:r>
              <a:rPr lang="en-US" sz="1200" dirty="0">
                <a:solidFill>
                  <a:srgbClr val="16282A"/>
                </a:solidFill>
                <a:latin typeface="Calibri" pitchFamily="34" charset="0"/>
                <a:ea typeface="Calibri" pitchFamily="34" charset="-122"/>
                <a:cs typeface="Calibri" pitchFamily="34" charset="-120"/>
              </a:rPr>
              <a:t>Train and evaluate seven ML classification algorithms.</a:t>
            </a:r>
          </a:p>
          <a:p>
            <a:pPr marL="228600" indent="-228600">
              <a:lnSpc>
                <a:spcPct val="115000"/>
              </a:lnSpc>
              <a:spcAft>
                <a:spcPts val="1100"/>
              </a:spcAft>
              <a:buSzPct val="100000"/>
              <a:buChar char="●"/>
            </a:pPr>
            <a:r>
              <a:rPr lang="en-US" sz="1200" dirty="0">
                <a:solidFill>
                  <a:srgbClr val="16282A"/>
                </a:solidFill>
                <a:latin typeface="Calibri" pitchFamily="34" charset="0"/>
                <a:ea typeface="Calibri" pitchFamily="34" charset="-122"/>
                <a:cs typeface="Calibri" pitchFamily="34" charset="-120"/>
              </a:rPr>
              <a:t>Generate performance reports including accuracy, precision, recall, F1 score, and ROC-AUC.</a:t>
            </a:r>
          </a:p>
          <a:p>
            <a:pPr marL="228600" indent="-228600">
              <a:lnSpc>
                <a:spcPct val="115000"/>
              </a:lnSpc>
              <a:spcAft>
                <a:spcPts val="1100"/>
              </a:spcAft>
              <a:buSzPct val="100000"/>
              <a:buChar char="●"/>
            </a:pPr>
            <a:r>
              <a:rPr lang="en-US" sz="1200" dirty="0">
                <a:solidFill>
                  <a:srgbClr val="16282A"/>
                </a:solidFill>
                <a:latin typeface="Calibri" pitchFamily="34" charset="0"/>
                <a:ea typeface="Calibri" pitchFamily="34" charset="-122"/>
                <a:cs typeface="Calibri" pitchFamily="34" charset="-120"/>
              </a:rPr>
              <a:t>Apply SHAP and LIME to explain the best-performing model LightGBM.</a:t>
            </a:r>
            <a:endParaRPr lang="en-US" sz="1200" dirty="0"/>
          </a:p>
        </p:txBody>
      </p:sp>
      <p:sp>
        <p:nvSpPr>
          <p:cNvPr id="13" name="Shape 9"/>
          <p:cNvSpPr/>
          <p:nvPr/>
        </p:nvSpPr>
        <p:spPr>
          <a:xfrm>
            <a:off x="6199632" y="1444752"/>
            <a:ext cx="5486400" cy="4572000"/>
          </a:xfrm>
          <a:prstGeom prst="roundRect">
            <a:avLst>
              <a:gd name="adj" fmla="val 1800"/>
            </a:avLst>
          </a:prstGeom>
          <a:solidFill>
            <a:srgbClr val="0B2E33"/>
          </a:solidFill>
          <a:ln/>
          <a:effectLst>
            <a:outerShdw blurRad="114300" dist="38100" dir="5400000" algn="bl" rotWithShape="0">
              <a:srgbClr val="0B2E33">
                <a:alpha val="14000"/>
              </a:srgbClr>
            </a:outerShdw>
          </a:effectLst>
        </p:spPr>
      </p:sp>
      <p:pic>
        <p:nvPicPr>
          <p:cNvPr id="14" name="Image 2" descr="icons/check-circle-white.png"/>
          <p:cNvPicPr>
            <a:picLocks noChangeAspect="1"/>
          </p:cNvPicPr>
          <p:nvPr/>
        </p:nvPicPr>
        <p:blipFill>
          <a:blip r:embed="rId5"/>
          <a:stretch>
            <a:fillRect/>
          </a:stretch>
        </p:blipFill>
        <p:spPr>
          <a:xfrm>
            <a:off x="6446520" y="1664208"/>
            <a:ext cx="365760" cy="365760"/>
          </a:xfrm>
          <a:prstGeom prst="rect">
            <a:avLst/>
          </a:prstGeom>
        </p:spPr>
      </p:pic>
      <p:sp>
        <p:nvSpPr>
          <p:cNvPr id="15" name="Text 10"/>
          <p:cNvSpPr/>
          <p:nvPr/>
        </p:nvSpPr>
        <p:spPr>
          <a:xfrm>
            <a:off x="6903720" y="1645920"/>
            <a:ext cx="4663440" cy="402336"/>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Non-Functional Requirements</a:t>
            </a:r>
            <a:endParaRPr lang="en-US" sz="1600" dirty="0"/>
          </a:p>
        </p:txBody>
      </p:sp>
      <p:sp>
        <p:nvSpPr>
          <p:cNvPr id="16" name="Text 11"/>
          <p:cNvSpPr/>
          <p:nvPr/>
        </p:nvSpPr>
        <p:spPr>
          <a:xfrm>
            <a:off x="6473952" y="2148840"/>
            <a:ext cx="5029200" cy="3749040"/>
          </a:xfrm>
          <a:prstGeom prst="rect">
            <a:avLst/>
          </a:prstGeom>
          <a:noFill/>
          <a:ln/>
        </p:spPr>
        <p:txBody>
          <a:bodyPr wrap="square" lIns="0" tIns="0" rIns="0" bIns="0" rtlCol="0" anchor="t"/>
          <a:lstStyle/>
          <a:p>
            <a:pPr marL="228600" indent="-228600">
              <a:lnSpc>
                <a:spcPct val="115000"/>
              </a:lnSpc>
              <a:spcAft>
                <a:spcPts val="1100"/>
              </a:spcAft>
              <a:buSzPct val="100000"/>
              <a:buChar char="●"/>
            </a:pPr>
            <a:r>
              <a:rPr lang="en-US" sz="1200" dirty="0">
                <a:solidFill>
                  <a:srgbClr val="DCEFEE"/>
                </a:solidFill>
                <a:latin typeface="Calibri" pitchFamily="34" charset="0"/>
                <a:ea typeface="Calibri" pitchFamily="34" charset="-122"/>
                <a:cs typeface="Calibri" pitchFamily="34" charset="-120"/>
              </a:rPr>
              <a:t>Minimum accuracy of 85% for clinical acceptability.</a:t>
            </a:r>
          </a:p>
          <a:p>
            <a:pPr marL="228600" indent="-228600">
              <a:lnSpc>
                <a:spcPct val="115000"/>
              </a:lnSpc>
              <a:spcAft>
                <a:spcPts val="1100"/>
              </a:spcAft>
              <a:buSzPct val="100000"/>
              <a:buChar char="●"/>
            </a:pPr>
            <a:r>
              <a:rPr lang="en-US" sz="1200" dirty="0">
                <a:solidFill>
                  <a:srgbClr val="DCEFEE"/>
                </a:solidFill>
                <a:latin typeface="Calibri" pitchFamily="34" charset="0"/>
                <a:ea typeface="Calibri" pitchFamily="34" charset="-122"/>
                <a:cs typeface="Calibri" pitchFamily="34" charset="-120"/>
              </a:rPr>
              <a:t>High recall to minimize false negatives and avoid missing heart failure cases.</a:t>
            </a:r>
          </a:p>
          <a:p>
            <a:pPr marL="228600" indent="-228600">
              <a:lnSpc>
                <a:spcPct val="115000"/>
              </a:lnSpc>
              <a:spcAft>
                <a:spcPts val="1100"/>
              </a:spcAft>
              <a:buSzPct val="100000"/>
              <a:buChar char="●"/>
            </a:pPr>
            <a:r>
              <a:rPr lang="en-US" sz="1200" dirty="0">
                <a:solidFill>
                  <a:srgbClr val="DCEFEE"/>
                </a:solidFill>
                <a:latin typeface="Calibri" pitchFamily="34" charset="0"/>
                <a:ea typeface="Calibri" pitchFamily="34" charset="-122"/>
                <a:cs typeface="Calibri" pitchFamily="34" charset="-120"/>
              </a:rPr>
              <a:t>Reproducible results with fixed random seeds.</a:t>
            </a:r>
          </a:p>
          <a:p>
            <a:pPr marL="228600" indent="-228600">
              <a:lnSpc>
                <a:spcPct val="115000"/>
              </a:lnSpc>
              <a:spcAft>
                <a:spcPts val="1100"/>
              </a:spcAft>
              <a:buSzPct val="100000"/>
              <a:buChar char="●"/>
            </a:pPr>
            <a:r>
              <a:rPr lang="en-US" sz="1200" dirty="0">
                <a:solidFill>
                  <a:srgbClr val="DCEFEE"/>
                </a:solidFill>
                <a:latin typeface="Calibri" pitchFamily="34" charset="0"/>
                <a:ea typeface="Calibri" pitchFamily="34" charset="-122"/>
                <a:cs typeface="Calibri" pitchFamily="34" charset="-120"/>
              </a:rPr>
              <a:t>Transparent and interpretable predictions for clinical use.</a:t>
            </a:r>
          </a:p>
          <a:p>
            <a:pPr marL="228600" indent="-228600">
              <a:lnSpc>
                <a:spcPct val="115000"/>
              </a:lnSpc>
              <a:spcAft>
                <a:spcPts val="1100"/>
              </a:spcAft>
              <a:buSzPct val="100000"/>
              <a:buChar char="●"/>
            </a:pPr>
            <a:r>
              <a:rPr lang="en-US" sz="1200" dirty="0">
                <a:solidFill>
                  <a:srgbClr val="DCEFEE"/>
                </a:solidFill>
                <a:latin typeface="Calibri" pitchFamily="34" charset="0"/>
                <a:ea typeface="Calibri" pitchFamily="34" charset="-122"/>
                <a:cs typeface="Calibri" pitchFamily="34" charset="-120"/>
              </a:rPr>
              <a:t>Scalable pipeline capable of handling larger datasets.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869680" y="-411480"/>
            <a:ext cx="3108960" cy="2194560"/>
          </a:xfrm>
          <a:prstGeom prst="rect">
            <a:avLst/>
          </a:prstGeom>
          <a:noFill/>
          <a:ln/>
        </p:spPr>
        <p:txBody>
          <a:bodyPr wrap="square" rtlCol="0" anchor="t"/>
          <a:lstStyle/>
          <a:p>
            <a:pPr marL="0" indent="0" algn="r">
              <a:buNone/>
            </a:pPr>
            <a:endParaRPr lang="en-US" sz="15000" dirty="0"/>
          </a:p>
        </p:txBody>
      </p:sp>
      <p:sp>
        <p:nvSpPr>
          <p:cNvPr id="3" name="Shape 1"/>
          <p:cNvSpPr/>
          <p:nvPr/>
        </p:nvSpPr>
        <p:spPr>
          <a:xfrm>
            <a:off x="502920" y="502920"/>
            <a:ext cx="603504" cy="603504"/>
          </a:xfrm>
          <a:prstGeom prst="ellipse">
            <a:avLst/>
          </a:prstGeom>
          <a:solidFill>
            <a:srgbClr val="0E7C7B"/>
          </a:solidFill>
          <a:ln/>
        </p:spPr>
      </p:sp>
      <p:pic>
        <p:nvPicPr>
          <p:cNvPr id="4" name="Image 0" descr="icons/sitemap-white.png"/>
          <p:cNvPicPr>
            <a:picLocks noChangeAspect="1"/>
          </p:cNvPicPr>
          <p:nvPr/>
        </p:nvPicPr>
        <p:blipFill>
          <a:blip r:embed="rId3"/>
          <a:stretch>
            <a:fillRect/>
          </a:stretch>
        </p:blipFill>
        <p:spPr>
          <a:xfrm>
            <a:off x="649224" y="649224"/>
            <a:ext cx="310896" cy="310896"/>
          </a:xfrm>
          <a:prstGeom prst="rect">
            <a:avLst/>
          </a:prstGeom>
        </p:spPr>
      </p:pic>
      <p:sp>
        <p:nvSpPr>
          <p:cNvPr id="5" name="Text 2"/>
          <p:cNvSpPr/>
          <p:nvPr/>
        </p:nvSpPr>
        <p:spPr>
          <a:xfrm>
            <a:off x="1298448" y="457200"/>
            <a:ext cx="7315200" cy="274320"/>
          </a:xfrm>
          <a:prstGeom prst="rect">
            <a:avLst/>
          </a:prstGeom>
          <a:noFill/>
          <a:ln/>
        </p:spPr>
        <p:txBody>
          <a:bodyPr wrap="square" lIns="0" tIns="0" rIns="0" bIns="0" rtlCol="0" anchor="ctr"/>
          <a:lstStyle/>
          <a:p>
            <a:pPr marL="0" indent="0">
              <a:buNone/>
            </a:pPr>
            <a:endParaRPr lang="en-US" sz="1100" dirty="0"/>
          </a:p>
        </p:txBody>
      </p:sp>
      <p:sp>
        <p:nvSpPr>
          <p:cNvPr id="6" name="Text 3"/>
          <p:cNvSpPr/>
          <p:nvPr/>
        </p:nvSpPr>
        <p:spPr>
          <a:xfrm>
            <a:off x="1271016" y="530352"/>
            <a:ext cx="8778240" cy="566928"/>
          </a:xfrm>
          <a:prstGeom prst="rect">
            <a:avLst/>
          </a:prstGeom>
          <a:noFill/>
          <a:ln/>
        </p:spPr>
        <p:txBody>
          <a:bodyPr wrap="square" lIns="0" tIns="0" rIns="0" bIns="0" rtlCol="0" anchor="ctr"/>
          <a:lstStyle/>
          <a:p>
            <a:pPr marL="0" indent="0">
              <a:buNone/>
            </a:pPr>
            <a:r>
              <a:rPr lang="en-US" sz="3000" b="1" dirty="0">
                <a:solidFill>
                  <a:srgbClr val="0B2E33"/>
                </a:solidFill>
                <a:latin typeface="Cambria" pitchFamily="34" charset="0"/>
                <a:ea typeface="Cambria" pitchFamily="34" charset="-122"/>
                <a:cs typeface="Cambria" pitchFamily="34" charset="-120"/>
              </a:rPr>
              <a:t>Design &amp; Development</a:t>
            </a:r>
            <a:endParaRPr lang="en-US" sz="3000" dirty="0"/>
          </a:p>
        </p:txBody>
      </p:sp>
      <p:sp>
        <p:nvSpPr>
          <p:cNvPr id="7" name="Text 4"/>
          <p:cNvSpPr/>
          <p:nvPr/>
        </p:nvSpPr>
        <p:spPr>
          <a:xfrm>
            <a:off x="502920" y="6547104"/>
            <a:ext cx="8229600" cy="256032"/>
          </a:xfrm>
          <a:prstGeom prst="rect">
            <a:avLst/>
          </a:prstGeom>
          <a:noFill/>
          <a:ln/>
        </p:spPr>
        <p:txBody>
          <a:bodyPr wrap="square" lIns="0" tIns="0" rIns="0" bIns="0" rtlCol="0" anchor="ctr"/>
          <a:lstStyle/>
          <a:p>
            <a:pPr marL="0" indent="0">
              <a:buNone/>
            </a:pPr>
            <a:endParaRPr lang="en-US" sz="900" dirty="0"/>
          </a:p>
        </p:txBody>
      </p:sp>
      <p:sp>
        <p:nvSpPr>
          <p:cNvPr id="8" name="Text 5"/>
          <p:cNvSpPr/>
          <p:nvPr/>
        </p:nvSpPr>
        <p:spPr>
          <a:xfrm>
            <a:off x="5390214" y="6547104"/>
            <a:ext cx="960120" cy="256032"/>
          </a:xfrm>
          <a:prstGeom prst="rect">
            <a:avLst/>
          </a:prstGeom>
          <a:noFill/>
          <a:ln/>
        </p:spPr>
        <p:txBody>
          <a:bodyPr wrap="square" lIns="0" tIns="0" rIns="0" bIns="0" rtlCol="0" anchor="ctr"/>
          <a:lstStyle/>
          <a:p>
            <a:pPr marL="0" indent="0" algn="r">
              <a:buNone/>
            </a:pPr>
            <a:r>
              <a:rPr lang="en-US" sz="1200" dirty="0">
                <a:solidFill>
                  <a:srgbClr val="5C7A7D"/>
                </a:solidFill>
                <a:latin typeface="Calibri" pitchFamily="34" charset="0"/>
                <a:ea typeface="Calibri" pitchFamily="34" charset="-122"/>
                <a:cs typeface="Calibri" pitchFamily="34" charset="-120"/>
              </a:rPr>
              <a:t>09 / 15</a:t>
            </a:r>
            <a:endParaRPr lang="en-US" sz="1200" dirty="0"/>
          </a:p>
        </p:txBody>
      </p:sp>
      <p:sp>
        <p:nvSpPr>
          <p:cNvPr id="9" name="Shape 6"/>
          <p:cNvSpPr/>
          <p:nvPr/>
        </p:nvSpPr>
        <p:spPr>
          <a:xfrm>
            <a:off x="566928" y="1572768"/>
            <a:ext cx="3246120" cy="1207008"/>
          </a:xfrm>
          <a:prstGeom prst="roundRect">
            <a:avLst>
              <a:gd name="adj" fmla="val 6061"/>
            </a:avLst>
          </a:prstGeom>
          <a:solidFill>
            <a:srgbClr val="FFFFFF"/>
          </a:solidFill>
          <a:ln w="17780">
            <a:solidFill>
              <a:srgbClr val="0E7C7B"/>
            </a:solidFill>
            <a:prstDash val="solid"/>
          </a:ln>
          <a:effectLst>
            <a:outerShdw blurRad="114300" dist="38100" dir="5400000" algn="bl" rotWithShape="0">
              <a:srgbClr val="0B2E33">
                <a:alpha val="12000"/>
              </a:srgbClr>
            </a:outerShdw>
          </a:effectLst>
        </p:spPr>
        <p:txBody>
          <a:bodyPr/>
          <a:lstStyle/>
          <a:p>
            <a:endParaRPr lang="en-US" dirty="0"/>
          </a:p>
        </p:txBody>
      </p:sp>
      <p:pic>
        <p:nvPicPr>
          <p:cNvPr id="11" name="Image 1" descr="icons/database-white.png"/>
          <p:cNvPicPr>
            <a:picLocks noChangeAspect="1"/>
          </p:cNvPicPr>
          <p:nvPr/>
        </p:nvPicPr>
        <p:blipFill>
          <a:blip r:embed="rId4"/>
          <a:stretch>
            <a:fillRect/>
          </a:stretch>
        </p:blipFill>
        <p:spPr>
          <a:xfrm>
            <a:off x="841248" y="1847088"/>
            <a:ext cx="237744" cy="237744"/>
          </a:xfrm>
          <a:prstGeom prst="rect">
            <a:avLst/>
          </a:prstGeom>
        </p:spPr>
      </p:pic>
      <p:sp>
        <p:nvSpPr>
          <p:cNvPr id="12" name="Text 8"/>
          <p:cNvSpPr/>
          <p:nvPr/>
        </p:nvSpPr>
        <p:spPr>
          <a:xfrm>
            <a:off x="1392366" y="1687623"/>
            <a:ext cx="1872042" cy="233172"/>
          </a:xfrm>
          <a:prstGeom prst="rect">
            <a:avLst/>
          </a:prstGeom>
          <a:noFill/>
          <a:ln/>
        </p:spPr>
        <p:txBody>
          <a:bodyPr wrap="square" lIns="0" tIns="0" rIns="0" bIns="0" rtlCol="0" anchor="b"/>
          <a:lstStyle/>
          <a:p>
            <a:pPr marL="0" indent="0">
              <a:buNone/>
            </a:pPr>
            <a:r>
              <a:rPr lang="en-US" sz="1350" b="1" dirty="0">
                <a:solidFill>
                  <a:srgbClr val="0B2E33"/>
                </a:solidFill>
                <a:latin typeface="Cambria" pitchFamily="34" charset="0"/>
                <a:ea typeface="Cambria" pitchFamily="34" charset="-122"/>
                <a:cs typeface="Cambria" pitchFamily="34" charset="-120"/>
              </a:rPr>
              <a:t>Dataset Loading</a:t>
            </a:r>
            <a:endParaRPr lang="en-US" sz="1350" dirty="0"/>
          </a:p>
        </p:txBody>
      </p:sp>
      <p:sp>
        <p:nvSpPr>
          <p:cNvPr id="13" name="Text 9"/>
          <p:cNvSpPr/>
          <p:nvPr/>
        </p:nvSpPr>
        <p:spPr>
          <a:xfrm>
            <a:off x="1298448" y="2139696"/>
            <a:ext cx="2350008" cy="548640"/>
          </a:xfrm>
          <a:prstGeom prst="rect">
            <a:avLst/>
          </a:prstGeom>
          <a:noFill/>
          <a:ln/>
        </p:spPr>
        <p:txBody>
          <a:bodyPr wrap="square" lIns="0" tIns="0" rIns="0" bIns="0" rtlCol="0" anchor="t"/>
          <a:lstStyle/>
          <a:p>
            <a:pPr marL="0" indent="0">
              <a:lnSpc>
                <a:spcPct val="110000"/>
              </a:lnSpc>
              <a:buNone/>
            </a:pPr>
            <a:endParaRPr lang="en-US" sz="970" dirty="0"/>
          </a:p>
        </p:txBody>
      </p:sp>
      <p:sp>
        <p:nvSpPr>
          <p:cNvPr id="14" name="Shape 10"/>
          <p:cNvSpPr/>
          <p:nvPr/>
        </p:nvSpPr>
        <p:spPr>
          <a:xfrm>
            <a:off x="4112323" y="1572768"/>
            <a:ext cx="3312604" cy="1207008"/>
          </a:xfrm>
          <a:prstGeom prst="roundRect">
            <a:avLst>
              <a:gd name="adj" fmla="val 6061"/>
            </a:avLst>
          </a:prstGeom>
          <a:solidFill>
            <a:srgbClr val="FFFFFF"/>
          </a:solidFill>
          <a:ln w="17780">
            <a:solidFill>
              <a:srgbClr val="0E7C7B"/>
            </a:solidFill>
            <a:prstDash val="solid"/>
          </a:ln>
          <a:effectLst>
            <a:outerShdw blurRad="114300" dist="38100" dir="5400000" algn="bl" rotWithShape="0">
              <a:srgbClr val="0B2E33">
                <a:alpha val="12000"/>
              </a:srgbClr>
            </a:outerShdw>
          </a:effectLst>
        </p:spPr>
      </p:sp>
      <p:sp>
        <p:nvSpPr>
          <p:cNvPr id="17" name="Text 12"/>
          <p:cNvSpPr/>
          <p:nvPr/>
        </p:nvSpPr>
        <p:spPr>
          <a:xfrm>
            <a:off x="4892040" y="1664208"/>
            <a:ext cx="1899474" cy="237744"/>
          </a:xfrm>
          <a:prstGeom prst="rect">
            <a:avLst/>
          </a:prstGeom>
          <a:noFill/>
          <a:ln/>
        </p:spPr>
        <p:txBody>
          <a:bodyPr wrap="square" lIns="0" tIns="0" rIns="0" bIns="0" rtlCol="0" anchor="b"/>
          <a:lstStyle/>
          <a:p>
            <a:pPr marL="0" indent="0">
              <a:buNone/>
            </a:pPr>
            <a:r>
              <a:rPr lang="en-US" sz="1350" b="1" dirty="0">
                <a:solidFill>
                  <a:srgbClr val="0B2E33"/>
                </a:solidFill>
                <a:latin typeface="Cambria" pitchFamily="34" charset="0"/>
                <a:ea typeface="Cambria" pitchFamily="34" charset="-122"/>
                <a:cs typeface="Cambria" pitchFamily="34" charset="-120"/>
              </a:rPr>
              <a:t>Data Preprocessing</a:t>
            </a:r>
            <a:endParaRPr lang="en-US" sz="1350" dirty="0"/>
          </a:p>
        </p:txBody>
      </p:sp>
      <p:sp>
        <p:nvSpPr>
          <p:cNvPr id="18" name="Text 13"/>
          <p:cNvSpPr/>
          <p:nvPr/>
        </p:nvSpPr>
        <p:spPr>
          <a:xfrm>
            <a:off x="4244783" y="1977069"/>
            <a:ext cx="3033841" cy="786384"/>
          </a:xfrm>
          <a:prstGeom prst="rect">
            <a:avLst/>
          </a:prstGeom>
          <a:noFill/>
          <a:ln/>
        </p:spPr>
        <p:txBody>
          <a:bodyPr wrap="square" lIns="0" tIns="0" rIns="0" bIns="0" rtlCol="0" anchor="t"/>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C7A7D"/>
                </a:solidFill>
                <a:effectLst/>
                <a:uLnTx/>
                <a:uFillTx/>
                <a:latin typeface="Calibri" pitchFamily="34" charset="0"/>
                <a:ea typeface="Calibri" pitchFamily="34" charset="-122"/>
                <a:cs typeface="Calibri" pitchFamily="34" charset="-120"/>
              </a:rPr>
              <a:t>Removed 174 invalid records, applied Label Encoding to 5 categorical variables and verified class distribution.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4"/>
          <p:cNvSpPr/>
          <p:nvPr/>
        </p:nvSpPr>
        <p:spPr>
          <a:xfrm>
            <a:off x="7790688" y="1572768"/>
            <a:ext cx="3188778" cy="1197864"/>
          </a:xfrm>
          <a:prstGeom prst="roundRect">
            <a:avLst>
              <a:gd name="adj" fmla="val 6061"/>
            </a:avLst>
          </a:prstGeom>
          <a:solidFill>
            <a:srgbClr val="FFFFFF"/>
          </a:solidFill>
          <a:ln w="17780">
            <a:solidFill>
              <a:srgbClr val="0E7C7B"/>
            </a:solidFill>
            <a:prstDash val="solid"/>
          </a:ln>
          <a:effectLst>
            <a:outerShdw blurRad="114300" dist="38100" dir="5400000" algn="bl" rotWithShape="0">
              <a:srgbClr val="0B2E33">
                <a:alpha val="12000"/>
              </a:srgbClr>
            </a:outerShdw>
          </a:effectLst>
        </p:spPr>
      </p:sp>
      <p:sp>
        <p:nvSpPr>
          <p:cNvPr id="22" name="Text 16"/>
          <p:cNvSpPr/>
          <p:nvPr/>
        </p:nvSpPr>
        <p:spPr>
          <a:xfrm>
            <a:off x="8275320" y="1708438"/>
            <a:ext cx="2350008" cy="199576"/>
          </a:xfrm>
          <a:prstGeom prst="rect">
            <a:avLst/>
          </a:prstGeom>
          <a:noFill/>
          <a:ln/>
        </p:spPr>
        <p:txBody>
          <a:bodyPr wrap="square" lIns="0" tIns="0" rIns="0" bIns="0" rtlCol="0" anchor="b"/>
          <a:lstStyle/>
          <a:p>
            <a:pPr marL="0" indent="0">
              <a:buNone/>
            </a:pPr>
            <a:r>
              <a:rPr lang="en-US" sz="1350" b="1" dirty="0">
                <a:solidFill>
                  <a:srgbClr val="0B2E33"/>
                </a:solidFill>
                <a:latin typeface="Cambria" pitchFamily="34" charset="0"/>
                <a:ea typeface="Cambria" pitchFamily="34" charset="-122"/>
                <a:cs typeface="Cambria" pitchFamily="34" charset="-120"/>
              </a:rPr>
              <a:t>Exploratory Data Analysis</a:t>
            </a:r>
            <a:endParaRPr lang="en-US" sz="1350" dirty="0"/>
          </a:p>
        </p:txBody>
      </p:sp>
      <p:sp>
        <p:nvSpPr>
          <p:cNvPr id="23" name="Text 17"/>
          <p:cNvSpPr/>
          <p:nvPr/>
        </p:nvSpPr>
        <p:spPr>
          <a:xfrm>
            <a:off x="7930497" y="1952244"/>
            <a:ext cx="2868567" cy="717804"/>
          </a:xfrm>
          <a:prstGeom prst="rect">
            <a:avLst/>
          </a:prstGeom>
          <a:noFill/>
          <a:ln/>
        </p:spPr>
        <p:txBody>
          <a:bodyPr wrap="square" lIns="0" tIns="0" rIns="0" bIns="0" rtlCol="0" anchor="t"/>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C7A7D"/>
                </a:solidFill>
                <a:effectLst/>
                <a:uLnTx/>
                <a:uFillTx/>
                <a:latin typeface="Calibri" pitchFamily="34" charset="0"/>
                <a:ea typeface="Calibri" pitchFamily="34" charset="-122"/>
                <a:cs typeface="Calibri" pitchFamily="34" charset="-120"/>
              </a:rPr>
              <a:t>Analyzed feature distributions, correlations, and class differences between heart failure and non-heart failure patients.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18"/>
          <p:cNvSpPr/>
          <p:nvPr/>
        </p:nvSpPr>
        <p:spPr>
          <a:xfrm>
            <a:off x="566928" y="3346704"/>
            <a:ext cx="3246120" cy="1207008"/>
          </a:xfrm>
          <a:prstGeom prst="roundRect">
            <a:avLst>
              <a:gd name="adj" fmla="val 6061"/>
            </a:avLst>
          </a:prstGeom>
          <a:solidFill>
            <a:srgbClr val="0B2E33"/>
          </a:solidFill>
          <a:ln w="12700">
            <a:solidFill>
              <a:srgbClr val="0B2E33"/>
            </a:solidFill>
            <a:prstDash val="solid"/>
          </a:ln>
          <a:effectLst>
            <a:outerShdw blurRad="114300" dist="38100" dir="5400000" algn="bl" rotWithShape="0">
              <a:srgbClr val="0B2E33">
                <a:alpha val="22000"/>
              </a:srgbClr>
            </a:outerShdw>
          </a:effectLst>
        </p:spPr>
      </p:sp>
      <p:sp>
        <p:nvSpPr>
          <p:cNvPr id="27" name="Text 20"/>
          <p:cNvSpPr/>
          <p:nvPr/>
        </p:nvSpPr>
        <p:spPr>
          <a:xfrm>
            <a:off x="1395015" y="3385457"/>
            <a:ext cx="1624214" cy="310897"/>
          </a:xfrm>
          <a:prstGeom prst="rect">
            <a:avLst/>
          </a:prstGeom>
          <a:noFill/>
          <a:ln/>
        </p:spPr>
        <p:txBody>
          <a:bodyPr wrap="square" lIns="0" tIns="0" rIns="0" bIns="0" rtlCol="0" anchor="b"/>
          <a:lstStyle/>
          <a:p>
            <a:pPr marL="0" indent="0">
              <a:buNone/>
            </a:pPr>
            <a:r>
              <a:rPr lang="en-US" sz="1350" b="1" dirty="0">
                <a:solidFill>
                  <a:srgbClr val="FFFFFF"/>
                </a:solidFill>
                <a:latin typeface="Cambria" pitchFamily="34" charset="0"/>
                <a:ea typeface="Cambria" pitchFamily="34" charset="-122"/>
                <a:cs typeface="Cambria" pitchFamily="34" charset="-120"/>
              </a:rPr>
              <a:t>Feature Engineering</a:t>
            </a:r>
            <a:endParaRPr lang="en-US" sz="1350" dirty="0"/>
          </a:p>
        </p:txBody>
      </p:sp>
      <p:sp>
        <p:nvSpPr>
          <p:cNvPr id="28" name="Text 21"/>
          <p:cNvSpPr/>
          <p:nvPr/>
        </p:nvSpPr>
        <p:spPr>
          <a:xfrm>
            <a:off x="649224" y="3735107"/>
            <a:ext cx="2999232" cy="727165"/>
          </a:xfrm>
          <a:prstGeom prst="rect">
            <a:avLst/>
          </a:prstGeom>
          <a:noFill/>
          <a:ln/>
        </p:spPr>
        <p:txBody>
          <a:bodyPr wrap="square" lIns="0" tIns="0" rIns="0" bIns="0" rtlCol="0" anchor="t"/>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C7A7D"/>
                </a:solidFill>
                <a:effectLst/>
                <a:uLnTx/>
                <a:uFillTx/>
                <a:latin typeface="Calibri" pitchFamily="34" charset="0"/>
                <a:ea typeface="Calibri" pitchFamily="34" charset="-122"/>
                <a:cs typeface="Calibri" pitchFamily="34" charset="-120"/>
              </a:rPr>
              <a:t>Created 3 new features including Age_MaxHR, BP_Cholesterol, and Risk_Score to improve model performance.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2"/>
          <p:cNvSpPr/>
          <p:nvPr/>
        </p:nvSpPr>
        <p:spPr>
          <a:xfrm>
            <a:off x="4197096" y="3346704"/>
            <a:ext cx="3246120" cy="1207008"/>
          </a:xfrm>
          <a:prstGeom prst="roundRect">
            <a:avLst>
              <a:gd name="adj" fmla="val 6061"/>
            </a:avLst>
          </a:prstGeom>
          <a:solidFill>
            <a:srgbClr val="0B2E33"/>
          </a:solidFill>
          <a:ln w="12700">
            <a:solidFill>
              <a:srgbClr val="0B2E33"/>
            </a:solidFill>
            <a:prstDash val="solid"/>
          </a:ln>
          <a:effectLst>
            <a:outerShdw blurRad="114300" dist="38100" dir="5400000" algn="bl" rotWithShape="0">
              <a:srgbClr val="0B2E33">
                <a:alpha val="22000"/>
              </a:srgbClr>
            </a:outerShdw>
          </a:effectLst>
        </p:spPr>
      </p:sp>
      <p:sp>
        <p:nvSpPr>
          <p:cNvPr id="32" name="Text 24"/>
          <p:cNvSpPr/>
          <p:nvPr/>
        </p:nvSpPr>
        <p:spPr>
          <a:xfrm>
            <a:off x="4544612" y="3374136"/>
            <a:ext cx="2659494" cy="310897"/>
          </a:xfrm>
          <a:prstGeom prst="rect">
            <a:avLst/>
          </a:prstGeom>
          <a:noFill/>
          <a:ln/>
        </p:spPr>
        <p:txBody>
          <a:bodyPr wrap="square" lIns="0" tIns="0" rIns="0" bIns="0" rtlCol="0" anchor="b"/>
          <a:lstStyle/>
          <a:p>
            <a:pPr marL="0" indent="0">
              <a:buNone/>
            </a:pPr>
            <a:r>
              <a:rPr lang="en-US" sz="1350" b="1" dirty="0">
                <a:solidFill>
                  <a:srgbClr val="FFFFFF"/>
                </a:solidFill>
                <a:latin typeface="Cambria" pitchFamily="34" charset="0"/>
                <a:ea typeface="Cambria" pitchFamily="34" charset="-122"/>
                <a:cs typeface="Cambria" pitchFamily="34" charset="-120"/>
              </a:rPr>
              <a:t> Model Training and Evaluation</a:t>
            </a:r>
            <a:endParaRPr lang="en-US" sz="1350" dirty="0"/>
          </a:p>
        </p:txBody>
      </p:sp>
      <p:sp>
        <p:nvSpPr>
          <p:cNvPr id="33" name="Text 25"/>
          <p:cNvSpPr/>
          <p:nvPr/>
        </p:nvSpPr>
        <p:spPr>
          <a:xfrm>
            <a:off x="4315625" y="3707893"/>
            <a:ext cx="3070245" cy="754379"/>
          </a:xfrm>
          <a:prstGeom prst="rect">
            <a:avLst/>
          </a:prstGeom>
          <a:noFill/>
          <a:ln/>
        </p:spPr>
        <p:txBody>
          <a:bodyPr wrap="square" lIns="0" tIns="0" rIns="0" bIns="0" rtlCol="0" anchor="t"/>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C7A7D"/>
                </a:solidFill>
                <a:effectLst/>
                <a:uLnTx/>
                <a:uFillTx/>
                <a:latin typeface="Calibri" pitchFamily="34" charset="0"/>
                <a:ea typeface="Calibri" pitchFamily="34" charset="-122"/>
                <a:cs typeface="Calibri" pitchFamily="34" charset="-120"/>
              </a:rPr>
              <a:t>Trained and evaluated 7 ML models using accuracy, precision, recall, F1 score, ROC-AUC, and 10-fold cross-validation.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26"/>
          <p:cNvSpPr/>
          <p:nvPr/>
        </p:nvSpPr>
        <p:spPr>
          <a:xfrm>
            <a:off x="7827264" y="3346704"/>
            <a:ext cx="3246120" cy="1207008"/>
          </a:xfrm>
          <a:prstGeom prst="roundRect">
            <a:avLst>
              <a:gd name="adj" fmla="val 6061"/>
            </a:avLst>
          </a:prstGeom>
          <a:solidFill>
            <a:srgbClr val="0B2E33"/>
          </a:solidFill>
          <a:ln w="12700">
            <a:solidFill>
              <a:srgbClr val="0B2E33"/>
            </a:solidFill>
            <a:prstDash val="solid"/>
          </a:ln>
          <a:effectLst>
            <a:outerShdw blurRad="114300" dist="38100" dir="5400000" algn="bl" rotWithShape="0">
              <a:srgbClr val="0B2E33">
                <a:alpha val="22000"/>
              </a:srgbClr>
            </a:outerShdw>
          </a:effectLst>
        </p:spPr>
      </p:sp>
      <p:sp>
        <p:nvSpPr>
          <p:cNvPr id="37" name="Text 28"/>
          <p:cNvSpPr/>
          <p:nvPr/>
        </p:nvSpPr>
        <p:spPr>
          <a:xfrm>
            <a:off x="8732520" y="3328414"/>
            <a:ext cx="1576528" cy="310897"/>
          </a:xfrm>
          <a:prstGeom prst="rect">
            <a:avLst/>
          </a:prstGeom>
          <a:noFill/>
          <a:ln/>
        </p:spPr>
        <p:txBody>
          <a:bodyPr wrap="square" lIns="0" tIns="0" rIns="0" bIns="0" rtlCol="0" anchor="b"/>
          <a:lstStyle/>
          <a:p>
            <a:pPr marL="0" indent="0">
              <a:buNone/>
            </a:pPr>
            <a:r>
              <a:rPr lang="en-US" sz="1350" b="1" dirty="0">
                <a:solidFill>
                  <a:srgbClr val="FFFFFF"/>
                </a:solidFill>
                <a:latin typeface="Cambria" pitchFamily="34" charset="0"/>
                <a:ea typeface="Cambria" pitchFamily="34" charset="-122"/>
                <a:cs typeface="Cambria" pitchFamily="34" charset="-120"/>
              </a:rPr>
              <a:t>Model Comparison</a:t>
            </a:r>
            <a:endParaRPr lang="en-US" sz="1350" dirty="0"/>
          </a:p>
        </p:txBody>
      </p:sp>
      <p:sp>
        <p:nvSpPr>
          <p:cNvPr id="38" name="Text 29"/>
          <p:cNvSpPr/>
          <p:nvPr/>
        </p:nvSpPr>
        <p:spPr>
          <a:xfrm>
            <a:off x="7930497" y="3707893"/>
            <a:ext cx="3048966" cy="754379"/>
          </a:xfrm>
          <a:prstGeom prst="rect">
            <a:avLst/>
          </a:prstGeom>
          <a:noFill/>
          <a:ln/>
        </p:spPr>
        <p:txBody>
          <a:bodyPr wrap="square" lIns="0" tIns="0" rIns="0" bIns="0" rtlCol="0" anchor="t"/>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C7A7D"/>
                </a:solidFill>
                <a:effectLst/>
                <a:uLnTx/>
                <a:uFillTx/>
                <a:latin typeface="Calibri" pitchFamily="34" charset="0"/>
                <a:ea typeface="Calibri" pitchFamily="34" charset="-122"/>
                <a:cs typeface="Calibri" pitchFamily="34" charset="-120"/>
              </a:rPr>
              <a:t>Compared all 7 models and selected LightGBM as the best-performing model with 91.01% accuracy.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Shape 30"/>
          <p:cNvSpPr/>
          <p:nvPr/>
        </p:nvSpPr>
        <p:spPr>
          <a:xfrm>
            <a:off x="566928" y="5120640"/>
            <a:ext cx="3246120" cy="1207008"/>
          </a:xfrm>
          <a:prstGeom prst="roundRect">
            <a:avLst>
              <a:gd name="adj" fmla="val 6061"/>
            </a:avLst>
          </a:prstGeom>
          <a:solidFill>
            <a:srgbClr val="FFFFFF"/>
          </a:solidFill>
          <a:ln w="17780">
            <a:solidFill>
              <a:srgbClr val="0E7C7B"/>
            </a:solidFill>
            <a:prstDash val="solid"/>
          </a:ln>
          <a:effectLst>
            <a:outerShdw blurRad="114300" dist="38100" dir="5400000" algn="bl" rotWithShape="0">
              <a:srgbClr val="0B2E33">
                <a:alpha val="12000"/>
              </a:srgbClr>
            </a:outerShdw>
          </a:effectLst>
        </p:spPr>
      </p:sp>
      <p:pic>
        <p:nvPicPr>
          <p:cNvPr id="41" name="Image 7" descr="icons/robot-white.png"/>
          <p:cNvPicPr>
            <a:picLocks noChangeAspect="1"/>
          </p:cNvPicPr>
          <p:nvPr/>
        </p:nvPicPr>
        <p:blipFill>
          <a:blip r:embed="rId5"/>
          <a:stretch>
            <a:fillRect/>
          </a:stretch>
        </p:blipFill>
        <p:spPr>
          <a:xfrm>
            <a:off x="841248" y="5394960"/>
            <a:ext cx="237744" cy="237744"/>
          </a:xfrm>
          <a:prstGeom prst="rect">
            <a:avLst/>
          </a:prstGeom>
        </p:spPr>
      </p:pic>
      <p:sp>
        <p:nvSpPr>
          <p:cNvPr id="42" name="Text 32"/>
          <p:cNvSpPr/>
          <p:nvPr/>
        </p:nvSpPr>
        <p:spPr>
          <a:xfrm>
            <a:off x="1435887" y="5076970"/>
            <a:ext cx="1820767" cy="301752"/>
          </a:xfrm>
          <a:prstGeom prst="rect">
            <a:avLst/>
          </a:prstGeom>
          <a:noFill/>
          <a:ln/>
        </p:spPr>
        <p:txBody>
          <a:bodyPr wrap="square" lIns="0" tIns="0" rIns="0" bIns="0" rtlCol="0" anchor="b"/>
          <a:lstStyle/>
          <a:p>
            <a:pPr marL="0" indent="0">
              <a:buNone/>
            </a:pPr>
            <a:r>
              <a:rPr lang="en-US" sz="1350" b="1" dirty="0">
                <a:solidFill>
                  <a:srgbClr val="0B2E33"/>
                </a:solidFill>
                <a:latin typeface="Cambria" pitchFamily="34" charset="0"/>
                <a:ea typeface="Cambria" pitchFamily="34" charset="-122"/>
                <a:cs typeface="Cambria" pitchFamily="34" charset="-120"/>
              </a:rPr>
              <a:t>Explainable AI</a:t>
            </a:r>
            <a:endParaRPr lang="en-US" sz="1350" dirty="0"/>
          </a:p>
        </p:txBody>
      </p:sp>
      <p:sp>
        <p:nvSpPr>
          <p:cNvPr id="43" name="Text 33"/>
          <p:cNvSpPr/>
          <p:nvPr/>
        </p:nvSpPr>
        <p:spPr>
          <a:xfrm>
            <a:off x="649224" y="5417820"/>
            <a:ext cx="3054096" cy="818388"/>
          </a:xfrm>
          <a:prstGeom prst="rect">
            <a:avLst/>
          </a:prstGeom>
          <a:noFill/>
          <a:ln/>
        </p:spPr>
        <p:txBody>
          <a:bodyPr wrap="square" lIns="0" tIns="0" rIns="0" bIns="0" rtlCol="0" anchor="t"/>
          <a:lstStyle/>
          <a:p>
            <a:pPr marL="0" marR="0" lvl="0" indent="0" algn="l" defTabSz="914400" rtl="0" eaLnBrk="1" fontAlgn="auto" latinLnBrk="0" hangingPunct="1">
              <a:lnSpc>
                <a:spcPct val="110000"/>
              </a:lnSpc>
              <a:spcBef>
                <a:spcPts val="0"/>
              </a:spcBef>
              <a:spcAft>
                <a:spcPts val="0"/>
              </a:spcAft>
              <a:buClrTx/>
              <a:buSzTx/>
              <a:buFontTx/>
              <a:buNone/>
              <a:tabLst/>
              <a:defRPr/>
            </a:pPr>
            <a:r>
              <a:rPr lang="en-US" sz="1200" dirty="0">
                <a:solidFill>
                  <a:srgbClr val="5C7A7D"/>
                </a:solidFill>
                <a:latin typeface="Calibri" pitchFamily="34" charset="0"/>
                <a:ea typeface="Calibri" pitchFamily="34" charset="-122"/>
                <a:cs typeface="Calibri" pitchFamily="34" charset="-120"/>
              </a:rPr>
              <a:t>Applied SHAP and LIME to LightGBM to provide transparent and clinically meaningful explanations for model predictions.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Text 36"/>
          <p:cNvSpPr/>
          <p:nvPr/>
        </p:nvSpPr>
        <p:spPr>
          <a:xfrm>
            <a:off x="5065816" y="5115812"/>
            <a:ext cx="1608917" cy="269426"/>
          </a:xfrm>
          <a:prstGeom prst="rect">
            <a:avLst/>
          </a:prstGeom>
          <a:noFill/>
          <a:ln/>
        </p:spPr>
        <p:txBody>
          <a:bodyPr wrap="square" lIns="0" tIns="0" rIns="0" bIns="0" rtlCol="0" anchor="b"/>
          <a:lstStyle/>
          <a:p>
            <a:pPr marL="0" indent="0">
              <a:buNone/>
            </a:pPr>
            <a:endParaRPr lang="en-US" sz="1350" dirty="0"/>
          </a:p>
        </p:txBody>
      </p:sp>
      <p:sp>
        <p:nvSpPr>
          <p:cNvPr id="48" name="Text 37"/>
          <p:cNvSpPr/>
          <p:nvPr/>
        </p:nvSpPr>
        <p:spPr>
          <a:xfrm>
            <a:off x="4263753" y="5417820"/>
            <a:ext cx="3158227" cy="818388"/>
          </a:xfrm>
          <a:prstGeom prst="rect">
            <a:avLst/>
          </a:prstGeom>
          <a:noFill/>
          <a:ln/>
        </p:spPr>
        <p:txBody>
          <a:bodyPr wrap="square" lIns="0" tIns="0" rIns="0" bIns="0" rtlCol="0" anchor="t"/>
          <a:lstStyle/>
          <a:p>
            <a:pPr marL="0" indent="0">
              <a:lnSpc>
                <a:spcPct val="110000"/>
              </a:lnSpc>
              <a:buNone/>
            </a:pPr>
            <a:endParaRPr lang="en-US" sz="970" dirty="0"/>
          </a:p>
        </p:txBody>
      </p:sp>
      <p:sp>
        <p:nvSpPr>
          <p:cNvPr id="52" name="Text 40"/>
          <p:cNvSpPr/>
          <p:nvPr/>
        </p:nvSpPr>
        <p:spPr>
          <a:xfrm>
            <a:off x="8662060" y="5029200"/>
            <a:ext cx="1841448" cy="388620"/>
          </a:xfrm>
          <a:prstGeom prst="rect">
            <a:avLst/>
          </a:prstGeom>
          <a:noFill/>
          <a:ln/>
        </p:spPr>
        <p:txBody>
          <a:bodyPr wrap="square" lIns="0" tIns="0" rIns="0" bIns="0" rtlCol="0" anchor="b"/>
          <a:lstStyle/>
          <a:p>
            <a:pPr marL="0" indent="0">
              <a:buNone/>
            </a:pPr>
            <a:endParaRPr lang="en-US" sz="1350" dirty="0"/>
          </a:p>
        </p:txBody>
      </p:sp>
      <p:sp>
        <p:nvSpPr>
          <p:cNvPr id="53" name="Text 41"/>
          <p:cNvSpPr/>
          <p:nvPr/>
        </p:nvSpPr>
        <p:spPr>
          <a:xfrm>
            <a:off x="7930497" y="5417820"/>
            <a:ext cx="2978295" cy="818388"/>
          </a:xfrm>
          <a:prstGeom prst="rect">
            <a:avLst/>
          </a:prstGeom>
          <a:noFill/>
          <a:ln/>
        </p:spPr>
        <p:txBody>
          <a:bodyPr wrap="square" lIns="0" tIns="0" rIns="0" bIns="0" rtlCol="0" anchor="t"/>
          <a:lstStyle/>
          <a:p>
            <a:pPr marL="0" marR="0" lvl="0" indent="0" algn="l" defTabSz="914400" rtl="0" eaLnBrk="1" fontAlgn="auto" latinLnBrk="0" hangingPunct="1">
              <a:lnSpc>
                <a:spcPct val="110000"/>
              </a:lnSpc>
              <a:spcBef>
                <a:spcPts val="0"/>
              </a:spcBef>
              <a:spcAft>
                <a:spcPts val="0"/>
              </a:spcAft>
              <a:buClrTx/>
              <a:buSzTx/>
              <a:buFontTx/>
              <a:buNone/>
              <a:tabLst/>
              <a:defRPr/>
            </a:pPr>
            <a:endParaRPr lang="en-US" sz="970" dirty="0"/>
          </a:p>
        </p:txBody>
      </p:sp>
      <p:pic>
        <p:nvPicPr>
          <p:cNvPr id="58" name="Image 14" descr="icons/arrow-right-coral.png"/>
          <p:cNvPicPr>
            <a:picLocks noChangeAspect="1"/>
          </p:cNvPicPr>
          <p:nvPr/>
        </p:nvPicPr>
        <p:blipFill>
          <a:blip r:embed="rId6"/>
          <a:stretch>
            <a:fillRect/>
          </a:stretch>
        </p:blipFill>
        <p:spPr>
          <a:xfrm rot="10800000">
            <a:off x="3849624" y="3867912"/>
            <a:ext cx="310896" cy="164592"/>
          </a:xfrm>
          <a:prstGeom prst="rect">
            <a:avLst/>
          </a:prstGeom>
        </p:spPr>
      </p:pic>
      <p:pic>
        <p:nvPicPr>
          <p:cNvPr id="59" name="Image 15" descr="icons/arrow-right-coral.png"/>
          <p:cNvPicPr>
            <a:picLocks noChangeAspect="1"/>
          </p:cNvPicPr>
          <p:nvPr/>
        </p:nvPicPr>
        <p:blipFill>
          <a:blip r:embed="rId6"/>
          <a:stretch>
            <a:fillRect/>
          </a:stretch>
        </p:blipFill>
        <p:spPr>
          <a:xfrm rot="10800000">
            <a:off x="7479792" y="3867912"/>
            <a:ext cx="310896" cy="164592"/>
          </a:xfrm>
          <a:prstGeom prst="rect">
            <a:avLst/>
          </a:prstGeom>
        </p:spPr>
      </p:pic>
      <p:sp>
        <p:nvSpPr>
          <p:cNvPr id="60" name="Shape 42"/>
          <p:cNvSpPr/>
          <p:nvPr/>
        </p:nvSpPr>
        <p:spPr>
          <a:xfrm>
            <a:off x="10799064" y="2779776"/>
            <a:ext cx="0" cy="566928"/>
          </a:xfrm>
          <a:prstGeom prst="line">
            <a:avLst/>
          </a:prstGeom>
          <a:noFill/>
          <a:ln w="25400">
            <a:solidFill>
              <a:srgbClr val="0E7C7B"/>
            </a:solidFill>
            <a:prstDash val="solid"/>
            <a:tailEnd type="triangle"/>
          </a:ln>
        </p:spPr>
      </p:sp>
      <p:sp>
        <p:nvSpPr>
          <p:cNvPr id="61" name="Shape 43"/>
          <p:cNvSpPr/>
          <p:nvPr/>
        </p:nvSpPr>
        <p:spPr>
          <a:xfrm>
            <a:off x="841248" y="4553712"/>
            <a:ext cx="0" cy="566928"/>
          </a:xfrm>
          <a:prstGeom prst="line">
            <a:avLst/>
          </a:prstGeom>
          <a:noFill/>
          <a:ln w="25400">
            <a:solidFill>
              <a:srgbClr val="E4572E"/>
            </a:solidFill>
            <a:prstDash val="solid"/>
            <a:tailEnd type="triangle"/>
          </a:ln>
        </p:spPr>
      </p:sp>
      <p:sp>
        <p:nvSpPr>
          <p:cNvPr id="64" name="TextBox 63">
            <a:extLst>
              <a:ext uri="{FF2B5EF4-FFF2-40B4-BE49-F238E27FC236}">
                <a16:creationId xmlns:a16="http://schemas.microsoft.com/office/drawing/2014/main" id="{90A629CD-0D2F-157A-9EBB-E555A1DC207C}"/>
              </a:ext>
            </a:extLst>
          </p:cNvPr>
          <p:cNvSpPr txBox="1"/>
          <p:nvPr/>
        </p:nvSpPr>
        <p:spPr>
          <a:xfrm>
            <a:off x="603505" y="1949264"/>
            <a:ext cx="3099815" cy="691600"/>
          </a:xfrm>
          <a:prstGeom prst="rect">
            <a:avLst/>
          </a:prstGeom>
          <a:noFill/>
        </p:spPr>
        <p:txBody>
          <a:bodyPr wrap="square" rtlCol="0">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C7A7D"/>
                </a:solidFill>
                <a:effectLst/>
                <a:uLnTx/>
                <a:uFillTx/>
                <a:latin typeface="Calibri" pitchFamily="34" charset="0"/>
                <a:ea typeface="Calibri" pitchFamily="34" charset="-122"/>
                <a:cs typeface="Calibri" pitchFamily="34" charset="-120"/>
              </a:rPr>
              <a:t>887 valid patient records loaded from Kaggle with 11 clinical features for heart failure prediction.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6" name="Image 12" descr="icons/arrow-right-teal.png">
            <a:extLst>
              <a:ext uri="{FF2B5EF4-FFF2-40B4-BE49-F238E27FC236}">
                <a16:creationId xmlns:a16="http://schemas.microsoft.com/office/drawing/2014/main" id="{5B86116A-1F71-8F9E-A238-48741E0E8B42}"/>
              </a:ext>
            </a:extLst>
          </p:cNvPr>
          <p:cNvPicPr>
            <a:picLocks noChangeAspect="1"/>
          </p:cNvPicPr>
          <p:nvPr/>
        </p:nvPicPr>
        <p:blipFill>
          <a:blip r:embed="rId7"/>
          <a:stretch>
            <a:fillRect/>
          </a:stretch>
        </p:blipFill>
        <p:spPr>
          <a:xfrm>
            <a:off x="3773994" y="2112264"/>
            <a:ext cx="310896" cy="164592"/>
          </a:xfrm>
          <a:prstGeom prst="rect">
            <a:avLst/>
          </a:prstGeom>
        </p:spPr>
      </p:pic>
      <p:pic>
        <p:nvPicPr>
          <p:cNvPr id="68" name="Image 13" descr="icons/arrow-right-teal.png">
            <a:extLst>
              <a:ext uri="{FF2B5EF4-FFF2-40B4-BE49-F238E27FC236}">
                <a16:creationId xmlns:a16="http://schemas.microsoft.com/office/drawing/2014/main" id="{AE7A195E-0FFE-1FD9-217E-F1E4228F38AC}"/>
              </a:ext>
            </a:extLst>
          </p:cNvPr>
          <p:cNvPicPr>
            <a:picLocks noChangeAspect="1"/>
          </p:cNvPicPr>
          <p:nvPr/>
        </p:nvPicPr>
        <p:blipFill>
          <a:blip r:embed="rId7"/>
          <a:stretch>
            <a:fillRect/>
          </a:stretch>
        </p:blipFill>
        <p:spPr>
          <a:xfrm>
            <a:off x="7452360" y="2171700"/>
            <a:ext cx="310896" cy="16459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869680" y="-411480"/>
            <a:ext cx="3108960" cy="2194560"/>
          </a:xfrm>
          <a:prstGeom prst="rect">
            <a:avLst/>
          </a:prstGeom>
          <a:noFill/>
          <a:ln/>
        </p:spPr>
        <p:txBody>
          <a:bodyPr wrap="square" rtlCol="0" anchor="t"/>
          <a:lstStyle/>
          <a:p>
            <a:pPr marL="0" indent="0" algn="r">
              <a:buNone/>
            </a:pPr>
            <a:endParaRPr lang="en-US" sz="15000" dirty="0"/>
          </a:p>
        </p:txBody>
      </p:sp>
      <p:sp>
        <p:nvSpPr>
          <p:cNvPr id="3" name="Shape 1"/>
          <p:cNvSpPr/>
          <p:nvPr/>
        </p:nvSpPr>
        <p:spPr>
          <a:xfrm>
            <a:off x="502920" y="502920"/>
            <a:ext cx="603504" cy="603504"/>
          </a:xfrm>
          <a:prstGeom prst="ellipse">
            <a:avLst/>
          </a:prstGeom>
          <a:solidFill>
            <a:srgbClr val="0E7C7B"/>
          </a:solidFill>
          <a:ln/>
        </p:spPr>
      </p:sp>
      <p:pic>
        <p:nvPicPr>
          <p:cNvPr id="4" name="Image 0" descr="icons/trophy-white.png"/>
          <p:cNvPicPr>
            <a:picLocks noChangeAspect="1"/>
          </p:cNvPicPr>
          <p:nvPr/>
        </p:nvPicPr>
        <p:blipFill>
          <a:blip r:embed="rId3"/>
          <a:stretch>
            <a:fillRect/>
          </a:stretch>
        </p:blipFill>
        <p:spPr>
          <a:xfrm>
            <a:off x="649224" y="649224"/>
            <a:ext cx="310896" cy="310896"/>
          </a:xfrm>
          <a:prstGeom prst="rect">
            <a:avLst/>
          </a:prstGeom>
        </p:spPr>
      </p:pic>
      <p:sp>
        <p:nvSpPr>
          <p:cNvPr id="5" name="Text 2"/>
          <p:cNvSpPr/>
          <p:nvPr/>
        </p:nvSpPr>
        <p:spPr>
          <a:xfrm>
            <a:off x="1298448" y="457200"/>
            <a:ext cx="7315200" cy="274320"/>
          </a:xfrm>
          <a:prstGeom prst="rect">
            <a:avLst/>
          </a:prstGeom>
          <a:noFill/>
          <a:ln/>
        </p:spPr>
        <p:txBody>
          <a:bodyPr wrap="square" lIns="0" tIns="0" rIns="0" bIns="0" rtlCol="0" anchor="ctr"/>
          <a:lstStyle/>
          <a:p>
            <a:pPr marL="0" indent="0">
              <a:buNone/>
            </a:pPr>
            <a:endParaRPr lang="en-US" sz="1100" dirty="0"/>
          </a:p>
        </p:txBody>
      </p:sp>
      <p:sp>
        <p:nvSpPr>
          <p:cNvPr id="6" name="Text 3"/>
          <p:cNvSpPr/>
          <p:nvPr/>
        </p:nvSpPr>
        <p:spPr>
          <a:xfrm>
            <a:off x="1280160" y="515995"/>
            <a:ext cx="8778240" cy="566928"/>
          </a:xfrm>
          <a:prstGeom prst="rect">
            <a:avLst/>
          </a:prstGeom>
          <a:noFill/>
          <a:ln/>
        </p:spPr>
        <p:txBody>
          <a:bodyPr wrap="square" lIns="0" tIns="0" rIns="0" bIns="0" rtlCol="0" anchor="ctr"/>
          <a:lstStyle/>
          <a:p>
            <a:pPr marL="0" indent="0">
              <a:buNone/>
            </a:pPr>
            <a:r>
              <a:rPr lang="en-US" sz="3000" b="1" dirty="0">
                <a:solidFill>
                  <a:srgbClr val="0B2E33"/>
                </a:solidFill>
                <a:latin typeface="Cambria" pitchFamily="34" charset="0"/>
                <a:ea typeface="Cambria" pitchFamily="34" charset="-122"/>
                <a:cs typeface="Cambria" pitchFamily="34" charset="-120"/>
              </a:rPr>
              <a:t>Our Contribution</a:t>
            </a:r>
            <a:endParaRPr lang="en-US" sz="3000" dirty="0"/>
          </a:p>
        </p:txBody>
      </p:sp>
      <p:sp>
        <p:nvSpPr>
          <p:cNvPr id="7" name="Text 4"/>
          <p:cNvSpPr/>
          <p:nvPr/>
        </p:nvSpPr>
        <p:spPr>
          <a:xfrm>
            <a:off x="502920" y="6547104"/>
            <a:ext cx="8229600" cy="256032"/>
          </a:xfrm>
          <a:prstGeom prst="rect">
            <a:avLst/>
          </a:prstGeom>
          <a:noFill/>
          <a:ln/>
        </p:spPr>
        <p:txBody>
          <a:bodyPr wrap="square" lIns="0" tIns="0" rIns="0" bIns="0" rtlCol="0" anchor="ctr"/>
          <a:lstStyle/>
          <a:p>
            <a:pPr marL="0" indent="0">
              <a:buNone/>
            </a:pPr>
            <a:endParaRPr lang="en-US" sz="900" dirty="0"/>
          </a:p>
        </p:txBody>
      </p:sp>
      <p:sp>
        <p:nvSpPr>
          <p:cNvPr id="8" name="Text 5"/>
          <p:cNvSpPr/>
          <p:nvPr/>
        </p:nvSpPr>
        <p:spPr>
          <a:xfrm>
            <a:off x="5412105" y="6477381"/>
            <a:ext cx="960120" cy="256032"/>
          </a:xfrm>
          <a:prstGeom prst="rect">
            <a:avLst/>
          </a:prstGeom>
          <a:noFill/>
          <a:ln/>
        </p:spPr>
        <p:txBody>
          <a:bodyPr wrap="square" lIns="0" tIns="0" rIns="0" bIns="0" rtlCol="0" anchor="ctr"/>
          <a:lstStyle/>
          <a:p>
            <a:pPr marL="0" indent="0" algn="r">
              <a:buNone/>
            </a:pPr>
            <a:r>
              <a:rPr lang="en-US" sz="1200" dirty="0">
                <a:solidFill>
                  <a:srgbClr val="5C7A7D"/>
                </a:solidFill>
                <a:latin typeface="Calibri" pitchFamily="34" charset="0"/>
                <a:ea typeface="Calibri" pitchFamily="34" charset="-122"/>
                <a:cs typeface="Calibri" pitchFamily="34" charset="-120"/>
              </a:rPr>
              <a:t>10 / 15</a:t>
            </a:r>
            <a:endParaRPr lang="en-US" sz="1200" dirty="0"/>
          </a:p>
        </p:txBody>
      </p:sp>
      <p:sp>
        <p:nvSpPr>
          <p:cNvPr id="9" name="Shape 6"/>
          <p:cNvSpPr/>
          <p:nvPr/>
        </p:nvSpPr>
        <p:spPr>
          <a:xfrm>
            <a:off x="502920" y="1463040"/>
            <a:ext cx="3611880" cy="2084832"/>
          </a:xfrm>
          <a:prstGeom prst="roundRect">
            <a:avLst>
              <a:gd name="adj" fmla="val 3947"/>
            </a:avLst>
          </a:prstGeom>
          <a:solidFill>
            <a:srgbClr val="FFFFFF"/>
          </a:solidFill>
          <a:ln/>
          <a:effectLst>
            <a:outerShdw blurRad="114300" dist="38100" dir="5400000" algn="bl" rotWithShape="0">
              <a:srgbClr val="0B2E33">
                <a:alpha val="14000"/>
              </a:srgbClr>
            </a:outerShdw>
          </a:effectLst>
        </p:spPr>
      </p:sp>
      <p:sp>
        <p:nvSpPr>
          <p:cNvPr id="10" name="Shape 7"/>
          <p:cNvSpPr/>
          <p:nvPr/>
        </p:nvSpPr>
        <p:spPr>
          <a:xfrm>
            <a:off x="704088" y="1664208"/>
            <a:ext cx="420624" cy="420624"/>
          </a:xfrm>
          <a:prstGeom prst="ellipse">
            <a:avLst/>
          </a:prstGeom>
          <a:solidFill>
            <a:srgbClr val="E4572E"/>
          </a:solidFill>
          <a:ln/>
        </p:spPr>
      </p:sp>
      <p:pic>
        <p:nvPicPr>
          <p:cNvPr id="11" name="Image 1" descr="icons/layer-group-white.png"/>
          <p:cNvPicPr>
            <a:picLocks noChangeAspect="1"/>
          </p:cNvPicPr>
          <p:nvPr/>
        </p:nvPicPr>
        <p:blipFill>
          <a:blip r:embed="rId4"/>
          <a:stretch>
            <a:fillRect/>
          </a:stretch>
        </p:blipFill>
        <p:spPr>
          <a:xfrm>
            <a:off x="813816" y="1773936"/>
            <a:ext cx="201168" cy="201168"/>
          </a:xfrm>
          <a:prstGeom prst="rect">
            <a:avLst/>
          </a:prstGeom>
        </p:spPr>
      </p:pic>
      <p:sp>
        <p:nvSpPr>
          <p:cNvPr id="12" name="Text 8"/>
          <p:cNvSpPr/>
          <p:nvPr/>
        </p:nvSpPr>
        <p:spPr>
          <a:xfrm>
            <a:off x="1252728" y="1627632"/>
            <a:ext cx="2697480" cy="457200"/>
          </a:xfrm>
          <a:prstGeom prst="rect">
            <a:avLst/>
          </a:prstGeom>
          <a:noFill/>
          <a:ln/>
        </p:spPr>
        <p:txBody>
          <a:bodyPr wrap="square" lIns="0" tIns="0" rIns="0" bIns="0" rtlCol="0" anchor="ctr"/>
          <a:lstStyle/>
          <a:p>
            <a:pPr marL="0" indent="0">
              <a:buNone/>
            </a:pPr>
            <a:r>
              <a:rPr lang="en-US" sz="1300" b="1" dirty="0">
                <a:solidFill>
                  <a:srgbClr val="0B2E33"/>
                </a:solidFill>
                <a:latin typeface="Cambria" pitchFamily="34" charset="0"/>
                <a:ea typeface="Cambria" pitchFamily="34" charset="-122"/>
                <a:cs typeface="Cambria" pitchFamily="34" charset="-120"/>
              </a:rPr>
              <a:t>Complete ML Framework</a:t>
            </a:r>
            <a:endParaRPr lang="en-US" sz="1300" dirty="0"/>
          </a:p>
        </p:txBody>
      </p:sp>
      <p:sp>
        <p:nvSpPr>
          <p:cNvPr id="13" name="Text 9"/>
          <p:cNvSpPr/>
          <p:nvPr/>
        </p:nvSpPr>
        <p:spPr>
          <a:xfrm>
            <a:off x="758952" y="2176272"/>
            <a:ext cx="3099816" cy="1298448"/>
          </a:xfrm>
          <a:prstGeom prst="rect">
            <a:avLst/>
          </a:prstGeom>
          <a:noFill/>
          <a:ln/>
        </p:spPr>
        <p:txBody>
          <a:bodyPr wrap="square" lIns="0" tIns="0" rIns="0" bIns="0" rtlCol="0" anchor="t"/>
          <a:lstStyle/>
          <a:p>
            <a:pPr marL="0" indent="0">
              <a:lnSpc>
                <a:spcPct val="112000"/>
              </a:lnSpc>
              <a:buNone/>
            </a:pPr>
            <a:r>
              <a:rPr lang="en-US" sz="1200" dirty="0">
                <a:solidFill>
                  <a:srgbClr val="16282A"/>
                </a:solidFill>
                <a:latin typeface="Calibri" pitchFamily="34" charset="0"/>
                <a:ea typeface="Calibri" pitchFamily="34" charset="-122"/>
                <a:cs typeface="Calibri" pitchFamily="34" charset="-120"/>
              </a:rPr>
              <a:t>Built a complete and structured machine learning pipeline from raw data collection to model explainability for early heart failure detection.</a:t>
            </a:r>
            <a:endParaRPr lang="en-US" sz="1200" dirty="0"/>
          </a:p>
        </p:txBody>
      </p:sp>
      <p:sp>
        <p:nvSpPr>
          <p:cNvPr id="14" name="Shape 10"/>
          <p:cNvSpPr/>
          <p:nvPr/>
        </p:nvSpPr>
        <p:spPr>
          <a:xfrm>
            <a:off x="4361688" y="1463040"/>
            <a:ext cx="3611880" cy="2084832"/>
          </a:xfrm>
          <a:prstGeom prst="roundRect">
            <a:avLst>
              <a:gd name="adj" fmla="val 3947"/>
            </a:avLst>
          </a:prstGeom>
          <a:solidFill>
            <a:srgbClr val="FFFFFF"/>
          </a:solidFill>
          <a:ln/>
          <a:effectLst>
            <a:outerShdw blurRad="114300" dist="38100" dir="5400000" algn="bl" rotWithShape="0">
              <a:srgbClr val="0B2E33">
                <a:alpha val="14000"/>
              </a:srgbClr>
            </a:outerShdw>
          </a:effectLst>
        </p:spPr>
      </p:sp>
      <p:sp>
        <p:nvSpPr>
          <p:cNvPr id="15" name="Shape 11"/>
          <p:cNvSpPr/>
          <p:nvPr/>
        </p:nvSpPr>
        <p:spPr>
          <a:xfrm>
            <a:off x="4562856" y="1664208"/>
            <a:ext cx="420624" cy="420624"/>
          </a:xfrm>
          <a:prstGeom prst="ellipse">
            <a:avLst/>
          </a:prstGeom>
          <a:solidFill>
            <a:srgbClr val="E4572E"/>
          </a:solidFill>
          <a:ln/>
        </p:spPr>
      </p:sp>
      <p:pic>
        <p:nvPicPr>
          <p:cNvPr id="16" name="Image 2" descr="icons/chart-bar-white.png"/>
          <p:cNvPicPr>
            <a:picLocks noChangeAspect="1"/>
          </p:cNvPicPr>
          <p:nvPr/>
        </p:nvPicPr>
        <p:blipFill>
          <a:blip r:embed="rId5"/>
          <a:stretch>
            <a:fillRect/>
          </a:stretch>
        </p:blipFill>
        <p:spPr>
          <a:xfrm>
            <a:off x="4672584" y="1773936"/>
            <a:ext cx="201168" cy="201168"/>
          </a:xfrm>
          <a:prstGeom prst="rect">
            <a:avLst/>
          </a:prstGeom>
        </p:spPr>
      </p:pic>
      <p:sp>
        <p:nvSpPr>
          <p:cNvPr id="17" name="Text 12"/>
          <p:cNvSpPr/>
          <p:nvPr/>
        </p:nvSpPr>
        <p:spPr>
          <a:xfrm>
            <a:off x="5111496" y="1627632"/>
            <a:ext cx="2697480" cy="457200"/>
          </a:xfrm>
          <a:prstGeom prst="rect">
            <a:avLst/>
          </a:prstGeom>
          <a:noFill/>
          <a:ln/>
        </p:spPr>
        <p:txBody>
          <a:bodyPr wrap="square" lIns="0" tIns="0" rIns="0" bIns="0" rtlCol="0" anchor="ctr"/>
          <a:lstStyle/>
          <a:p>
            <a:pPr marL="0" indent="0">
              <a:buNone/>
            </a:pPr>
            <a:r>
              <a:rPr lang="en-US" sz="1300" b="1" dirty="0">
                <a:solidFill>
                  <a:srgbClr val="0B2E33"/>
                </a:solidFill>
                <a:latin typeface="Cambria" pitchFamily="34" charset="0"/>
                <a:ea typeface="Cambria" pitchFamily="34" charset="-122"/>
                <a:cs typeface="Cambria" pitchFamily="34" charset="-120"/>
              </a:rPr>
              <a:t>Seven Model Comparison</a:t>
            </a:r>
            <a:endParaRPr lang="en-US" sz="1300" dirty="0"/>
          </a:p>
        </p:txBody>
      </p:sp>
      <p:sp>
        <p:nvSpPr>
          <p:cNvPr id="18" name="Text 13"/>
          <p:cNvSpPr/>
          <p:nvPr/>
        </p:nvSpPr>
        <p:spPr>
          <a:xfrm>
            <a:off x="4617720" y="2176272"/>
            <a:ext cx="3099816" cy="1298448"/>
          </a:xfrm>
          <a:prstGeom prst="rect">
            <a:avLst/>
          </a:prstGeom>
          <a:noFill/>
          <a:ln/>
        </p:spPr>
        <p:txBody>
          <a:bodyPr wrap="square" lIns="0" tIns="0" rIns="0" bIns="0" rtlCol="0" anchor="t"/>
          <a:lstStyle/>
          <a:p>
            <a:pPr marL="0" indent="0">
              <a:lnSpc>
                <a:spcPct val="112000"/>
              </a:lnSpc>
              <a:buNone/>
            </a:pPr>
            <a:r>
              <a:rPr lang="en-US" sz="1200" dirty="0">
                <a:solidFill>
                  <a:srgbClr val="16282A"/>
                </a:solidFill>
                <a:latin typeface="Calibri" pitchFamily="34" charset="0"/>
                <a:ea typeface="Calibri" pitchFamily="34" charset="-122"/>
                <a:cs typeface="Calibri" pitchFamily="34" charset="-120"/>
              </a:rPr>
              <a:t>Implemented and fairly compared seven classification algorithms in one unified framework, providing a comprehensive performance analysis.</a:t>
            </a:r>
            <a:endParaRPr lang="en-US" sz="1200" dirty="0"/>
          </a:p>
        </p:txBody>
      </p:sp>
      <p:sp>
        <p:nvSpPr>
          <p:cNvPr id="19" name="Shape 14"/>
          <p:cNvSpPr/>
          <p:nvPr/>
        </p:nvSpPr>
        <p:spPr>
          <a:xfrm>
            <a:off x="8220456" y="1463040"/>
            <a:ext cx="3611880" cy="2084832"/>
          </a:xfrm>
          <a:prstGeom prst="roundRect">
            <a:avLst>
              <a:gd name="adj" fmla="val 3947"/>
            </a:avLst>
          </a:prstGeom>
          <a:solidFill>
            <a:srgbClr val="FFFFFF"/>
          </a:solidFill>
          <a:ln/>
          <a:effectLst>
            <a:outerShdw blurRad="114300" dist="38100" dir="5400000" algn="bl" rotWithShape="0">
              <a:srgbClr val="0B2E33">
                <a:alpha val="14000"/>
              </a:srgbClr>
            </a:outerShdw>
          </a:effectLst>
        </p:spPr>
      </p:sp>
      <p:sp>
        <p:nvSpPr>
          <p:cNvPr id="20" name="Shape 15"/>
          <p:cNvSpPr/>
          <p:nvPr/>
        </p:nvSpPr>
        <p:spPr>
          <a:xfrm>
            <a:off x="8421624" y="1664208"/>
            <a:ext cx="420624" cy="420624"/>
          </a:xfrm>
          <a:prstGeom prst="ellipse">
            <a:avLst/>
          </a:prstGeom>
          <a:solidFill>
            <a:srgbClr val="E4572E"/>
          </a:solidFill>
          <a:ln/>
        </p:spPr>
      </p:sp>
      <p:pic>
        <p:nvPicPr>
          <p:cNvPr id="21" name="Image 3" descr="icons/lightbulb-white.png"/>
          <p:cNvPicPr>
            <a:picLocks noChangeAspect="1"/>
          </p:cNvPicPr>
          <p:nvPr/>
        </p:nvPicPr>
        <p:blipFill>
          <a:blip r:embed="rId6"/>
          <a:stretch>
            <a:fillRect/>
          </a:stretch>
        </p:blipFill>
        <p:spPr>
          <a:xfrm>
            <a:off x="8531352" y="1773936"/>
            <a:ext cx="201168" cy="201168"/>
          </a:xfrm>
          <a:prstGeom prst="rect">
            <a:avLst/>
          </a:prstGeom>
        </p:spPr>
      </p:pic>
      <p:sp>
        <p:nvSpPr>
          <p:cNvPr id="22" name="Text 16"/>
          <p:cNvSpPr/>
          <p:nvPr/>
        </p:nvSpPr>
        <p:spPr>
          <a:xfrm>
            <a:off x="8970264" y="1627632"/>
            <a:ext cx="2697480" cy="457200"/>
          </a:xfrm>
          <a:prstGeom prst="rect">
            <a:avLst/>
          </a:prstGeom>
          <a:noFill/>
          <a:ln/>
        </p:spPr>
        <p:txBody>
          <a:bodyPr wrap="square" lIns="0" tIns="0" rIns="0" bIns="0" rtlCol="0" anchor="ctr"/>
          <a:lstStyle/>
          <a:p>
            <a:pPr marL="0" indent="0">
              <a:buNone/>
            </a:pPr>
            <a:r>
              <a:rPr lang="en-US" sz="1300" b="1" dirty="0">
                <a:solidFill>
                  <a:srgbClr val="0B2E33"/>
                </a:solidFill>
                <a:latin typeface="Cambria" pitchFamily="34" charset="0"/>
                <a:ea typeface="Cambria" pitchFamily="34" charset="-122"/>
                <a:cs typeface="Cambria" pitchFamily="34" charset="-120"/>
              </a:rPr>
              <a:t>Clinical Feature Engineering</a:t>
            </a:r>
            <a:endParaRPr lang="en-US" sz="1300" dirty="0"/>
          </a:p>
        </p:txBody>
      </p:sp>
      <p:sp>
        <p:nvSpPr>
          <p:cNvPr id="23" name="Text 17"/>
          <p:cNvSpPr/>
          <p:nvPr/>
        </p:nvSpPr>
        <p:spPr>
          <a:xfrm>
            <a:off x="8476488" y="2176272"/>
            <a:ext cx="3099816" cy="1298448"/>
          </a:xfrm>
          <a:prstGeom prst="rect">
            <a:avLst/>
          </a:prstGeom>
          <a:noFill/>
          <a:ln/>
        </p:spPr>
        <p:txBody>
          <a:bodyPr wrap="square" lIns="0" tIns="0" rIns="0" bIns="0" rtlCol="0" anchor="t"/>
          <a:lstStyle/>
          <a:p>
            <a:pPr marL="0" indent="0">
              <a:lnSpc>
                <a:spcPct val="112000"/>
              </a:lnSpc>
              <a:buNone/>
            </a:pPr>
            <a:r>
              <a:rPr lang="en-US" sz="1200" dirty="0">
                <a:solidFill>
                  <a:srgbClr val="16282A"/>
                </a:solidFill>
                <a:latin typeface="Calibri" pitchFamily="34" charset="0"/>
                <a:ea typeface="Calibri" pitchFamily="34" charset="-122"/>
                <a:cs typeface="Calibri" pitchFamily="34" charset="-120"/>
              </a:rPr>
              <a:t>Engineered 3 new features — Age_MaxHR, BP_Cholesterol, and Risk_Score — capturing important clinical interactions not directly available in the raw data.</a:t>
            </a:r>
            <a:endParaRPr lang="en-US" sz="1200" dirty="0"/>
          </a:p>
        </p:txBody>
      </p:sp>
      <p:sp>
        <p:nvSpPr>
          <p:cNvPr id="24" name="Shape 18"/>
          <p:cNvSpPr/>
          <p:nvPr/>
        </p:nvSpPr>
        <p:spPr>
          <a:xfrm>
            <a:off x="502920" y="3803904"/>
            <a:ext cx="3611880" cy="2084832"/>
          </a:xfrm>
          <a:prstGeom prst="roundRect">
            <a:avLst>
              <a:gd name="adj" fmla="val 3947"/>
            </a:avLst>
          </a:prstGeom>
          <a:solidFill>
            <a:srgbClr val="FFFFFF"/>
          </a:solidFill>
          <a:ln/>
          <a:effectLst>
            <a:outerShdw blurRad="114300" dist="38100" dir="5400000" algn="bl" rotWithShape="0">
              <a:srgbClr val="0B2E33">
                <a:alpha val="14000"/>
              </a:srgbClr>
            </a:outerShdw>
          </a:effectLst>
        </p:spPr>
      </p:sp>
      <p:sp>
        <p:nvSpPr>
          <p:cNvPr id="25" name="Shape 19"/>
          <p:cNvSpPr/>
          <p:nvPr/>
        </p:nvSpPr>
        <p:spPr>
          <a:xfrm>
            <a:off x="704088" y="4005072"/>
            <a:ext cx="420624" cy="420624"/>
          </a:xfrm>
          <a:prstGeom prst="ellipse">
            <a:avLst/>
          </a:prstGeom>
          <a:solidFill>
            <a:srgbClr val="E4572E"/>
          </a:solidFill>
          <a:ln/>
        </p:spPr>
      </p:sp>
      <p:pic>
        <p:nvPicPr>
          <p:cNvPr id="26" name="Image 4" descr="icons/stethoscope-white.png"/>
          <p:cNvPicPr>
            <a:picLocks noChangeAspect="1"/>
          </p:cNvPicPr>
          <p:nvPr/>
        </p:nvPicPr>
        <p:blipFill>
          <a:blip r:embed="rId7"/>
          <a:stretch>
            <a:fillRect/>
          </a:stretch>
        </p:blipFill>
        <p:spPr>
          <a:xfrm>
            <a:off x="813816" y="4114800"/>
            <a:ext cx="201168" cy="201168"/>
          </a:xfrm>
          <a:prstGeom prst="rect">
            <a:avLst/>
          </a:prstGeom>
        </p:spPr>
      </p:pic>
      <p:sp>
        <p:nvSpPr>
          <p:cNvPr id="27" name="Text 20"/>
          <p:cNvSpPr/>
          <p:nvPr/>
        </p:nvSpPr>
        <p:spPr>
          <a:xfrm>
            <a:off x="1252728" y="3968496"/>
            <a:ext cx="2697480" cy="457200"/>
          </a:xfrm>
          <a:prstGeom prst="rect">
            <a:avLst/>
          </a:prstGeom>
          <a:noFill/>
          <a:ln/>
        </p:spPr>
        <p:txBody>
          <a:bodyPr wrap="square" lIns="0" tIns="0" rIns="0" bIns="0" rtlCol="0" anchor="ctr"/>
          <a:lstStyle/>
          <a:p>
            <a:pPr marL="0" indent="0">
              <a:buNone/>
            </a:pPr>
            <a:r>
              <a:rPr lang="en-US" sz="1300" b="1" dirty="0">
                <a:solidFill>
                  <a:srgbClr val="0B2E33"/>
                </a:solidFill>
                <a:latin typeface="Cambria" pitchFamily="34" charset="0"/>
                <a:ea typeface="Cambria" pitchFamily="34" charset="-122"/>
                <a:cs typeface="Cambria" pitchFamily="34" charset="-120"/>
              </a:rPr>
              <a:t>High Accuracy Performance</a:t>
            </a:r>
            <a:endParaRPr lang="en-US" sz="1300" dirty="0"/>
          </a:p>
        </p:txBody>
      </p:sp>
      <p:sp>
        <p:nvSpPr>
          <p:cNvPr id="28" name="Text 21"/>
          <p:cNvSpPr/>
          <p:nvPr/>
        </p:nvSpPr>
        <p:spPr>
          <a:xfrm>
            <a:off x="758952" y="4517136"/>
            <a:ext cx="3099816" cy="1298448"/>
          </a:xfrm>
          <a:prstGeom prst="rect">
            <a:avLst/>
          </a:prstGeom>
          <a:noFill/>
          <a:ln/>
        </p:spPr>
        <p:txBody>
          <a:bodyPr wrap="square" lIns="0" tIns="0" rIns="0" bIns="0" rtlCol="0" anchor="t"/>
          <a:lstStyle/>
          <a:p>
            <a:pPr marL="0" indent="0">
              <a:lnSpc>
                <a:spcPct val="112000"/>
              </a:lnSpc>
              <a:buNone/>
            </a:pPr>
            <a:r>
              <a:rPr lang="en-US" sz="1200" dirty="0">
                <a:solidFill>
                  <a:srgbClr val="16282A"/>
                </a:solidFill>
                <a:latin typeface="Calibri" pitchFamily="34" charset="0"/>
                <a:ea typeface="Calibri" pitchFamily="34" charset="-122"/>
                <a:cs typeface="Calibri" pitchFamily="34" charset="-120"/>
              </a:rPr>
              <a:t>LightGBM achieved 91.01% accuracy and 94.66% ROC-AUC, surpassing the 90% clinical acceptability threshold and outperforming all other models.</a:t>
            </a:r>
            <a:endParaRPr lang="en-US" sz="1200" dirty="0"/>
          </a:p>
        </p:txBody>
      </p:sp>
      <p:sp>
        <p:nvSpPr>
          <p:cNvPr id="29" name="Shape 22"/>
          <p:cNvSpPr/>
          <p:nvPr/>
        </p:nvSpPr>
        <p:spPr>
          <a:xfrm>
            <a:off x="4361688" y="3803904"/>
            <a:ext cx="3611880" cy="2084832"/>
          </a:xfrm>
          <a:prstGeom prst="roundRect">
            <a:avLst>
              <a:gd name="adj" fmla="val 3947"/>
            </a:avLst>
          </a:prstGeom>
          <a:solidFill>
            <a:srgbClr val="FFFFFF"/>
          </a:solidFill>
          <a:ln/>
          <a:effectLst>
            <a:outerShdw blurRad="114300" dist="38100" dir="5400000" algn="bl" rotWithShape="0">
              <a:srgbClr val="0B2E33">
                <a:alpha val="14000"/>
              </a:srgbClr>
            </a:outerShdw>
          </a:effectLst>
        </p:spPr>
      </p:sp>
      <p:sp>
        <p:nvSpPr>
          <p:cNvPr id="30" name="Shape 23"/>
          <p:cNvSpPr/>
          <p:nvPr/>
        </p:nvSpPr>
        <p:spPr>
          <a:xfrm>
            <a:off x="4562856" y="4005072"/>
            <a:ext cx="420624" cy="420624"/>
          </a:xfrm>
          <a:prstGeom prst="ellipse">
            <a:avLst/>
          </a:prstGeom>
          <a:solidFill>
            <a:srgbClr val="E4572E"/>
          </a:solidFill>
          <a:ln/>
        </p:spPr>
      </p:sp>
      <p:pic>
        <p:nvPicPr>
          <p:cNvPr id="31" name="Image 5" descr="icons/balance-scale-white.png"/>
          <p:cNvPicPr>
            <a:picLocks noChangeAspect="1"/>
          </p:cNvPicPr>
          <p:nvPr/>
        </p:nvPicPr>
        <p:blipFill>
          <a:blip r:embed="rId8"/>
          <a:stretch>
            <a:fillRect/>
          </a:stretch>
        </p:blipFill>
        <p:spPr>
          <a:xfrm>
            <a:off x="4672584" y="4114800"/>
            <a:ext cx="201168" cy="201168"/>
          </a:xfrm>
          <a:prstGeom prst="rect">
            <a:avLst/>
          </a:prstGeom>
        </p:spPr>
      </p:pic>
      <p:sp>
        <p:nvSpPr>
          <p:cNvPr id="32" name="Text 24"/>
          <p:cNvSpPr/>
          <p:nvPr/>
        </p:nvSpPr>
        <p:spPr>
          <a:xfrm>
            <a:off x="5111496" y="3968496"/>
            <a:ext cx="2697480" cy="457200"/>
          </a:xfrm>
          <a:prstGeom prst="rect">
            <a:avLst/>
          </a:prstGeom>
          <a:noFill/>
          <a:ln/>
        </p:spPr>
        <p:txBody>
          <a:bodyPr wrap="square" lIns="0" tIns="0" rIns="0" bIns="0" rtlCol="0" anchor="ctr"/>
          <a:lstStyle/>
          <a:p>
            <a:pPr marL="0" indent="0">
              <a:buNone/>
            </a:pPr>
            <a:r>
              <a:rPr lang="en-US" sz="1300" b="1" dirty="0">
                <a:solidFill>
                  <a:srgbClr val="0B2E33"/>
                </a:solidFill>
                <a:latin typeface="Cambria" pitchFamily="34" charset="0"/>
                <a:ea typeface="Cambria" pitchFamily="34" charset="-122"/>
                <a:cs typeface="Cambria" pitchFamily="34" charset="-120"/>
              </a:rPr>
              <a:t>Model Transparency</a:t>
            </a:r>
            <a:endParaRPr lang="en-US" sz="1300" dirty="0"/>
          </a:p>
        </p:txBody>
      </p:sp>
      <p:sp>
        <p:nvSpPr>
          <p:cNvPr id="33" name="Text 25"/>
          <p:cNvSpPr/>
          <p:nvPr/>
        </p:nvSpPr>
        <p:spPr>
          <a:xfrm>
            <a:off x="4617720" y="4517136"/>
            <a:ext cx="3099816" cy="1298448"/>
          </a:xfrm>
          <a:prstGeom prst="rect">
            <a:avLst/>
          </a:prstGeom>
          <a:noFill/>
          <a:ln/>
        </p:spPr>
        <p:txBody>
          <a:bodyPr wrap="square" lIns="0" tIns="0" rIns="0" bIns="0" rtlCol="0" anchor="t"/>
          <a:lstStyle/>
          <a:p>
            <a:pPr marL="0" indent="0">
              <a:lnSpc>
                <a:spcPct val="112000"/>
              </a:lnSpc>
              <a:buNone/>
            </a:pPr>
            <a:r>
              <a:rPr lang="en-US" sz="1200" dirty="0">
                <a:solidFill>
                  <a:srgbClr val="16282A"/>
                </a:solidFill>
                <a:latin typeface="Calibri" pitchFamily="34" charset="0"/>
                <a:ea typeface="Calibri" pitchFamily="34" charset="-122"/>
                <a:cs typeface="Calibri" pitchFamily="34" charset="-120"/>
              </a:rPr>
              <a:t>First time combining both SHAP and LIME together in a single heart failure prediction framework, providing both global and local model explanations.</a:t>
            </a:r>
            <a:endParaRPr lang="en-US" sz="1200" dirty="0"/>
          </a:p>
        </p:txBody>
      </p:sp>
      <p:sp>
        <p:nvSpPr>
          <p:cNvPr id="34" name="Shape 26"/>
          <p:cNvSpPr/>
          <p:nvPr/>
        </p:nvSpPr>
        <p:spPr>
          <a:xfrm>
            <a:off x="8220456" y="3803904"/>
            <a:ext cx="3611880" cy="2084832"/>
          </a:xfrm>
          <a:prstGeom prst="roundRect">
            <a:avLst>
              <a:gd name="adj" fmla="val 3947"/>
            </a:avLst>
          </a:prstGeom>
          <a:solidFill>
            <a:srgbClr val="FFFFFF"/>
          </a:solidFill>
          <a:ln/>
          <a:effectLst>
            <a:outerShdw blurRad="114300" dist="38100" dir="5400000" algn="bl" rotWithShape="0">
              <a:srgbClr val="0B2E33">
                <a:alpha val="14000"/>
              </a:srgbClr>
            </a:outerShdw>
          </a:effectLst>
        </p:spPr>
      </p:sp>
      <p:sp>
        <p:nvSpPr>
          <p:cNvPr id="35" name="Shape 27"/>
          <p:cNvSpPr/>
          <p:nvPr/>
        </p:nvSpPr>
        <p:spPr>
          <a:xfrm>
            <a:off x="8421624" y="4005072"/>
            <a:ext cx="420624" cy="420624"/>
          </a:xfrm>
          <a:prstGeom prst="ellipse">
            <a:avLst/>
          </a:prstGeom>
          <a:solidFill>
            <a:srgbClr val="E4572E"/>
          </a:solidFill>
          <a:ln/>
        </p:spPr>
      </p:sp>
      <p:pic>
        <p:nvPicPr>
          <p:cNvPr id="36" name="Image 6" descr="icons/compass-white.png"/>
          <p:cNvPicPr>
            <a:picLocks noChangeAspect="1"/>
          </p:cNvPicPr>
          <p:nvPr/>
        </p:nvPicPr>
        <p:blipFill>
          <a:blip r:embed="rId9"/>
          <a:stretch>
            <a:fillRect/>
          </a:stretch>
        </p:blipFill>
        <p:spPr>
          <a:xfrm>
            <a:off x="8531352" y="4114800"/>
            <a:ext cx="201168" cy="201168"/>
          </a:xfrm>
          <a:prstGeom prst="rect">
            <a:avLst/>
          </a:prstGeom>
        </p:spPr>
      </p:pic>
      <p:sp>
        <p:nvSpPr>
          <p:cNvPr id="37" name="Text 28"/>
          <p:cNvSpPr/>
          <p:nvPr/>
        </p:nvSpPr>
        <p:spPr>
          <a:xfrm>
            <a:off x="8970264" y="3968496"/>
            <a:ext cx="2697480" cy="457200"/>
          </a:xfrm>
          <a:prstGeom prst="rect">
            <a:avLst/>
          </a:prstGeom>
          <a:noFill/>
          <a:ln/>
        </p:spPr>
        <p:txBody>
          <a:bodyPr wrap="square" lIns="0" tIns="0" rIns="0" bIns="0" rtlCol="0" anchor="ctr"/>
          <a:lstStyle/>
          <a:p>
            <a:pPr marL="0" indent="0">
              <a:buNone/>
            </a:pPr>
            <a:r>
              <a:rPr lang="en-US" sz="1300" b="1" dirty="0">
                <a:solidFill>
                  <a:srgbClr val="0B2E33"/>
                </a:solidFill>
                <a:latin typeface="Cambria" pitchFamily="34" charset="0"/>
                <a:ea typeface="Cambria" pitchFamily="34" charset="-122"/>
                <a:cs typeface="Cambria" pitchFamily="34" charset="-120"/>
              </a:rPr>
              <a:t>Clinical Risk Factors</a:t>
            </a:r>
            <a:endParaRPr lang="en-US" sz="1300" dirty="0"/>
          </a:p>
        </p:txBody>
      </p:sp>
      <p:sp>
        <p:nvSpPr>
          <p:cNvPr id="38" name="Text 29"/>
          <p:cNvSpPr/>
          <p:nvPr/>
        </p:nvSpPr>
        <p:spPr>
          <a:xfrm>
            <a:off x="8476488" y="4517136"/>
            <a:ext cx="3099816" cy="1298448"/>
          </a:xfrm>
          <a:prstGeom prst="rect">
            <a:avLst/>
          </a:prstGeom>
          <a:noFill/>
          <a:ln/>
        </p:spPr>
        <p:txBody>
          <a:bodyPr wrap="square" lIns="0" tIns="0" rIns="0" bIns="0" rtlCol="0" anchor="t"/>
          <a:lstStyle/>
          <a:p>
            <a:pPr marL="0" indent="0">
              <a:lnSpc>
                <a:spcPct val="112000"/>
              </a:lnSpc>
              <a:buNone/>
            </a:pPr>
            <a:r>
              <a:rPr lang="en-US" sz="1200" dirty="0">
                <a:solidFill>
                  <a:srgbClr val="16282A"/>
                </a:solidFill>
                <a:latin typeface="Calibri" pitchFamily="34" charset="0"/>
                <a:ea typeface="Calibri" pitchFamily="34" charset="-122"/>
                <a:cs typeface="Calibri" pitchFamily="34" charset="-120"/>
              </a:rPr>
              <a:t>Confirmed that ST_Slope, ChestPainType, and Sex are the most influential features, consistent with established clinical knowledge about heart failure risk factors.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869680" y="-411480"/>
            <a:ext cx="3108960" cy="2194560"/>
          </a:xfrm>
          <a:prstGeom prst="rect">
            <a:avLst/>
          </a:prstGeom>
          <a:noFill/>
          <a:ln/>
        </p:spPr>
        <p:txBody>
          <a:bodyPr wrap="square" rtlCol="0" anchor="t"/>
          <a:lstStyle/>
          <a:p>
            <a:pPr marL="0" indent="0" algn="r">
              <a:buNone/>
            </a:pPr>
            <a:endParaRPr lang="en-US" sz="15000" dirty="0"/>
          </a:p>
        </p:txBody>
      </p:sp>
      <p:sp>
        <p:nvSpPr>
          <p:cNvPr id="3" name="Shape 1"/>
          <p:cNvSpPr/>
          <p:nvPr/>
        </p:nvSpPr>
        <p:spPr>
          <a:xfrm>
            <a:off x="502920" y="502920"/>
            <a:ext cx="603504" cy="603504"/>
          </a:xfrm>
          <a:prstGeom prst="ellipse">
            <a:avLst/>
          </a:prstGeom>
          <a:solidFill>
            <a:srgbClr val="0E7C7B"/>
          </a:solidFill>
          <a:ln/>
        </p:spPr>
      </p:sp>
      <p:pic>
        <p:nvPicPr>
          <p:cNvPr id="4" name="Image 0" descr="icons/exclamation-circle-white.png"/>
          <p:cNvPicPr>
            <a:picLocks noChangeAspect="1"/>
          </p:cNvPicPr>
          <p:nvPr/>
        </p:nvPicPr>
        <p:blipFill>
          <a:blip r:embed="rId3"/>
          <a:stretch>
            <a:fillRect/>
          </a:stretch>
        </p:blipFill>
        <p:spPr>
          <a:xfrm>
            <a:off x="649224" y="649224"/>
            <a:ext cx="310896" cy="310896"/>
          </a:xfrm>
          <a:prstGeom prst="rect">
            <a:avLst/>
          </a:prstGeom>
        </p:spPr>
      </p:pic>
      <p:sp>
        <p:nvSpPr>
          <p:cNvPr id="5" name="Text 2"/>
          <p:cNvSpPr/>
          <p:nvPr/>
        </p:nvSpPr>
        <p:spPr>
          <a:xfrm>
            <a:off x="1298448" y="457200"/>
            <a:ext cx="7315200" cy="274320"/>
          </a:xfrm>
          <a:prstGeom prst="rect">
            <a:avLst/>
          </a:prstGeom>
          <a:noFill/>
          <a:ln/>
        </p:spPr>
        <p:txBody>
          <a:bodyPr wrap="square" lIns="0" tIns="0" rIns="0" bIns="0" rtlCol="0" anchor="ctr"/>
          <a:lstStyle/>
          <a:p>
            <a:pPr marL="0" indent="0">
              <a:buNone/>
            </a:pPr>
            <a:endParaRPr lang="en-US" sz="1100" dirty="0"/>
          </a:p>
        </p:txBody>
      </p:sp>
      <p:sp>
        <p:nvSpPr>
          <p:cNvPr id="6" name="Text 3"/>
          <p:cNvSpPr/>
          <p:nvPr/>
        </p:nvSpPr>
        <p:spPr>
          <a:xfrm>
            <a:off x="1298448" y="527532"/>
            <a:ext cx="8778240" cy="566928"/>
          </a:xfrm>
          <a:prstGeom prst="rect">
            <a:avLst/>
          </a:prstGeom>
          <a:noFill/>
          <a:ln/>
        </p:spPr>
        <p:txBody>
          <a:bodyPr wrap="square" lIns="0" tIns="0" rIns="0" bIns="0" rtlCol="0" anchor="ctr"/>
          <a:lstStyle/>
          <a:p>
            <a:pPr marL="0" indent="0">
              <a:buNone/>
            </a:pPr>
            <a:r>
              <a:rPr lang="en-US" sz="3000" b="1" dirty="0">
                <a:solidFill>
                  <a:srgbClr val="0B2E33"/>
                </a:solidFill>
                <a:latin typeface="Cambria" pitchFamily="34" charset="0"/>
                <a:ea typeface="Cambria" pitchFamily="34" charset="-122"/>
                <a:cs typeface="Cambria" pitchFamily="34" charset="-120"/>
              </a:rPr>
              <a:t>Limitations of the Thesis</a:t>
            </a:r>
            <a:endParaRPr lang="en-US" sz="3000" dirty="0"/>
          </a:p>
        </p:txBody>
      </p:sp>
      <p:sp>
        <p:nvSpPr>
          <p:cNvPr id="7" name="Text 4"/>
          <p:cNvSpPr/>
          <p:nvPr/>
        </p:nvSpPr>
        <p:spPr>
          <a:xfrm>
            <a:off x="502920" y="6547104"/>
            <a:ext cx="8229600" cy="256032"/>
          </a:xfrm>
          <a:prstGeom prst="rect">
            <a:avLst/>
          </a:prstGeom>
          <a:noFill/>
          <a:ln/>
        </p:spPr>
        <p:txBody>
          <a:bodyPr wrap="square" lIns="0" tIns="0" rIns="0" bIns="0" rtlCol="0" anchor="ctr"/>
          <a:lstStyle/>
          <a:p>
            <a:pPr marL="0" indent="0">
              <a:buNone/>
            </a:pPr>
            <a:endParaRPr lang="en-US" sz="900" dirty="0"/>
          </a:p>
        </p:txBody>
      </p:sp>
      <p:sp>
        <p:nvSpPr>
          <p:cNvPr id="8" name="Text 5"/>
          <p:cNvSpPr/>
          <p:nvPr/>
        </p:nvSpPr>
        <p:spPr>
          <a:xfrm>
            <a:off x="5577840" y="6448806"/>
            <a:ext cx="960120" cy="256032"/>
          </a:xfrm>
          <a:prstGeom prst="rect">
            <a:avLst/>
          </a:prstGeom>
          <a:noFill/>
          <a:ln/>
        </p:spPr>
        <p:txBody>
          <a:bodyPr wrap="square" lIns="0" tIns="0" rIns="0" bIns="0" rtlCol="0" anchor="ctr"/>
          <a:lstStyle/>
          <a:p>
            <a:pPr marL="0" indent="0" algn="r">
              <a:buNone/>
            </a:pPr>
            <a:r>
              <a:rPr lang="en-US" sz="1200" dirty="0">
                <a:solidFill>
                  <a:srgbClr val="5C7A7D"/>
                </a:solidFill>
                <a:latin typeface="Calibri" pitchFamily="34" charset="0"/>
                <a:ea typeface="Calibri" pitchFamily="34" charset="-122"/>
                <a:cs typeface="Calibri" pitchFamily="34" charset="-120"/>
              </a:rPr>
              <a:t>11/ 15</a:t>
            </a:r>
            <a:endParaRPr lang="en-US" sz="1200" dirty="0"/>
          </a:p>
        </p:txBody>
      </p:sp>
      <p:sp>
        <p:nvSpPr>
          <p:cNvPr id="9" name="Shape 6"/>
          <p:cNvSpPr/>
          <p:nvPr/>
        </p:nvSpPr>
        <p:spPr>
          <a:xfrm>
            <a:off x="502920" y="1444752"/>
            <a:ext cx="5349240" cy="1298448"/>
          </a:xfrm>
          <a:prstGeom prst="roundRect">
            <a:avLst>
              <a:gd name="adj" fmla="val 6338"/>
            </a:avLst>
          </a:prstGeom>
          <a:solidFill>
            <a:srgbClr val="FFFFFF"/>
          </a:solidFill>
          <a:ln/>
          <a:effectLst>
            <a:outerShdw blurRad="114300" dist="38100" dir="5400000" algn="bl" rotWithShape="0">
              <a:srgbClr val="0B2E33">
                <a:alpha val="14000"/>
              </a:srgbClr>
            </a:outerShdw>
          </a:effectLst>
        </p:spPr>
      </p:sp>
      <p:sp>
        <p:nvSpPr>
          <p:cNvPr id="10" name="Shape 7"/>
          <p:cNvSpPr/>
          <p:nvPr/>
        </p:nvSpPr>
        <p:spPr>
          <a:xfrm>
            <a:off x="704088" y="1645920"/>
            <a:ext cx="420624" cy="420624"/>
          </a:xfrm>
          <a:prstGeom prst="ellipse">
            <a:avLst/>
          </a:prstGeom>
          <a:solidFill>
            <a:srgbClr val="E4572E"/>
          </a:solidFill>
          <a:ln/>
        </p:spPr>
      </p:sp>
      <p:pic>
        <p:nvPicPr>
          <p:cNvPr id="11" name="Image 1" descr="icons/database-white.png"/>
          <p:cNvPicPr>
            <a:picLocks noChangeAspect="1"/>
          </p:cNvPicPr>
          <p:nvPr/>
        </p:nvPicPr>
        <p:blipFill>
          <a:blip r:embed="rId4"/>
          <a:stretch>
            <a:fillRect/>
          </a:stretch>
        </p:blipFill>
        <p:spPr>
          <a:xfrm>
            <a:off x="813816" y="1755648"/>
            <a:ext cx="201168" cy="201168"/>
          </a:xfrm>
          <a:prstGeom prst="rect">
            <a:avLst/>
          </a:prstGeom>
        </p:spPr>
      </p:pic>
      <p:sp>
        <p:nvSpPr>
          <p:cNvPr id="12" name="Text 8"/>
          <p:cNvSpPr/>
          <p:nvPr/>
        </p:nvSpPr>
        <p:spPr>
          <a:xfrm>
            <a:off x="1252728" y="1609344"/>
            <a:ext cx="4434840" cy="457200"/>
          </a:xfrm>
          <a:prstGeom prst="rect">
            <a:avLst/>
          </a:prstGeom>
          <a:noFill/>
          <a:ln/>
        </p:spPr>
        <p:txBody>
          <a:bodyPr wrap="square" lIns="0" tIns="0" rIns="0" bIns="0" rtlCol="0" anchor="ctr"/>
          <a:lstStyle/>
          <a:p>
            <a:pPr marL="0" indent="0">
              <a:buNone/>
            </a:pPr>
            <a:r>
              <a:rPr lang="en-US" sz="1250" b="1" dirty="0">
                <a:solidFill>
                  <a:srgbClr val="0B2E33"/>
                </a:solidFill>
                <a:latin typeface="Cambria" pitchFamily="34" charset="0"/>
                <a:ea typeface="Cambria" pitchFamily="34" charset="-122"/>
                <a:cs typeface="Cambria" pitchFamily="34" charset="-120"/>
              </a:rPr>
              <a:t>Small Dataset Size</a:t>
            </a:r>
            <a:endParaRPr lang="en-US" sz="1250" dirty="0"/>
          </a:p>
        </p:txBody>
      </p:sp>
      <p:sp>
        <p:nvSpPr>
          <p:cNvPr id="13" name="Text 9"/>
          <p:cNvSpPr/>
          <p:nvPr/>
        </p:nvSpPr>
        <p:spPr>
          <a:xfrm>
            <a:off x="758952" y="2157984"/>
            <a:ext cx="4837176" cy="512064"/>
          </a:xfrm>
          <a:prstGeom prst="rect">
            <a:avLst/>
          </a:prstGeom>
          <a:noFill/>
          <a:ln/>
        </p:spPr>
        <p:txBody>
          <a:bodyPr wrap="square" lIns="0" tIns="0" rIns="0" bIns="0" rtlCol="0" anchor="t"/>
          <a:lstStyle/>
          <a:p>
            <a:pPr marL="0" indent="0">
              <a:lnSpc>
                <a:spcPct val="112000"/>
              </a:lnSpc>
              <a:buNone/>
            </a:pPr>
            <a:r>
              <a:rPr lang="en-US" sz="1200" dirty="0">
                <a:solidFill>
                  <a:srgbClr val="16282A"/>
                </a:solidFill>
                <a:latin typeface="Calibri" pitchFamily="34" charset="0"/>
                <a:ea typeface="Calibri" pitchFamily="34" charset="-122"/>
                <a:cs typeface="Calibri" pitchFamily="34" charset="-120"/>
              </a:rPr>
              <a:t>Only 887 patient records were used, which may limit the external validity of the model across different populations.</a:t>
            </a:r>
            <a:endParaRPr lang="en-US" sz="1200" dirty="0"/>
          </a:p>
        </p:txBody>
      </p:sp>
      <p:sp>
        <p:nvSpPr>
          <p:cNvPr id="14" name="Shape 10"/>
          <p:cNvSpPr/>
          <p:nvPr/>
        </p:nvSpPr>
        <p:spPr>
          <a:xfrm>
            <a:off x="6126480" y="1444752"/>
            <a:ext cx="5349240" cy="1298448"/>
          </a:xfrm>
          <a:prstGeom prst="roundRect">
            <a:avLst>
              <a:gd name="adj" fmla="val 6338"/>
            </a:avLst>
          </a:prstGeom>
          <a:solidFill>
            <a:srgbClr val="FFFFFF"/>
          </a:solidFill>
          <a:ln/>
          <a:effectLst>
            <a:outerShdw blurRad="114300" dist="38100" dir="5400000" algn="bl" rotWithShape="0">
              <a:srgbClr val="0B2E33">
                <a:alpha val="14000"/>
              </a:srgbClr>
            </a:outerShdw>
          </a:effectLst>
        </p:spPr>
      </p:sp>
      <p:sp>
        <p:nvSpPr>
          <p:cNvPr id="15" name="Shape 11"/>
          <p:cNvSpPr/>
          <p:nvPr/>
        </p:nvSpPr>
        <p:spPr>
          <a:xfrm>
            <a:off x="6327648" y="1645920"/>
            <a:ext cx="420624" cy="420624"/>
          </a:xfrm>
          <a:prstGeom prst="ellipse">
            <a:avLst/>
          </a:prstGeom>
          <a:solidFill>
            <a:srgbClr val="E4572E"/>
          </a:solidFill>
          <a:ln/>
        </p:spPr>
      </p:sp>
      <p:pic>
        <p:nvPicPr>
          <p:cNvPr id="16" name="Image 2" descr="icons/sitemap-white.png"/>
          <p:cNvPicPr>
            <a:picLocks noChangeAspect="1"/>
          </p:cNvPicPr>
          <p:nvPr/>
        </p:nvPicPr>
        <p:blipFill>
          <a:blip r:embed="rId5"/>
          <a:stretch>
            <a:fillRect/>
          </a:stretch>
        </p:blipFill>
        <p:spPr>
          <a:xfrm>
            <a:off x="6437376" y="1755648"/>
            <a:ext cx="201168" cy="201168"/>
          </a:xfrm>
          <a:prstGeom prst="rect">
            <a:avLst/>
          </a:prstGeom>
        </p:spPr>
      </p:pic>
      <p:sp>
        <p:nvSpPr>
          <p:cNvPr id="17" name="Text 12"/>
          <p:cNvSpPr/>
          <p:nvPr/>
        </p:nvSpPr>
        <p:spPr>
          <a:xfrm>
            <a:off x="6876288" y="1609344"/>
            <a:ext cx="4434840" cy="457200"/>
          </a:xfrm>
          <a:prstGeom prst="rect">
            <a:avLst/>
          </a:prstGeom>
          <a:noFill/>
          <a:ln/>
        </p:spPr>
        <p:txBody>
          <a:bodyPr wrap="square" lIns="0" tIns="0" rIns="0" bIns="0" rtlCol="0" anchor="ctr"/>
          <a:lstStyle/>
          <a:p>
            <a:pPr marL="0" indent="0">
              <a:buNone/>
            </a:pPr>
            <a:r>
              <a:rPr lang="en-US" sz="1250" b="1" dirty="0">
                <a:solidFill>
                  <a:srgbClr val="0B2E33"/>
                </a:solidFill>
                <a:latin typeface="Cambria" pitchFamily="34" charset="0"/>
                <a:ea typeface="Cambria" pitchFamily="34" charset="-122"/>
                <a:cs typeface="Cambria" pitchFamily="34" charset="-120"/>
              </a:rPr>
              <a:t>Single-Source Data</a:t>
            </a:r>
            <a:endParaRPr lang="en-US" sz="1250" dirty="0"/>
          </a:p>
        </p:txBody>
      </p:sp>
      <p:sp>
        <p:nvSpPr>
          <p:cNvPr id="18" name="Text 13"/>
          <p:cNvSpPr/>
          <p:nvPr/>
        </p:nvSpPr>
        <p:spPr>
          <a:xfrm>
            <a:off x="6382512" y="2157984"/>
            <a:ext cx="4837176" cy="512064"/>
          </a:xfrm>
          <a:prstGeom prst="rect">
            <a:avLst/>
          </a:prstGeom>
          <a:noFill/>
          <a:ln/>
        </p:spPr>
        <p:txBody>
          <a:bodyPr wrap="square" lIns="0" tIns="0" rIns="0" bIns="0" rtlCol="0" anchor="t"/>
          <a:lstStyle/>
          <a:p>
            <a:pPr marL="0" indent="0">
              <a:lnSpc>
                <a:spcPct val="112000"/>
              </a:lnSpc>
              <a:buNone/>
            </a:pPr>
            <a:r>
              <a:rPr lang="en-US" sz="1200" dirty="0">
                <a:solidFill>
                  <a:srgbClr val="16282A"/>
                </a:solidFill>
                <a:latin typeface="Calibri" pitchFamily="34" charset="0"/>
                <a:ea typeface="Calibri" pitchFamily="34" charset="-122"/>
                <a:cs typeface="Calibri" pitchFamily="34" charset="-120"/>
              </a:rPr>
              <a:t>Data was collected from a single source, which may not fully represent the diversity of heart failure patients in real-world clinical settings.</a:t>
            </a:r>
            <a:endParaRPr lang="en-US" sz="1200" dirty="0"/>
          </a:p>
        </p:txBody>
      </p:sp>
      <p:sp>
        <p:nvSpPr>
          <p:cNvPr id="19" name="Shape 14"/>
          <p:cNvSpPr/>
          <p:nvPr/>
        </p:nvSpPr>
        <p:spPr>
          <a:xfrm>
            <a:off x="502920" y="2907792"/>
            <a:ext cx="5349240" cy="1298448"/>
          </a:xfrm>
          <a:prstGeom prst="roundRect">
            <a:avLst>
              <a:gd name="adj" fmla="val 6338"/>
            </a:avLst>
          </a:prstGeom>
          <a:solidFill>
            <a:srgbClr val="FFFFFF"/>
          </a:solidFill>
          <a:ln/>
          <a:effectLst>
            <a:outerShdw blurRad="114300" dist="38100" dir="5400000" algn="bl" rotWithShape="0">
              <a:srgbClr val="0B2E33">
                <a:alpha val="14000"/>
              </a:srgbClr>
            </a:outerShdw>
          </a:effectLst>
        </p:spPr>
      </p:sp>
      <p:sp>
        <p:nvSpPr>
          <p:cNvPr id="20" name="Shape 15"/>
          <p:cNvSpPr/>
          <p:nvPr/>
        </p:nvSpPr>
        <p:spPr>
          <a:xfrm>
            <a:off x="704088" y="3108960"/>
            <a:ext cx="420624" cy="420624"/>
          </a:xfrm>
          <a:prstGeom prst="ellipse">
            <a:avLst/>
          </a:prstGeom>
          <a:solidFill>
            <a:srgbClr val="E4572E"/>
          </a:solidFill>
          <a:ln/>
        </p:spPr>
      </p:sp>
      <p:pic>
        <p:nvPicPr>
          <p:cNvPr id="21" name="Image 3" descr="icons/robot-white.png"/>
          <p:cNvPicPr>
            <a:picLocks noChangeAspect="1"/>
          </p:cNvPicPr>
          <p:nvPr/>
        </p:nvPicPr>
        <p:blipFill>
          <a:blip r:embed="rId6"/>
          <a:stretch>
            <a:fillRect/>
          </a:stretch>
        </p:blipFill>
        <p:spPr>
          <a:xfrm>
            <a:off x="813816" y="3218688"/>
            <a:ext cx="201168" cy="201168"/>
          </a:xfrm>
          <a:prstGeom prst="rect">
            <a:avLst/>
          </a:prstGeom>
        </p:spPr>
      </p:pic>
      <p:sp>
        <p:nvSpPr>
          <p:cNvPr id="22" name="Text 16"/>
          <p:cNvSpPr/>
          <p:nvPr/>
        </p:nvSpPr>
        <p:spPr>
          <a:xfrm>
            <a:off x="1252728" y="3072384"/>
            <a:ext cx="4434840" cy="457200"/>
          </a:xfrm>
          <a:prstGeom prst="rect">
            <a:avLst/>
          </a:prstGeom>
          <a:noFill/>
          <a:ln/>
        </p:spPr>
        <p:txBody>
          <a:bodyPr wrap="square" lIns="0" tIns="0" rIns="0" bIns="0" rtlCol="0" anchor="ctr"/>
          <a:lstStyle/>
          <a:p>
            <a:pPr marL="0" indent="0">
              <a:buNone/>
            </a:pPr>
            <a:r>
              <a:rPr lang="en-US" sz="1250" b="1" dirty="0">
                <a:solidFill>
                  <a:srgbClr val="0B2E33"/>
                </a:solidFill>
                <a:latin typeface="Cambria" pitchFamily="34" charset="0"/>
                <a:ea typeface="Cambria" pitchFamily="34" charset="-122"/>
                <a:cs typeface="Cambria" pitchFamily="34" charset="-120"/>
              </a:rPr>
              <a:t>No External Validation</a:t>
            </a:r>
            <a:endParaRPr lang="en-US" sz="1250" dirty="0"/>
          </a:p>
        </p:txBody>
      </p:sp>
      <p:sp>
        <p:nvSpPr>
          <p:cNvPr id="23" name="Text 17"/>
          <p:cNvSpPr/>
          <p:nvPr/>
        </p:nvSpPr>
        <p:spPr>
          <a:xfrm>
            <a:off x="758952" y="3621024"/>
            <a:ext cx="4837176" cy="512064"/>
          </a:xfrm>
          <a:prstGeom prst="rect">
            <a:avLst/>
          </a:prstGeom>
          <a:noFill/>
          <a:ln/>
        </p:spPr>
        <p:txBody>
          <a:bodyPr wrap="square" lIns="0" tIns="0" rIns="0" bIns="0" rtlCol="0" anchor="t"/>
          <a:lstStyle/>
          <a:p>
            <a:pPr marL="0" indent="0">
              <a:lnSpc>
                <a:spcPct val="112000"/>
              </a:lnSpc>
              <a:buNone/>
            </a:pPr>
            <a:r>
              <a:rPr lang="en-US" sz="1200" dirty="0">
                <a:solidFill>
                  <a:srgbClr val="16282A"/>
                </a:solidFill>
                <a:latin typeface="Calibri" pitchFamily="34" charset="0"/>
                <a:ea typeface="Calibri" pitchFamily="34" charset="-122"/>
                <a:cs typeface="Calibri" pitchFamily="34" charset="-120"/>
              </a:rPr>
              <a:t>The models were not validated on any external dataset from different clinical settings, which limits the assessment of their generalization capability.</a:t>
            </a:r>
            <a:endParaRPr lang="en-US" sz="1200" dirty="0"/>
          </a:p>
        </p:txBody>
      </p:sp>
      <p:sp>
        <p:nvSpPr>
          <p:cNvPr id="24" name="Shape 18"/>
          <p:cNvSpPr/>
          <p:nvPr/>
        </p:nvSpPr>
        <p:spPr>
          <a:xfrm>
            <a:off x="6126480" y="2907792"/>
            <a:ext cx="5349240" cy="1298448"/>
          </a:xfrm>
          <a:prstGeom prst="roundRect">
            <a:avLst>
              <a:gd name="adj" fmla="val 6338"/>
            </a:avLst>
          </a:prstGeom>
          <a:solidFill>
            <a:srgbClr val="FFFFFF"/>
          </a:solidFill>
          <a:ln/>
          <a:effectLst>
            <a:outerShdw blurRad="114300" dist="38100" dir="5400000" algn="bl" rotWithShape="0">
              <a:srgbClr val="0B2E33">
                <a:alpha val="14000"/>
              </a:srgbClr>
            </a:outerShdw>
          </a:effectLst>
        </p:spPr>
      </p:sp>
      <p:sp>
        <p:nvSpPr>
          <p:cNvPr id="25" name="Shape 19"/>
          <p:cNvSpPr/>
          <p:nvPr/>
        </p:nvSpPr>
        <p:spPr>
          <a:xfrm>
            <a:off x="6327648" y="3108960"/>
            <a:ext cx="420624" cy="420624"/>
          </a:xfrm>
          <a:prstGeom prst="ellipse">
            <a:avLst/>
          </a:prstGeom>
          <a:solidFill>
            <a:srgbClr val="E4572E"/>
          </a:solidFill>
          <a:ln/>
        </p:spPr>
      </p:sp>
      <p:pic>
        <p:nvPicPr>
          <p:cNvPr id="26" name="Image 4" descr="icons/layer-group-white.png"/>
          <p:cNvPicPr>
            <a:picLocks noChangeAspect="1"/>
          </p:cNvPicPr>
          <p:nvPr/>
        </p:nvPicPr>
        <p:blipFill>
          <a:blip r:embed="rId7"/>
          <a:stretch>
            <a:fillRect/>
          </a:stretch>
        </p:blipFill>
        <p:spPr>
          <a:xfrm>
            <a:off x="6437376" y="3218688"/>
            <a:ext cx="201168" cy="201168"/>
          </a:xfrm>
          <a:prstGeom prst="rect">
            <a:avLst/>
          </a:prstGeom>
        </p:spPr>
      </p:pic>
      <p:sp>
        <p:nvSpPr>
          <p:cNvPr id="27" name="Text 20"/>
          <p:cNvSpPr/>
          <p:nvPr/>
        </p:nvSpPr>
        <p:spPr>
          <a:xfrm>
            <a:off x="6876288" y="3072384"/>
            <a:ext cx="4434840" cy="457200"/>
          </a:xfrm>
          <a:prstGeom prst="rect">
            <a:avLst/>
          </a:prstGeom>
          <a:noFill/>
          <a:ln/>
        </p:spPr>
        <p:txBody>
          <a:bodyPr wrap="square" lIns="0" tIns="0" rIns="0" bIns="0" rtlCol="0" anchor="ctr"/>
          <a:lstStyle/>
          <a:p>
            <a:pPr marL="0" indent="0">
              <a:buNone/>
            </a:pPr>
            <a:r>
              <a:rPr lang="en-US" sz="1250" b="1" dirty="0">
                <a:solidFill>
                  <a:srgbClr val="0B2E33"/>
                </a:solidFill>
                <a:latin typeface="Cambria" pitchFamily="34" charset="0"/>
                <a:ea typeface="Cambria" pitchFamily="34" charset="-122"/>
                <a:cs typeface="Cambria" pitchFamily="34" charset="-120"/>
              </a:rPr>
              <a:t>Manual Feature Engineering</a:t>
            </a:r>
            <a:endParaRPr lang="en-US" sz="1250" dirty="0"/>
          </a:p>
        </p:txBody>
      </p:sp>
      <p:sp>
        <p:nvSpPr>
          <p:cNvPr id="28" name="Text 21"/>
          <p:cNvSpPr/>
          <p:nvPr/>
        </p:nvSpPr>
        <p:spPr>
          <a:xfrm>
            <a:off x="6382512" y="3621024"/>
            <a:ext cx="4837176" cy="512064"/>
          </a:xfrm>
          <a:prstGeom prst="rect">
            <a:avLst/>
          </a:prstGeom>
          <a:noFill/>
          <a:ln/>
        </p:spPr>
        <p:txBody>
          <a:bodyPr wrap="square" lIns="0" tIns="0" rIns="0" bIns="0" rtlCol="0" anchor="t"/>
          <a:lstStyle/>
          <a:p>
            <a:pPr marL="0" indent="0">
              <a:lnSpc>
                <a:spcPct val="112000"/>
              </a:lnSpc>
              <a:buNone/>
            </a:pPr>
            <a:r>
              <a:rPr lang="en-US" sz="1200" dirty="0">
                <a:solidFill>
                  <a:srgbClr val="16282A"/>
                </a:solidFill>
                <a:latin typeface="Calibri" pitchFamily="34" charset="0"/>
                <a:ea typeface="Calibri" pitchFamily="34" charset="-122"/>
                <a:cs typeface="Calibri" pitchFamily="34" charset="-120"/>
              </a:rPr>
              <a:t>Feature engineering was based on domain knowledge, which may have missed some important clinical interactions.</a:t>
            </a:r>
            <a:endParaRPr lang="en-US" sz="1200" dirty="0"/>
          </a:p>
        </p:txBody>
      </p:sp>
      <p:sp>
        <p:nvSpPr>
          <p:cNvPr id="29" name="Shape 22"/>
          <p:cNvSpPr/>
          <p:nvPr/>
        </p:nvSpPr>
        <p:spPr>
          <a:xfrm>
            <a:off x="502920" y="4370832"/>
            <a:ext cx="5349240" cy="1298448"/>
          </a:xfrm>
          <a:prstGeom prst="roundRect">
            <a:avLst>
              <a:gd name="adj" fmla="val 6338"/>
            </a:avLst>
          </a:prstGeom>
          <a:solidFill>
            <a:srgbClr val="FFFFFF"/>
          </a:solidFill>
          <a:ln/>
          <a:effectLst>
            <a:outerShdw blurRad="114300" dist="38100" dir="5400000" algn="bl" rotWithShape="0">
              <a:srgbClr val="0B2E33">
                <a:alpha val="14000"/>
              </a:srgbClr>
            </a:outerShdw>
          </a:effectLst>
        </p:spPr>
      </p:sp>
      <p:sp>
        <p:nvSpPr>
          <p:cNvPr id="30" name="Shape 23"/>
          <p:cNvSpPr/>
          <p:nvPr/>
        </p:nvSpPr>
        <p:spPr>
          <a:xfrm>
            <a:off x="704088" y="4572000"/>
            <a:ext cx="420624" cy="420624"/>
          </a:xfrm>
          <a:prstGeom prst="ellipse">
            <a:avLst/>
          </a:prstGeom>
          <a:solidFill>
            <a:srgbClr val="E4572E"/>
          </a:solidFill>
          <a:ln/>
        </p:spPr>
      </p:sp>
      <p:pic>
        <p:nvPicPr>
          <p:cNvPr id="31" name="Image 5" descr="icons/lightbulb-white.png"/>
          <p:cNvPicPr>
            <a:picLocks noChangeAspect="1"/>
          </p:cNvPicPr>
          <p:nvPr/>
        </p:nvPicPr>
        <p:blipFill>
          <a:blip r:embed="rId8"/>
          <a:stretch>
            <a:fillRect/>
          </a:stretch>
        </p:blipFill>
        <p:spPr>
          <a:xfrm>
            <a:off x="813816" y="4681728"/>
            <a:ext cx="201168" cy="201168"/>
          </a:xfrm>
          <a:prstGeom prst="rect">
            <a:avLst/>
          </a:prstGeom>
        </p:spPr>
      </p:pic>
      <p:sp>
        <p:nvSpPr>
          <p:cNvPr id="32" name="Text 24"/>
          <p:cNvSpPr/>
          <p:nvPr/>
        </p:nvSpPr>
        <p:spPr>
          <a:xfrm>
            <a:off x="1252728" y="4535424"/>
            <a:ext cx="4434840" cy="457200"/>
          </a:xfrm>
          <a:prstGeom prst="rect">
            <a:avLst/>
          </a:prstGeom>
          <a:noFill/>
          <a:ln/>
        </p:spPr>
        <p:txBody>
          <a:bodyPr wrap="square" lIns="0" tIns="0" rIns="0" bIns="0" rtlCol="0" anchor="ctr"/>
          <a:lstStyle/>
          <a:p>
            <a:pPr marL="0" indent="0">
              <a:buNone/>
            </a:pPr>
            <a:r>
              <a:rPr lang="en-US" sz="1250" b="1" dirty="0">
                <a:solidFill>
                  <a:srgbClr val="0B2E33"/>
                </a:solidFill>
                <a:latin typeface="Cambria" pitchFamily="34" charset="0"/>
                <a:ea typeface="Cambria" pitchFamily="34" charset="-122"/>
                <a:cs typeface="Cambria" pitchFamily="34" charset="-120"/>
              </a:rPr>
              <a:t>XAI Applied to Best Model Only</a:t>
            </a:r>
            <a:endParaRPr lang="en-US" sz="1250" dirty="0"/>
          </a:p>
        </p:txBody>
      </p:sp>
      <p:sp>
        <p:nvSpPr>
          <p:cNvPr id="33" name="Text 25"/>
          <p:cNvSpPr/>
          <p:nvPr/>
        </p:nvSpPr>
        <p:spPr>
          <a:xfrm>
            <a:off x="758952" y="5084064"/>
            <a:ext cx="4837176" cy="512064"/>
          </a:xfrm>
          <a:prstGeom prst="rect">
            <a:avLst/>
          </a:prstGeom>
          <a:noFill/>
          <a:ln/>
        </p:spPr>
        <p:txBody>
          <a:bodyPr wrap="square" lIns="0" tIns="0" rIns="0" bIns="0" rtlCol="0" anchor="t"/>
          <a:lstStyle/>
          <a:p>
            <a:pPr marL="0" indent="0">
              <a:lnSpc>
                <a:spcPct val="112000"/>
              </a:lnSpc>
              <a:buNone/>
            </a:pPr>
            <a:r>
              <a:rPr lang="en-US" sz="1200" dirty="0">
                <a:solidFill>
                  <a:srgbClr val="16282A"/>
                </a:solidFill>
                <a:latin typeface="Calibri" pitchFamily="34" charset="0"/>
                <a:ea typeface="Calibri" pitchFamily="34" charset="-122"/>
                <a:cs typeface="Calibri" pitchFamily="34" charset="-120"/>
              </a:rPr>
              <a:t>SHAP and LIME were applied only to LightGBM, not comparatively across all seven trained models.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869680" y="-411480"/>
            <a:ext cx="3108960" cy="2194560"/>
          </a:xfrm>
          <a:prstGeom prst="rect">
            <a:avLst/>
          </a:prstGeom>
          <a:noFill/>
          <a:ln/>
        </p:spPr>
        <p:txBody>
          <a:bodyPr wrap="square" rtlCol="0" anchor="t"/>
          <a:lstStyle/>
          <a:p>
            <a:pPr marL="0" indent="0" algn="r">
              <a:buNone/>
            </a:pPr>
            <a:endParaRPr lang="en-US" sz="15000" dirty="0"/>
          </a:p>
        </p:txBody>
      </p:sp>
      <p:sp>
        <p:nvSpPr>
          <p:cNvPr id="3" name="Shape 1"/>
          <p:cNvSpPr/>
          <p:nvPr/>
        </p:nvSpPr>
        <p:spPr>
          <a:xfrm>
            <a:off x="502920" y="502920"/>
            <a:ext cx="603504" cy="603504"/>
          </a:xfrm>
          <a:prstGeom prst="ellipse">
            <a:avLst/>
          </a:prstGeom>
          <a:solidFill>
            <a:srgbClr val="0E7C7B"/>
          </a:solidFill>
          <a:ln/>
        </p:spPr>
      </p:sp>
      <p:pic>
        <p:nvPicPr>
          <p:cNvPr id="4" name="Image 0" descr="icons/rocket-white.png"/>
          <p:cNvPicPr>
            <a:picLocks noChangeAspect="1"/>
          </p:cNvPicPr>
          <p:nvPr/>
        </p:nvPicPr>
        <p:blipFill>
          <a:blip r:embed="rId3"/>
          <a:stretch>
            <a:fillRect/>
          </a:stretch>
        </p:blipFill>
        <p:spPr>
          <a:xfrm>
            <a:off x="649224" y="649224"/>
            <a:ext cx="310896" cy="310896"/>
          </a:xfrm>
          <a:prstGeom prst="rect">
            <a:avLst/>
          </a:prstGeom>
        </p:spPr>
      </p:pic>
      <p:sp>
        <p:nvSpPr>
          <p:cNvPr id="5" name="Text 2"/>
          <p:cNvSpPr/>
          <p:nvPr/>
        </p:nvSpPr>
        <p:spPr>
          <a:xfrm>
            <a:off x="1298448" y="457200"/>
            <a:ext cx="7315200" cy="274320"/>
          </a:xfrm>
          <a:prstGeom prst="rect">
            <a:avLst/>
          </a:prstGeom>
          <a:noFill/>
          <a:ln/>
        </p:spPr>
        <p:txBody>
          <a:bodyPr wrap="square" lIns="0" tIns="0" rIns="0" bIns="0" rtlCol="0" anchor="ctr"/>
          <a:lstStyle/>
          <a:p>
            <a:pPr marL="0" indent="0">
              <a:buNone/>
            </a:pPr>
            <a:endParaRPr lang="en-US" sz="1100" dirty="0"/>
          </a:p>
        </p:txBody>
      </p:sp>
      <p:sp>
        <p:nvSpPr>
          <p:cNvPr id="6" name="Text 3"/>
          <p:cNvSpPr/>
          <p:nvPr/>
        </p:nvSpPr>
        <p:spPr>
          <a:xfrm>
            <a:off x="1298448" y="526934"/>
            <a:ext cx="8778240" cy="566928"/>
          </a:xfrm>
          <a:prstGeom prst="rect">
            <a:avLst/>
          </a:prstGeom>
          <a:noFill/>
          <a:ln/>
        </p:spPr>
        <p:txBody>
          <a:bodyPr wrap="square" lIns="0" tIns="0" rIns="0" bIns="0" rtlCol="0" anchor="ctr"/>
          <a:lstStyle/>
          <a:p>
            <a:pPr marL="0" indent="0">
              <a:buNone/>
            </a:pPr>
            <a:r>
              <a:rPr lang="en-US" sz="3000" b="1" dirty="0">
                <a:solidFill>
                  <a:srgbClr val="0B2E33"/>
                </a:solidFill>
                <a:latin typeface="Cambria" pitchFamily="34" charset="0"/>
                <a:ea typeface="Cambria" pitchFamily="34" charset="-122"/>
                <a:cs typeface="Cambria" pitchFamily="34" charset="-120"/>
              </a:rPr>
              <a:t>Future Work</a:t>
            </a:r>
            <a:endParaRPr lang="en-US" sz="3000" dirty="0"/>
          </a:p>
        </p:txBody>
      </p:sp>
      <p:sp>
        <p:nvSpPr>
          <p:cNvPr id="7" name="Text 4"/>
          <p:cNvSpPr/>
          <p:nvPr/>
        </p:nvSpPr>
        <p:spPr>
          <a:xfrm>
            <a:off x="502920" y="6547104"/>
            <a:ext cx="8229600" cy="256032"/>
          </a:xfrm>
          <a:prstGeom prst="rect">
            <a:avLst/>
          </a:prstGeom>
          <a:noFill/>
          <a:ln/>
        </p:spPr>
        <p:txBody>
          <a:bodyPr wrap="square" lIns="0" tIns="0" rIns="0" bIns="0" rtlCol="0" anchor="ctr"/>
          <a:lstStyle/>
          <a:p>
            <a:pPr marL="0" indent="0">
              <a:buNone/>
            </a:pPr>
            <a:endParaRPr lang="en-US" sz="900" dirty="0"/>
          </a:p>
        </p:txBody>
      </p:sp>
      <p:sp>
        <p:nvSpPr>
          <p:cNvPr id="8" name="Text 5"/>
          <p:cNvSpPr/>
          <p:nvPr/>
        </p:nvSpPr>
        <p:spPr>
          <a:xfrm>
            <a:off x="5359908" y="6498336"/>
            <a:ext cx="960120" cy="256032"/>
          </a:xfrm>
          <a:prstGeom prst="rect">
            <a:avLst/>
          </a:prstGeom>
          <a:noFill/>
          <a:ln/>
        </p:spPr>
        <p:txBody>
          <a:bodyPr wrap="square" lIns="0" tIns="0" rIns="0" bIns="0" rtlCol="0" anchor="ctr"/>
          <a:lstStyle/>
          <a:p>
            <a:pPr marL="0" indent="0" algn="r">
              <a:buNone/>
            </a:pPr>
            <a:r>
              <a:rPr lang="en-US" sz="1200" dirty="0">
                <a:solidFill>
                  <a:srgbClr val="5C7A7D"/>
                </a:solidFill>
                <a:latin typeface="Calibri" pitchFamily="34" charset="0"/>
                <a:ea typeface="Calibri" pitchFamily="34" charset="-122"/>
                <a:cs typeface="Calibri" pitchFamily="34" charset="-120"/>
              </a:rPr>
              <a:t>12/ 15</a:t>
            </a:r>
            <a:endParaRPr lang="en-US" sz="1200" dirty="0"/>
          </a:p>
        </p:txBody>
      </p:sp>
      <p:sp>
        <p:nvSpPr>
          <p:cNvPr id="9" name="Text 6"/>
          <p:cNvSpPr/>
          <p:nvPr/>
        </p:nvSpPr>
        <p:spPr>
          <a:xfrm>
            <a:off x="548640" y="1508760"/>
            <a:ext cx="6583680" cy="4526280"/>
          </a:xfrm>
          <a:prstGeom prst="rect">
            <a:avLst/>
          </a:prstGeom>
          <a:noFill/>
          <a:ln/>
        </p:spPr>
        <p:txBody>
          <a:bodyPr wrap="square" lIns="0" tIns="0" rIns="0" bIns="0" rtlCol="0" anchor="t"/>
          <a:lstStyle/>
          <a:p>
            <a:pPr marL="228600" indent="-228600">
              <a:lnSpc>
                <a:spcPct val="118000"/>
              </a:lnSpc>
              <a:spcAft>
                <a:spcPts val="1300"/>
              </a:spcAft>
              <a:buSzPct val="100000"/>
              <a:buChar char="●"/>
            </a:pPr>
            <a:endParaRPr lang="en-US" sz="1300" dirty="0"/>
          </a:p>
        </p:txBody>
      </p:sp>
      <p:pic>
        <p:nvPicPr>
          <p:cNvPr id="11" name="Image 1" descr="icons/rocket-white.png"/>
          <p:cNvPicPr>
            <a:picLocks noChangeAspect="1"/>
          </p:cNvPicPr>
          <p:nvPr/>
        </p:nvPicPr>
        <p:blipFill>
          <a:blip r:embed="rId3"/>
          <a:stretch>
            <a:fillRect/>
          </a:stretch>
        </p:blipFill>
        <p:spPr>
          <a:xfrm>
            <a:off x="7680960" y="1945446"/>
            <a:ext cx="457200" cy="457200"/>
          </a:xfrm>
          <a:prstGeom prst="rect">
            <a:avLst/>
          </a:prstGeom>
        </p:spPr>
      </p:pic>
      <p:sp>
        <p:nvSpPr>
          <p:cNvPr id="12" name="Text 8"/>
          <p:cNvSpPr/>
          <p:nvPr/>
        </p:nvSpPr>
        <p:spPr>
          <a:xfrm>
            <a:off x="7680960" y="2494086"/>
            <a:ext cx="3749040" cy="868680"/>
          </a:xfrm>
          <a:prstGeom prst="rect">
            <a:avLst/>
          </a:prstGeom>
          <a:noFill/>
          <a:ln/>
        </p:spPr>
        <p:txBody>
          <a:bodyPr wrap="square" lIns="0" tIns="0" rIns="0" bIns="0" rtlCol="0" anchor="ctr"/>
          <a:lstStyle/>
          <a:p>
            <a:pPr marL="0" indent="0">
              <a:lnSpc>
                <a:spcPct val="115000"/>
              </a:lnSpc>
              <a:buNone/>
            </a:pPr>
            <a:r>
              <a:rPr lang="en-US" sz="1800" b="1" dirty="0">
                <a:solidFill>
                  <a:srgbClr val="FFFFFF"/>
                </a:solidFill>
                <a:latin typeface="Cambria" pitchFamily="34" charset="0"/>
                <a:ea typeface="Cambria" pitchFamily="34" charset="-122"/>
                <a:cs typeface="Cambria" pitchFamily="34" charset="-120"/>
              </a:rPr>
              <a:t>Toward Real-World</a:t>
            </a:r>
            <a:endParaRPr lang="en-US" sz="1800" dirty="0"/>
          </a:p>
          <a:p>
            <a:pPr marL="0" indent="0">
              <a:lnSpc>
                <a:spcPct val="115000"/>
              </a:lnSpc>
              <a:buNone/>
            </a:pPr>
            <a:r>
              <a:rPr lang="en-US" sz="1800" b="1" dirty="0">
                <a:solidFill>
                  <a:srgbClr val="FFFFFF"/>
                </a:solidFill>
                <a:latin typeface="Cambria" pitchFamily="34" charset="0"/>
                <a:ea typeface="Cambria" pitchFamily="34" charset="-122"/>
                <a:cs typeface="Cambria" pitchFamily="34" charset="-120"/>
              </a:rPr>
              <a:t>Clinical Deployment</a:t>
            </a:r>
            <a:endParaRPr lang="en-US" sz="1800" dirty="0"/>
          </a:p>
        </p:txBody>
      </p:sp>
      <p:sp>
        <p:nvSpPr>
          <p:cNvPr id="16" name="Shape 7">
            <a:extLst>
              <a:ext uri="{FF2B5EF4-FFF2-40B4-BE49-F238E27FC236}">
                <a16:creationId xmlns:a16="http://schemas.microsoft.com/office/drawing/2014/main" id="{9653D085-DA89-F731-62E5-EB57537780D5}"/>
              </a:ext>
            </a:extLst>
          </p:cNvPr>
          <p:cNvSpPr/>
          <p:nvPr/>
        </p:nvSpPr>
        <p:spPr>
          <a:xfrm>
            <a:off x="704088" y="1645920"/>
            <a:ext cx="420624" cy="420624"/>
          </a:xfrm>
          <a:prstGeom prst="ellipse">
            <a:avLst/>
          </a:prstGeom>
          <a:solidFill>
            <a:srgbClr val="E4572E"/>
          </a:solidFill>
          <a:ln/>
        </p:spPr>
      </p:sp>
      <p:pic>
        <p:nvPicPr>
          <p:cNvPr id="18" name="Image 1" descr="icons/database-white.png">
            <a:extLst>
              <a:ext uri="{FF2B5EF4-FFF2-40B4-BE49-F238E27FC236}">
                <a16:creationId xmlns:a16="http://schemas.microsoft.com/office/drawing/2014/main" id="{462AD8B9-5F4E-2226-488E-C86BF4E9BACD}"/>
              </a:ext>
            </a:extLst>
          </p:cNvPr>
          <p:cNvPicPr>
            <a:picLocks noChangeAspect="1"/>
          </p:cNvPicPr>
          <p:nvPr/>
        </p:nvPicPr>
        <p:blipFill>
          <a:blip r:embed="rId4"/>
          <a:stretch>
            <a:fillRect/>
          </a:stretch>
        </p:blipFill>
        <p:spPr>
          <a:xfrm>
            <a:off x="813816" y="1755648"/>
            <a:ext cx="201168" cy="201168"/>
          </a:xfrm>
          <a:prstGeom prst="rect">
            <a:avLst/>
          </a:prstGeom>
        </p:spPr>
      </p:pic>
      <p:sp>
        <p:nvSpPr>
          <p:cNvPr id="20" name="Text 8">
            <a:extLst>
              <a:ext uri="{FF2B5EF4-FFF2-40B4-BE49-F238E27FC236}">
                <a16:creationId xmlns:a16="http://schemas.microsoft.com/office/drawing/2014/main" id="{AEA6B57A-7505-4D47-2EA2-008AF9FD56F6}"/>
              </a:ext>
            </a:extLst>
          </p:cNvPr>
          <p:cNvSpPr/>
          <p:nvPr/>
        </p:nvSpPr>
        <p:spPr>
          <a:xfrm>
            <a:off x="1252728" y="1609344"/>
            <a:ext cx="4434840" cy="457200"/>
          </a:xfrm>
          <a:prstGeom prst="rect">
            <a:avLst/>
          </a:prstGeom>
          <a:noFill/>
          <a:ln/>
        </p:spPr>
        <p:txBody>
          <a:bodyPr wrap="square" lIns="0" tIns="0" rIns="0" bIns="0" rtlCol="0" anchor="ctr"/>
          <a:lstStyle/>
          <a:p>
            <a:pPr marL="0" indent="0">
              <a:buNone/>
            </a:pPr>
            <a:r>
              <a:rPr lang="en-US" sz="1250" b="1" dirty="0">
                <a:solidFill>
                  <a:srgbClr val="0B2E33"/>
                </a:solidFill>
                <a:latin typeface="Cambria" pitchFamily="34" charset="0"/>
                <a:ea typeface="Cambria" pitchFamily="34" charset="-122"/>
                <a:cs typeface="Cambria" pitchFamily="34" charset="-120"/>
              </a:rPr>
              <a:t>Larger and Diverse Dataset</a:t>
            </a:r>
            <a:endParaRPr lang="en-US" sz="1250" dirty="0"/>
          </a:p>
        </p:txBody>
      </p:sp>
      <p:sp>
        <p:nvSpPr>
          <p:cNvPr id="22" name="Text 9">
            <a:extLst>
              <a:ext uri="{FF2B5EF4-FFF2-40B4-BE49-F238E27FC236}">
                <a16:creationId xmlns:a16="http://schemas.microsoft.com/office/drawing/2014/main" id="{A36E1D3C-0CA5-1530-9D96-3B77AD209F2A}"/>
              </a:ext>
            </a:extLst>
          </p:cNvPr>
          <p:cNvSpPr/>
          <p:nvPr/>
        </p:nvSpPr>
        <p:spPr>
          <a:xfrm>
            <a:off x="758952" y="2157984"/>
            <a:ext cx="4837176" cy="512064"/>
          </a:xfrm>
          <a:prstGeom prst="rect">
            <a:avLst/>
          </a:prstGeom>
          <a:noFill/>
          <a:ln/>
        </p:spPr>
        <p:txBody>
          <a:bodyPr wrap="square" lIns="0" tIns="0" rIns="0" bIns="0" rtlCol="0" anchor="t"/>
          <a:lstStyle/>
          <a:p>
            <a:pPr marL="0" indent="0">
              <a:lnSpc>
                <a:spcPct val="112000"/>
              </a:lnSpc>
              <a:buNone/>
            </a:pPr>
            <a:r>
              <a:rPr lang="en-US" sz="980" dirty="0">
                <a:solidFill>
                  <a:srgbClr val="16282A"/>
                </a:solidFill>
                <a:latin typeface="Calibri" pitchFamily="34" charset="0"/>
                <a:ea typeface="Calibri" pitchFamily="34" charset="-122"/>
                <a:cs typeface="Calibri" pitchFamily="34" charset="-120"/>
              </a:rPr>
              <a:t>Future research should use larger multi-center datasets from different countries and demographics to improve model generalizability.</a:t>
            </a:r>
            <a:endParaRPr lang="en-US" sz="980" dirty="0"/>
          </a:p>
        </p:txBody>
      </p:sp>
      <p:sp>
        <p:nvSpPr>
          <p:cNvPr id="24" name="Shape 10">
            <a:extLst>
              <a:ext uri="{FF2B5EF4-FFF2-40B4-BE49-F238E27FC236}">
                <a16:creationId xmlns:a16="http://schemas.microsoft.com/office/drawing/2014/main" id="{DA65D04D-666B-7B54-7834-E9E42830A2D7}"/>
              </a:ext>
            </a:extLst>
          </p:cNvPr>
          <p:cNvSpPr/>
          <p:nvPr/>
        </p:nvSpPr>
        <p:spPr>
          <a:xfrm>
            <a:off x="6126480" y="1607118"/>
            <a:ext cx="5349240" cy="1298448"/>
          </a:xfrm>
          <a:prstGeom prst="roundRect">
            <a:avLst>
              <a:gd name="adj" fmla="val 6338"/>
            </a:avLst>
          </a:prstGeom>
          <a:solidFill>
            <a:srgbClr val="FFFFFF"/>
          </a:solidFill>
          <a:ln/>
          <a:effectLst>
            <a:outerShdw blurRad="114300" dist="38100" dir="5400000" algn="bl" rotWithShape="0">
              <a:srgbClr val="0B2E33">
                <a:alpha val="14000"/>
              </a:srgbClr>
            </a:outerShdw>
          </a:effectLst>
        </p:spPr>
      </p:sp>
      <p:sp>
        <p:nvSpPr>
          <p:cNvPr id="26" name="Shape 11">
            <a:extLst>
              <a:ext uri="{FF2B5EF4-FFF2-40B4-BE49-F238E27FC236}">
                <a16:creationId xmlns:a16="http://schemas.microsoft.com/office/drawing/2014/main" id="{57891EDC-A1ED-419C-1E53-AF67EA7DF52D}"/>
              </a:ext>
            </a:extLst>
          </p:cNvPr>
          <p:cNvSpPr/>
          <p:nvPr/>
        </p:nvSpPr>
        <p:spPr>
          <a:xfrm>
            <a:off x="6327648" y="1808286"/>
            <a:ext cx="420624" cy="420624"/>
          </a:xfrm>
          <a:prstGeom prst="ellipse">
            <a:avLst/>
          </a:prstGeom>
          <a:solidFill>
            <a:srgbClr val="E4572E"/>
          </a:solidFill>
          <a:ln/>
        </p:spPr>
      </p:sp>
      <p:pic>
        <p:nvPicPr>
          <p:cNvPr id="28" name="Image 2" descr="icons/sitemap-white.png">
            <a:extLst>
              <a:ext uri="{FF2B5EF4-FFF2-40B4-BE49-F238E27FC236}">
                <a16:creationId xmlns:a16="http://schemas.microsoft.com/office/drawing/2014/main" id="{EEEC1082-C205-BC74-D440-82B587252C54}"/>
              </a:ext>
            </a:extLst>
          </p:cNvPr>
          <p:cNvPicPr>
            <a:picLocks noChangeAspect="1"/>
          </p:cNvPicPr>
          <p:nvPr/>
        </p:nvPicPr>
        <p:blipFill>
          <a:blip r:embed="rId5"/>
          <a:stretch>
            <a:fillRect/>
          </a:stretch>
        </p:blipFill>
        <p:spPr>
          <a:xfrm>
            <a:off x="6437376" y="1918014"/>
            <a:ext cx="201168" cy="201168"/>
          </a:xfrm>
          <a:prstGeom prst="rect">
            <a:avLst/>
          </a:prstGeom>
        </p:spPr>
      </p:pic>
      <p:sp>
        <p:nvSpPr>
          <p:cNvPr id="30" name="Text 12">
            <a:extLst>
              <a:ext uri="{FF2B5EF4-FFF2-40B4-BE49-F238E27FC236}">
                <a16:creationId xmlns:a16="http://schemas.microsoft.com/office/drawing/2014/main" id="{5B8E1C32-1FCA-600E-451C-21DDF88E140A}"/>
              </a:ext>
            </a:extLst>
          </p:cNvPr>
          <p:cNvSpPr/>
          <p:nvPr/>
        </p:nvSpPr>
        <p:spPr>
          <a:xfrm>
            <a:off x="6876288" y="1771710"/>
            <a:ext cx="4434840" cy="457200"/>
          </a:xfrm>
          <a:prstGeom prst="rect">
            <a:avLst/>
          </a:prstGeom>
          <a:noFill/>
          <a:ln/>
        </p:spPr>
        <p:txBody>
          <a:bodyPr wrap="square" lIns="0" tIns="0" rIns="0" bIns="0" rtlCol="0" anchor="ctr"/>
          <a:lstStyle/>
          <a:p>
            <a:pPr marL="0" indent="0">
              <a:buNone/>
            </a:pPr>
            <a:r>
              <a:rPr lang="en-US" sz="1250" b="1" dirty="0">
                <a:solidFill>
                  <a:srgbClr val="0B2E33"/>
                </a:solidFill>
                <a:latin typeface="Cambria" pitchFamily="34" charset="0"/>
                <a:ea typeface="Cambria" pitchFamily="34" charset="-122"/>
                <a:cs typeface="Cambria" pitchFamily="34" charset="-120"/>
              </a:rPr>
              <a:t>Multimodal Data Integration</a:t>
            </a:r>
            <a:endParaRPr lang="en-US" sz="1250" dirty="0"/>
          </a:p>
        </p:txBody>
      </p:sp>
      <p:sp>
        <p:nvSpPr>
          <p:cNvPr id="32" name="Text 13">
            <a:extLst>
              <a:ext uri="{FF2B5EF4-FFF2-40B4-BE49-F238E27FC236}">
                <a16:creationId xmlns:a16="http://schemas.microsoft.com/office/drawing/2014/main" id="{2F6B9B5A-33C7-18F3-C6BE-D0575AC5C299}"/>
              </a:ext>
            </a:extLst>
          </p:cNvPr>
          <p:cNvSpPr/>
          <p:nvPr/>
        </p:nvSpPr>
        <p:spPr>
          <a:xfrm>
            <a:off x="6382512" y="2320350"/>
            <a:ext cx="4837176" cy="512064"/>
          </a:xfrm>
          <a:prstGeom prst="rect">
            <a:avLst/>
          </a:prstGeom>
          <a:noFill/>
          <a:ln/>
        </p:spPr>
        <p:txBody>
          <a:bodyPr wrap="square" lIns="0" tIns="0" rIns="0" bIns="0" rtlCol="0" anchor="t"/>
          <a:lstStyle/>
          <a:p>
            <a:pPr marL="0" indent="0">
              <a:lnSpc>
                <a:spcPct val="112000"/>
              </a:lnSpc>
              <a:buNone/>
            </a:pPr>
            <a:r>
              <a:rPr lang="en-US" sz="1200" dirty="0">
                <a:solidFill>
                  <a:srgbClr val="16282A"/>
                </a:solidFill>
                <a:latin typeface="Calibri" pitchFamily="34" charset="0"/>
                <a:ea typeface="Calibri" pitchFamily="34" charset="-122"/>
                <a:cs typeface="Calibri" pitchFamily="34" charset="-120"/>
              </a:rPr>
              <a:t>Incorporate additional data types such as ECG signals, heart scans, and MRI to provide a more comprehensive heart failure prediction.</a:t>
            </a:r>
            <a:endParaRPr lang="en-US" sz="1200" dirty="0"/>
          </a:p>
        </p:txBody>
      </p:sp>
      <p:sp>
        <p:nvSpPr>
          <p:cNvPr id="34" name="Shape 15">
            <a:extLst>
              <a:ext uri="{FF2B5EF4-FFF2-40B4-BE49-F238E27FC236}">
                <a16:creationId xmlns:a16="http://schemas.microsoft.com/office/drawing/2014/main" id="{C93A190B-28F0-5E2E-11AD-F79BF2346886}"/>
              </a:ext>
            </a:extLst>
          </p:cNvPr>
          <p:cNvSpPr/>
          <p:nvPr/>
        </p:nvSpPr>
        <p:spPr>
          <a:xfrm>
            <a:off x="704088" y="3108960"/>
            <a:ext cx="420624" cy="420624"/>
          </a:xfrm>
          <a:prstGeom prst="ellipse">
            <a:avLst/>
          </a:prstGeom>
          <a:solidFill>
            <a:srgbClr val="E4572E"/>
          </a:solidFill>
          <a:ln/>
        </p:spPr>
      </p:sp>
      <p:pic>
        <p:nvPicPr>
          <p:cNvPr id="36" name="Image 3" descr="icons/robot-white.png">
            <a:extLst>
              <a:ext uri="{FF2B5EF4-FFF2-40B4-BE49-F238E27FC236}">
                <a16:creationId xmlns:a16="http://schemas.microsoft.com/office/drawing/2014/main" id="{C38BFB4C-66C8-133F-F22E-9BABCCB47C87}"/>
              </a:ext>
            </a:extLst>
          </p:cNvPr>
          <p:cNvPicPr>
            <a:picLocks noChangeAspect="1"/>
          </p:cNvPicPr>
          <p:nvPr/>
        </p:nvPicPr>
        <p:blipFill>
          <a:blip r:embed="rId6"/>
          <a:stretch>
            <a:fillRect/>
          </a:stretch>
        </p:blipFill>
        <p:spPr>
          <a:xfrm>
            <a:off x="813816" y="3218688"/>
            <a:ext cx="201168" cy="201168"/>
          </a:xfrm>
          <a:prstGeom prst="rect">
            <a:avLst/>
          </a:prstGeom>
        </p:spPr>
      </p:pic>
      <p:sp>
        <p:nvSpPr>
          <p:cNvPr id="38" name="Text 16">
            <a:extLst>
              <a:ext uri="{FF2B5EF4-FFF2-40B4-BE49-F238E27FC236}">
                <a16:creationId xmlns:a16="http://schemas.microsoft.com/office/drawing/2014/main" id="{E484DAA1-50A2-0C0F-31F5-B894816E6D5B}"/>
              </a:ext>
            </a:extLst>
          </p:cNvPr>
          <p:cNvSpPr/>
          <p:nvPr/>
        </p:nvSpPr>
        <p:spPr>
          <a:xfrm>
            <a:off x="1252728" y="3072384"/>
            <a:ext cx="4434840" cy="457200"/>
          </a:xfrm>
          <a:prstGeom prst="rect">
            <a:avLst/>
          </a:prstGeom>
          <a:noFill/>
          <a:ln/>
        </p:spPr>
        <p:txBody>
          <a:bodyPr wrap="square" lIns="0" tIns="0" rIns="0" bIns="0" rtlCol="0" anchor="ctr"/>
          <a:lstStyle/>
          <a:p>
            <a:pPr marL="0" indent="0">
              <a:buNone/>
            </a:pPr>
            <a:r>
              <a:rPr lang="en-US" sz="1250" b="1" dirty="0">
                <a:solidFill>
                  <a:srgbClr val="0B2E33"/>
                </a:solidFill>
                <a:latin typeface="Cambria" pitchFamily="34" charset="0"/>
                <a:ea typeface="Cambria" pitchFamily="34" charset="-122"/>
                <a:cs typeface="Cambria" pitchFamily="34" charset="-120"/>
              </a:rPr>
              <a:t>Deep Learning Approaches</a:t>
            </a:r>
            <a:endParaRPr lang="en-US" sz="1250" dirty="0"/>
          </a:p>
        </p:txBody>
      </p:sp>
      <p:sp>
        <p:nvSpPr>
          <p:cNvPr id="40" name="Text 17">
            <a:extLst>
              <a:ext uri="{FF2B5EF4-FFF2-40B4-BE49-F238E27FC236}">
                <a16:creationId xmlns:a16="http://schemas.microsoft.com/office/drawing/2014/main" id="{D2C1A228-7C90-FF09-2843-59E14BD0207C}"/>
              </a:ext>
            </a:extLst>
          </p:cNvPr>
          <p:cNvSpPr/>
          <p:nvPr/>
        </p:nvSpPr>
        <p:spPr>
          <a:xfrm>
            <a:off x="758952" y="3621024"/>
            <a:ext cx="4837176" cy="512064"/>
          </a:xfrm>
          <a:prstGeom prst="rect">
            <a:avLst/>
          </a:prstGeom>
          <a:noFill/>
          <a:ln/>
        </p:spPr>
        <p:txBody>
          <a:bodyPr wrap="square" lIns="0" tIns="0" rIns="0" bIns="0" rtlCol="0" anchor="t"/>
          <a:lstStyle/>
          <a:p>
            <a:pPr marL="0" indent="0">
              <a:lnSpc>
                <a:spcPct val="112000"/>
              </a:lnSpc>
              <a:buNone/>
            </a:pPr>
            <a:r>
              <a:rPr lang="en-US" sz="980" dirty="0">
                <a:solidFill>
                  <a:srgbClr val="16282A"/>
                </a:solidFill>
                <a:latin typeface="Calibri" pitchFamily="34" charset="0"/>
                <a:ea typeface="Calibri" pitchFamily="34" charset="-122"/>
                <a:cs typeface="Calibri" pitchFamily="34" charset="-120"/>
              </a:rPr>
              <a:t>Explore advanced deep learning models such as Transformer and Graph Neural Networks for improved prediction accuracy.</a:t>
            </a:r>
            <a:endParaRPr lang="en-US" sz="980" dirty="0"/>
          </a:p>
        </p:txBody>
      </p:sp>
      <p:sp>
        <p:nvSpPr>
          <p:cNvPr id="42" name="Shape 18">
            <a:extLst>
              <a:ext uri="{FF2B5EF4-FFF2-40B4-BE49-F238E27FC236}">
                <a16:creationId xmlns:a16="http://schemas.microsoft.com/office/drawing/2014/main" id="{ED4FF68F-9273-66AD-8828-0FA3498452B8}"/>
              </a:ext>
            </a:extLst>
          </p:cNvPr>
          <p:cNvSpPr/>
          <p:nvPr/>
        </p:nvSpPr>
        <p:spPr>
          <a:xfrm>
            <a:off x="6126480" y="3070158"/>
            <a:ext cx="5349240" cy="1298448"/>
          </a:xfrm>
          <a:prstGeom prst="roundRect">
            <a:avLst>
              <a:gd name="adj" fmla="val 6338"/>
            </a:avLst>
          </a:prstGeom>
          <a:solidFill>
            <a:srgbClr val="FFFFFF"/>
          </a:solidFill>
          <a:ln/>
          <a:effectLst>
            <a:outerShdw blurRad="114300" dist="38100" dir="5400000" algn="bl" rotWithShape="0">
              <a:srgbClr val="0B2E33">
                <a:alpha val="14000"/>
              </a:srgbClr>
            </a:outerShdw>
          </a:effectLst>
        </p:spPr>
      </p:sp>
      <p:sp>
        <p:nvSpPr>
          <p:cNvPr id="44" name="Shape 19">
            <a:extLst>
              <a:ext uri="{FF2B5EF4-FFF2-40B4-BE49-F238E27FC236}">
                <a16:creationId xmlns:a16="http://schemas.microsoft.com/office/drawing/2014/main" id="{8C4AEDB6-1D07-9032-0DAF-34D3F501695D}"/>
              </a:ext>
            </a:extLst>
          </p:cNvPr>
          <p:cNvSpPr/>
          <p:nvPr/>
        </p:nvSpPr>
        <p:spPr>
          <a:xfrm>
            <a:off x="6327648" y="3271326"/>
            <a:ext cx="420624" cy="420624"/>
          </a:xfrm>
          <a:prstGeom prst="ellipse">
            <a:avLst/>
          </a:prstGeom>
          <a:solidFill>
            <a:srgbClr val="E4572E"/>
          </a:solidFill>
          <a:ln/>
        </p:spPr>
      </p:sp>
      <p:pic>
        <p:nvPicPr>
          <p:cNvPr id="46" name="Image 4" descr="icons/layer-group-white.png">
            <a:extLst>
              <a:ext uri="{FF2B5EF4-FFF2-40B4-BE49-F238E27FC236}">
                <a16:creationId xmlns:a16="http://schemas.microsoft.com/office/drawing/2014/main" id="{B7F2E09C-6FCE-1DE2-E0D4-2B0F1969D48A}"/>
              </a:ext>
            </a:extLst>
          </p:cNvPr>
          <p:cNvPicPr>
            <a:picLocks noChangeAspect="1"/>
          </p:cNvPicPr>
          <p:nvPr/>
        </p:nvPicPr>
        <p:blipFill>
          <a:blip r:embed="rId7"/>
          <a:stretch>
            <a:fillRect/>
          </a:stretch>
        </p:blipFill>
        <p:spPr>
          <a:xfrm>
            <a:off x="6437376" y="3381054"/>
            <a:ext cx="201168" cy="201168"/>
          </a:xfrm>
          <a:prstGeom prst="rect">
            <a:avLst/>
          </a:prstGeom>
        </p:spPr>
      </p:pic>
      <p:sp>
        <p:nvSpPr>
          <p:cNvPr id="48" name="Text 20">
            <a:extLst>
              <a:ext uri="{FF2B5EF4-FFF2-40B4-BE49-F238E27FC236}">
                <a16:creationId xmlns:a16="http://schemas.microsoft.com/office/drawing/2014/main" id="{99D914E9-4519-2820-2489-D01B41D5CC89}"/>
              </a:ext>
            </a:extLst>
          </p:cNvPr>
          <p:cNvSpPr/>
          <p:nvPr/>
        </p:nvSpPr>
        <p:spPr>
          <a:xfrm>
            <a:off x="6876288" y="3234750"/>
            <a:ext cx="4434840" cy="457200"/>
          </a:xfrm>
          <a:prstGeom prst="rect">
            <a:avLst/>
          </a:prstGeom>
          <a:noFill/>
          <a:ln/>
        </p:spPr>
        <p:txBody>
          <a:bodyPr wrap="square" lIns="0" tIns="0" rIns="0" bIns="0" rtlCol="0" anchor="ctr"/>
          <a:lstStyle/>
          <a:p>
            <a:pPr marL="0" indent="0">
              <a:buNone/>
            </a:pPr>
            <a:r>
              <a:rPr lang="en-US" sz="1250" b="1" dirty="0">
                <a:solidFill>
                  <a:srgbClr val="0B2E33"/>
                </a:solidFill>
                <a:latin typeface="Cambria" pitchFamily="34" charset="0"/>
                <a:ea typeface="Cambria" pitchFamily="34" charset="-122"/>
                <a:cs typeface="Cambria" pitchFamily="34" charset="-120"/>
              </a:rPr>
              <a:t>Real-Time Clinical Deployment</a:t>
            </a:r>
            <a:endParaRPr lang="en-US" sz="1250" dirty="0"/>
          </a:p>
        </p:txBody>
      </p:sp>
      <p:sp>
        <p:nvSpPr>
          <p:cNvPr id="50" name="Text 21">
            <a:extLst>
              <a:ext uri="{FF2B5EF4-FFF2-40B4-BE49-F238E27FC236}">
                <a16:creationId xmlns:a16="http://schemas.microsoft.com/office/drawing/2014/main" id="{58735DD6-20CE-2FEA-0179-1BDB1989D4DA}"/>
              </a:ext>
            </a:extLst>
          </p:cNvPr>
          <p:cNvSpPr/>
          <p:nvPr/>
        </p:nvSpPr>
        <p:spPr>
          <a:xfrm>
            <a:off x="6382512" y="3783390"/>
            <a:ext cx="4837176" cy="512064"/>
          </a:xfrm>
          <a:prstGeom prst="rect">
            <a:avLst/>
          </a:prstGeom>
          <a:noFill/>
          <a:ln/>
        </p:spPr>
        <p:txBody>
          <a:bodyPr wrap="square" lIns="0" tIns="0" rIns="0" bIns="0" rtlCol="0" anchor="t"/>
          <a:lstStyle/>
          <a:p>
            <a:pPr marL="0" indent="0">
              <a:lnSpc>
                <a:spcPct val="112000"/>
              </a:lnSpc>
              <a:buNone/>
            </a:pPr>
            <a:r>
              <a:rPr lang="en-US" sz="1200" dirty="0">
                <a:solidFill>
                  <a:srgbClr val="16282A"/>
                </a:solidFill>
                <a:latin typeface="Calibri" pitchFamily="34" charset="0"/>
                <a:ea typeface="Calibri" pitchFamily="34" charset="-122"/>
                <a:cs typeface="Calibri" pitchFamily="34" charset="-120"/>
              </a:rPr>
              <a:t>Integrate the system with hospital information systems and electronic health records for real-time heart failure risk monitoring.</a:t>
            </a:r>
            <a:endParaRPr lang="en-US" sz="1200" dirty="0"/>
          </a:p>
        </p:txBody>
      </p:sp>
      <p:sp>
        <p:nvSpPr>
          <p:cNvPr id="52" name="Shape 23">
            <a:extLst>
              <a:ext uri="{FF2B5EF4-FFF2-40B4-BE49-F238E27FC236}">
                <a16:creationId xmlns:a16="http://schemas.microsoft.com/office/drawing/2014/main" id="{AA162DB5-1A5C-28DC-E684-D0A77B0D4CA1}"/>
              </a:ext>
            </a:extLst>
          </p:cNvPr>
          <p:cNvSpPr/>
          <p:nvPr/>
        </p:nvSpPr>
        <p:spPr>
          <a:xfrm>
            <a:off x="704088" y="4572000"/>
            <a:ext cx="420624" cy="420624"/>
          </a:xfrm>
          <a:prstGeom prst="ellipse">
            <a:avLst/>
          </a:prstGeom>
          <a:solidFill>
            <a:srgbClr val="E4572E"/>
          </a:solidFill>
          <a:ln/>
        </p:spPr>
      </p:sp>
      <p:pic>
        <p:nvPicPr>
          <p:cNvPr id="54" name="Image 5" descr="icons/lightbulb-white.png">
            <a:extLst>
              <a:ext uri="{FF2B5EF4-FFF2-40B4-BE49-F238E27FC236}">
                <a16:creationId xmlns:a16="http://schemas.microsoft.com/office/drawing/2014/main" id="{91313229-5A73-31CC-0C14-BD519563608B}"/>
              </a:ext>
            </a:extLst>
          </p:cNvPr>
          <p:cNvPicPr>
            <a:picLocks noChangeAspect="1"/>
          </p:cNvPicPr>
          <p:nvPr/>
        </p:nvPicPr>
        <p:blipFill>
          <a:blip r:embed="rId8"/>
          <a:stretch>
            <a:fillRect/>
          </a:stretch>
        </p:blipFill>
        <p:spPr>
          <a:xfrm>
            <a:off x="813816" y="4681728"/>
            <a:ext cx="201168" cy="201168"/>
          </a:xfrm>
          <a:prstGeom prst="rect">
            <a:avLst/>
          </a:prstGeom>
        </p:spPr>
      </p:pic>
      <p:sp>
        <p:nvSpPr>
          <p:cNvPr id="56" name="Text 24">
            <a:extLst>
              <a:ext uri="{FF2B5EF4-FFF2-40B4-BE49-F238E27FC236}">
                <a16:creationId xmlns:a16="http://schemas.microsoft.com/office/drawing/2014/main" id="{F2520291-3C6B-BFD9-06EF-CB7655F36AC1}"/>
              </a:ext>
            </a:extLst>
          </p:cNvPr>
          <p:cNvSpPr/>
          <p:nvPr/>
        </p:nvSpPr>
        <p:spPr>
          <a:xfrm>
            <a:off x="1234440" y="4585930"/>
            <a:ext cx="4434840" cy="457200"/>
          </a:xfrm>
          <a:prstGeom prst="rect">
            <a:avLst/>
          </a:prstGeom>
          <a:noFill/>
          <a:ln/>
        </p:spPr>
        <p:txBody>
          <a:bodyPr wrap="square" lIns="0" tIns="0" rIns="0" bIns="0" rtlCol="0" anchor="ctr"/>
          <a:lstStyle/>
          <a:p>
            <a:pPr marL="0" indent="0">
              <a:buNone/>
            </a:pPr>
            <a:r>
              <a:rPr lang="en-US" sz="1250" b="1" dirty="0">
                <a:solidFill>
                  <a:srgbClr val="0B2E33"/>
                </a:solidFill>
                <a:latin typeface="Cambria" pitchFamily="34" charset="0"/>
                <a:ea typeface="Cambria" pitchFamily="34" charset="-122"/>
                <a:cs typeface="Cambria" pitchFamily="34" charset="-120"/>
              </a:rPr>
              <a:t>Advanced XAI Techniques</a:t>
            </a:r>
            <a:endParaRPr lang="en-US" sz="1250" dirty="0"/>
          </a:p>
        </p:txBody>
      </p:sp>
      <p:sp>
        <p:nvSpPr>
          <p:cNvPr id="58" name="Text 25">
            <a:extLst>
              <a:ext uri="{FF2B5EF4-FFF2-40B4-BE49-F238E27FC236}">
                <a16:creationId xmlns:a16="http://schemas.microsoft.com/office/drawing/2014/main" id="{F535FA1C-F630-5E1C-47D3-05F84F927E44}"/>
              </a:ext>
            </a:extLst>
          </p:cNvPr>
          <p:cNvSpPr/>
          <p:nvPr/>
        </p:nvSpPr>
        <p:spPr>
          <a:xfrm>
            <a:off x="758952" y="5084064"/>
            <a:ext cx="4837176" cy="512064"/>
          </a:xfrm>
          <a:prstGeom prst="rect">
            <a:avLst/>
          </a:prstGeom>
          <a:noFill/>
          <a:ln/>
        </p:spPr>
        <p:txBody>
          <a:bodyPr wrap="square" lIns="0" tIns="0" rIns="0" bIns="0" rtlCol="0" anchor="t"/>
          <a:lstStyle/>
          <a:p>
            <a:pPr marL="0" indent="0">
              <a:lnSpc>
                <a:spcPct val="112000"/>
              </a:lnSpc>
              <a:buNone/>
            </a:pPr>
            <a:r>
              <a:rPr lang="en-US" sz="980" dirty="0">
                <a:solidFill>
                  <a:srgbClr val="16282A"/>
                </a:solidFill>
                <a:latin typeface="Calibri" pitchFamily="34" charset="0"/>
                <a:ea typeface="Calibri" pitchFamily="34" charset="-122"/>
                <a:cs typeface="Calibri" pitchFamily="34" charset="-120"/>
              </a:rPr>
              <a:t>Explore additional explainability methods such as Counterfactual Explanations and Integrated Gradients for more comprehensive model interpretability.</a:t>
            </a:r>
            <a:endParaRPr lang="en-US" sz="980" dirty="0"/>
          </a:p>
        </p:txBody>
      </p:sp>
      <p:sp>
        <p:nvSpPr>
          <p:cNvPr id="62" name="Shape 6">
            <a:extLst>
              <a:ext uri="{FF2B5EF4-FFF2-40B4-BE49-F238E27FC236}">
                <a16:creationId xmlns:a16="http://schemas.microsoft.com/office/drawing/2014/main" id="{D761CEDE-AD9D-F4A6-7854-E1EBB2135601}"/>
              </a:ext>
            </a:extLst>
          </p:cNvPr>
          <p:cNvSpPr/>
          <p:nvPr/>
        </p:nvSpPr>
        <p:spPr>
          <a:xfrm>
            <a:off x="655320" y="1597152"/>
            <a:ext cx="5349240" cy="1298448"/>
          </a:xfrm>
          <a:prstGeom prst="roundRect">
            <a:avLst>
              <a:gd name="adj" fmla="val 6338"/>
            </a:avLst>
          </a:prstGeom>
          <a:solidFill>
            <a:srgbClr val="FFFFFF"/>
          </a:solidFill>
          <a:ln/>
          <a:effectLst>
            <a:outerShdw blurRad="114300" dist="38100" dir="5400000" algn="bl" rotWithShape="0">
              <a:srgbClr val="0B2E33">
                <a:alpha val="14000"/>
              </a:srgbClr>
            </a:outerShdw>
          </a:effectLst>
        </p:spPr>
      </p:sp>
      <p:sp>
        <p:nvSpPr>
          <p:cNvPr id="64" name="Shape 7">
            <a:extLst>
              <a:ext uri="{FF2B5EF4-FFF2-40B4-BE49-F238E27FC236}">
                <a16:creationId xmlns:a16="http://schemas.microsoft.com/office/drawing/2014/main" id="{C327A67D-E3FA-F342-E765-682511C3666D}"/>
              </a:ext>
            </a:extLst>
          </p:cNvPr>
          <p:cNvSpPr/>
          <p:nvPr/>
        </p:nvSpPr>
        <p:spPr>
          <a:xfrm>
            <a:off x="856488" y="1798320"/>
            <a:ext cx="420624" cy="420624"/>
          </a:xfrm>
          <a:prstGeom prst="ellipse">
            <a:avLst/>
          </a:prstGeom>
          <a:solidFill>
            <a:srgbClr val="E4572E"/>
          </a:solidFill>
          <a:ln/>
        </p:spPr>
      </p:sp>
      <p:pic>
        <p:nvPicPr>
          <p:cNvPr id="66" name="Image 1" descr="icons/database-white.png">
            <a:extLst>
              <a:ext uri="{FF2B5EF4-FFF2-40B4-BE49-F238E27FC236}">
                <a16:creationId xmlns:a16="http://schemas.microsoft.com/office/drawing/2014/main" id="{CF7569D7-6C6A-E847-C75B-69524CADBBCC}"/>
              </a:ext>
            </a:extLst>
          </p:cNvPr>
          <p:cNvPicPr>
            <a:picLocks noChangeAspect="1"/>
          </p:cNvPicPr>
          <p:nvPr/>
        </p:nvPicPr>
        <p:blipFill>
          <a:blip r:embed="rId4"/>
          <a:stretch>
            <a:fillRect/>
          </a:stretch>
        </p:blipFill>
        <p:spPr>
          <a:xfrm>
            <a:off x="966216" y="1908048"/>
            <a:ext cx="201168" cy="201168"/>
          </a:xfrm>
          <a:prstGeom prst="rect">
            <a:avLst/>
          </a:prstGeom>
        </p:spPr>
      </p:pic>
      <p:sp>
        <p:nvSpPr>
          <p:cNvPr id="68" name="Text 8">
            <a:extLst>
              <a:ext uri="{FF2B5EF4-FFF2-40B4-BE49-F238E27FC236}">
                <a16:creationId xmlns:a16="http://schemas.microsoft.com/office/drawing/2014/main" id="{2B8594F3-FF00-A4EC-BA98-423016B66B76}"/>
              </a:ext>
            </a:extLst>
          </p:cNvPr>
          <p:cNvSpPr/>
          <p:nvPr/>
        </p:nvSpPr>
        <p:spPr>
          <a:xfrm>
            <a:off x="1405128" y="1761744"/>
            <a:ext cx="4434840" cy="457200"/>
          </a:xfrm>
          <a:prstGeom prst="rect">
            <a:avLst/>
          </a:prstGeom>
          <a:noFill/>
          <a:ln/>
        </p:spPr>
        <p:txBody>
          <a:bodyPr wrap="square" lIns="0" tIns="0" rIns="0" bIns="0" rtlCol="0" anchor="ctr"/>
          <a:lstStyle/>
          <a:p>
            <a:pPr marL="0" indent="0">
              <a:buNone/>
            </a:pPr>
            <a:r>
              <a:rPr lang="en-US" sz="1250" b="1" dirty="0">
                <a:solidFill>
                  <a:srgbClr val="0B2E33"/>
                </a:solidFill>
                <a:latin typeface="Cambria" pitchFamily="34" charset="0"/>
                <a:ea typeface="Cambria" pitchFamily="34" charset="-122"/>
                <a:cs typeface="Cambria" pitchFamily="34" charset="-120"/>
              </a:rPr>
              <a:t>Larger and Diverse Dataset</a:t>
            </a:r>
            <a:endParaRPr lang="en-US" sz="1250" dirty="0"/>
          </a:p>
        </p:txBody>
      </p:sp>
      <p:sp>
        <p:nvSpPr>
          <p:cNvPr id="70" name="Text 9">
            <a:extLst>
              <a:ext uri="{FF2B5EF4-FFF2-40B4-BE49-F238E27FC236}">
                <a16:creationId xmlns:a16="http://schemas.microsoft.com/office/drawing/2014/main" id="{FB01CF2E-16E2-E519-47BD-40B9C4FEE3EA}"/>
              </a:ext>
            </a:extLst>
          </p:cNvPr>
          <p:cNvSpPr/>
          <p:nvPr/>
        </p:nvSpPr>
        <p:spPr>
          <a:xfrm>
            <a:off x="911352" y="2310384"/>
            <a:ext cx="4837176" cy="512064"/>
          </a:xfrm>
          <a:prstGeom prst="rect">
            <a:avLst/>
          </a:prstGeom>
          <a:noFill/>
          <a:ln/>
        </p:spPr>
        <p:txBody>
          <a:bodyPr wrap="square" lIns="0" tIns="0" rIns="0" bIns="0" rtlCol="0" anchor="t"/>
          <a:lstStyle/>
          <a:p>
            <a:pPr marL="0" indent="0">
              <a:lnSpc>
                <a:spcPct val="112000"/>
              </a:lnSpc>
              <a:buNone/>
            </a:pPr>
            <a:r>
              <a:rPr lang="en-US" sz="1200" dirty="0">
                <a:solidFill>
                  <a:srgbClr val="16282A"/>
                </a:solidFill>
                <a:latin typeface="Calibri" pitchFamily="34" charset="0"/>
                <a:ea typeface="Calibri" pitchFamily="34" charset="-122"/>
                <a:cs typeface="Calibri" pitchFamily="34" charset="-120"/>
              </a:rPr>
              <a:t>Future research should use larger multi-center datasets from different countries and demographics to improve model generalizability.</a:t>
            </a:r>
            <a:endParaRPr lang="en-US" sz="1200" dirty="0"/>
          </a:p>
        </p:txBody>
      </p:sp>
      <p:sp>
        <p:nvSpPr>
          <p:cNvPr id="72" name="Shape 14">
            <a:extLst>
              <a:ext uri="{FF2B5EF4-FFF2-40B4-BE49-F238E27FC236}">
                <a16:creationId xmlns:a16="http://schemas.microsoft.com/office/drawing/2014/main" id="{98A97E5A-8840-A99D-DDA7-BEB197D86ABC}"/>
              </a:ext>
            </a:extLst>
          </p:cNvPr>
          <p:cNvSpPr/>
          <p:nvPr/>
        </p:nvSpPr>
        <p:spPr>
          <a:xfrm>
            <a:off x="655320" y="3060192"/>
            <a:ext cx="5349240" cy="1298448"/>
          </a:xfrm>
          <a:prstGeom prst="roundRect">
            <a:avLst>
              <a:gd name="adj" fmla="val 6338"/>
            </a:avLst>
          </a:prstGeom>
          <a:solidFill>
            <a:srgbClr val="FFFFFF"/>
          </a:solidFill>
          <a:ln/>
          <a:effectLst>
            <a:outerShdw blurRad="114300" dist="38100" dir="5400000" algn="bl" rotWithShape="0">
              <a:srgbClr val="0B2E33">
                <a:alpha val="14000"/>
              </a:srgbClr>
            </a:outerShdw>
          </a:effectLst>
        </p:spPr>
      </p:sp>
      <p:sp>
        <p:nvSpPr>
          <p:cNvPr id="74" name="Shape 15">
            <a:extLst>
              <a:ext uri="{FF2B5EF4-FFF2-40B4-BE49-F238E27FC236}">
                <a16:creationId xmlns:a16="http://schemas.microsoft.com/office/drawing/2014/main" id="{E36A0626-8948-1223-4524-7FE901008C33}"/>
              </a:ext>
            </a:extLst>
          </p:cNvPr>
          <p:cNvSpPr/>
          <p:nvPr/>
        </p:nvSpPr>
        <p:spPr>
          <a:xfrm>
            <a:off x="856488" y="3261360"/>
            <a:ext cx="420624" cy="420624"/>
          </a:xfrm>
          <a:prstGeom prst="ellipse">
            <a:avLst/>
          </a:prstGeom>
          <a:solidFill>
            <a:srgbClr val="E4572E"/>
          </a:solidFill>
          <a:ln/>
        </p:spPr>
      </p:sp>
      <p:pic>
        <p:nvPicPr>
          <p:cNvPr id="76" name="Image 3" descr="icons/robot-white.png">
            <a:extLst>
              <a:ext uri="{FF2B5EF4-FFF2-40B4-BE49-F238E27FC236}">
                <a16:creationId xmlns:a16="http://schemas.microsoft.com/office/drawing/2014/main" id="{DA1406B3-843C-47A0-4CF3-86BAE487C0FA}"/>
              </a:ext>
            </a:extLst>
          </p:cNvPr>
          <p:cNvPicPr>
            <a:picLocks noChangeAspect="1"/>
          </p:cNvPicPr>
          <p:nvPr/>
        </p:nvPicPr>
        <p:blipFill>
          <a:blip r:embed="rId6"/>
          <a:stretch>
            <a:fillRect/>
          </a:stretch>
        </p:blipFill>
        <p:spPr>
          <a:xfrm>
            <a:off x="966216" y="3371088"/>
            <a:ext cx="201168" cy="201168"/>
          </a:xfrm>
          <a:prstGeom prst="rect">
            <a:avLst/>
          </a:prstGeom>
        </p:spPr>
      </p:pic>
      <p:sp>
        <p:nvSpPr>
          <p:cNvPr id="78" name="Text 16">
            <a:extLst>
              <a:ext uri="{FF2B5EF4-FFF2-40B4-BE49-F238E27FC236}">
                <a16:creationId xmlns:a16="http://schemas.microsoft.com/office/drawing/2014/main" id="{B6D6596A-710C-7B63-7E10-BED0EB3229F6}"/>
              </a:ext>
            </a:extLst>
          </p:cNvPr>
          <p:cNvSpPr/>
          <p:nvPr/>
        </p:nvSpPr>
        <p:spPr>
          <a:xfrm>
            <a:off x="1405128" y="3224784"/>
            <a:ext cx="4434840" cy="457200"/>
          </a:xfrm>
          <a:prstGeom prst="rect">
            <a:avLst/>
          </a:prstGeom>
          <a:noFill/>
          <a:ln/>
        </p:spPr>
        <p:txBody>
          <a:bodyPr wrap="square" lIns="0" tIns="0" rIns="0" bIns="0" rtlCol="0" anchor="ctr"/>
          <a:lstStyle/>
          <a:p>
            <a:pPr marL="0" indent="0">
              <a:buNone/>
            </a:pPr>
            <a:r>
              <a:rPr lang="en-US" sz="1250" b="1" dirty="0">
                <a:solidFill>
                  <a:srgbClr val="0B2E33"/>
                </a:solidFill>
                <a:latin typeface="Cambria" pitchFamily="34" charset="0"/>
                <a:ea typeface="Cambria" pitchFamily="34" charset="-122"/>
                <a:cs typeface="Cambria" pitchFamily="34" charset="-120"/>
              </a:rPr>
              <a:t>Deep Learning Approaches</a:t>
            </a:r>
            <a:endParaRPr lang="en-US" sz="1250" dirty="0"/>
          </a:p>
        </p:txBody>
      </p:sp>
      <p:sp>
        <p:nvSpPr>
          <p:cNvPr id="80" name="Text 17">
            <a:extLst>
              <a:ext uri="{FF2B5EF4-FFF2-40B4-BE49-F238E27FC236}">
                <a16:creationId xmlns:a16="http://schemas.microsoft.com/office/drawing/2014/main" id="{A6A06B0D-129B-519E-8B55-123C7A85CE6B}"/>
              </a:ext>
            </a:extLst>
          </p:cNvPr>
          <p:cNvSpPr/>
          <p:nvPr/>
        </p:nvSpPr>
        <p:spPr>
          <a:xfrm>
            <a:off x="911352" y="3773424"/>
            <a:ext cx="4837176" cy="512064"/>
          </a:xfrm>
          <a:prstGeom prst="rect">
            <a:avLst/>
          </a:prstGeom>
          <a:noFill/>
          <a:ln/>
        </p:spPr>
        <p:txBody>
          <a:bodyPr wrap="square" lIns="0" tIns="0" rIns="0" bIns="0" rtlCol="0" anchor="t"/>
          <a:lstStyle/>
          <a:p>
            <a:pPr marL="0" indent="0">
              <a:lnSpc>
                <a:spcPct val="112000"/>
              </a:lnSpc>
              <a:buNone/>
            </a:pPr>
            <a:r>
              <a:rPr lang="en-US" sz="1200" dirty="0">
                <a:solidFill>
                  <a:srgbClr val="16282A"/>
                </a:solidFill>
                <a:latin typeface="Calibri" pitchFamily="34" charset="0"/>
                <a:ea typeface="Calibri" pitchFamily="34" charset="-122"/>
                <a:cs typeface="Calibri" pitchFamily="34" charset="-120"/>
              </a:rPr>
              <a:t>Explore advanced deep learning models such as Transformer and Graph Neural Networks for improved prediction accuracy.</a:t>
            </a:r>
            <a:endParaRPr lang="en-US" sz="1200" dirty="0"/>
          </a:p>
        </p:txBody>
      </p:sp>
      <p:sp>
        <p:nvSpPr>
          <p:cNvPr id="82" name="Shape 22">
            <a:extLst>
              <a:ext uri="{FF2B5EF4-FFF2-40B4-BE49-F238E27FC236}">
                <a16:creationId xmlns:a16="http://schemas.microsoft.com/office/drawing/2014/main" id="{1B524052-0F49-DB01-7037-D17F8DDD4C2C}"/>
              </a:ext>
            </a:extLst>
          </p:cNvPr>
          <p:cNvSpPr/>
          <p:nvPr/>
        </p:nvSpPr>
        <p:spPr>
          <a:xfrm>
            <a:off x="655320" y="4523232"/>
            <a:ext cx="5349240" cy="1298448"/>
          </a:xfrm>
          <a:prstGeom prst="roundRect">
            <a:avLst>
              <a:gd name="adj" fmla="val 6338"/>
            </a:avLst>
          </a:prstGeom>
          <a:solidFill>
            <a:srgbClr val="FFFFFF"/>
          </a:solidFill>
          <a:ln/>
          <a:effectLst>
            <a:outerShdw blurRad="114300" dist="38100" dir="5400000" algn="bl" rotWithShape="0">
              <a:srgbClr val="0B2E33">
                <a:alpha val="14000"/>
              </a:srgbClr>
            </a:outerShdw>
          </a:effectLst>
        </p:spPr>
      </p:sp>
      <p:sp>
        <p:nvSpPr>
          <p:cNvPr id="84" name="Shape 23">
            <a:extLst>
              <a:ext uri="{FF2B5EF4-FFF2-40B4-BE49-F238E27FC236}">
                <a16:creationId xmlns:a16="http://schemas.microsoft.com/office/drawing/2014/main" id="{F61C803B-0383-B934-2A67-2475789C0994}"/>
              </a:ext>
            </a:extLst>
          </p:cNvPr>
          <p:cNvSpPr/>
          <p:nvPr/>
        </p:nvSpPr>
        <p:spPr>
          <a:xfrm>
            <a:off x="856488" y="4724400"/>
            <a:ext cx="420624" cy="420624"/>
          </a:xfrm>
          <a:prstGeom prst="ellipse">
            <a:avLst/>
          </a:prstGeom>
          <a:solidFill>
            <a:srgbClr val="E4572E"/>
          </a:solidFill>
          <a:ln/>
        </p:spPr>
      </p:sp>
      <p:pic>
        <p:nvPicPr>
          <p:cNvPr id="86" name="Image 5" descr="icons/lightbulb-white.png">
            <a:extLst>
              <a:ext uri="{FF2B5EF4-FFF2-40B4-BE49-F238E27FC236}">
                <a16:creationId xmlns:a16="http://schemas.microsoft.com/office/drawing/2014/main" id="{AC8571E6-AD3B-64E0-F7C0-FE787BA5AA6F}"/>
              </a:ext>
            </a:extLst>
          </p:cNvPr>
          <p:cNvPicPr>
            <a:picLocks noChangeAspect="1"/>
          </p:cNvPicPr>
          <p:nvPr/>
        </p:nvPicPr>
        <p:blipFill>
          <a:blip r:embed="rId8"/>
          <a:stretch>
            <a:fillRect/>
          </a:stretch>
        </p:blipFill>
        <p:spPr>
          <a:xfrm>
            <a:off x="966216" y="4834128"/>
            <a:ext cx="201168" cy="201168"/>
          </a:xfrm>
          <a:prstGeom prst="rect">
            <a:avLst/>
          </a:prstGeom>
        </p:spPr>
      </p:pic>
      <p:sp>
        <p:nvSpPr>
          <p:cNvPr id="88" name="Text 24">
            <a:extLst>
              <a:ext uri="{FF2B5EF4-FFF2-40B4-BE49-F238E27FC236}">
                <a16:creationId xmlns:a16="http://schemas.microsoft.com/office/drawing/2014/main" id="{3C4396B4-0941-5768-3EF1-1EF3922A8BAA}"/>
              </a:ext>
            </a:extLst>
          </p:cNvPr>
          <p:cNvSpPr/>
          <p:nvPr/>
        </p:nvSpPr>
        <p:spPr>
          <a:xfrm>
            <a:off x="1405128" y="4687824"/>
            <a:ext cx="4434840" cy="457200"/>
          </a:xfrm>
          <a:prstGeom prst="rect">
            <a:avLst/>
          </a:prstGeom>
          <a:noFill/>
          <a:ln/>
        </p:spPr>
        <p:txBody>
          <a:bodyPr wrap="square" lIns="0" tIns="0" rIns="0" bIns="0" rtlCol="0" anchor="ctr"/>
          <a:lstStyle/>
          <a:p>
            <a:pPr marL="0" indent="0">
              <a:buNone/>
            </a:pPr>
            <a:r>
              <a:rPr lang="en-US" sz="1250" b="1" dirty="0">
                <a:solidFill>
                  <a:srgbClr val="0B2E33"/>
                </a:solidFill>
                <a:latin typeface="Cambria" pitchFamily="34" charset="0"/>
                <a:ea typeface="Cambria" pitchFamily="34" charset="-122"/>
                <a:cs typeface="Cambria" pitchFamily="34" charset="-120"/>
              </a:rPr>
              <a:t>Advanced XAI Techniques</a:t>
            </a:r>
            <a:endParaRPr lang="en-US" sz="1250" dirty="0"/>
          </a:p>
        </p:txBody>
      </p:sp>
      <p:sp>
        <p:nvSpPr>
          <p:cNvPr id="90" name="Text 25">
            <a:extLst>
              <a:ext uri="{FF2B5EF4-FFF2-40B4-BE49-F238E27FC236}">
                <a16:creationId xmlns:a16="http://schemas.microsoft.com/office/drawing/2014/main" id="{F477A700-8055-043D-131F-DBCE45DBDE94}"/>
              </a:ext>
            </a:extLst>
          </p:cNvPr>
          <p:cNvSpPr/>
          <p:nvPr/>
        </p:nvSpPr>
        <p:spPr>
          <a:xfrm>
            <a:off x="911352" y="5236464"/>
            <a:ext cx="4837176" cy="512064"/>
          </a:xfrm>
          <a:prstGeom prst="rect">
            <a:avLst/>
          </a:prstGeom>
          <a:noFill/>
          <a:ln/>
        </p:spPr>
        <p:txBody>
          <a:bodyPr wrap="square" lIns="0" tIns="0" rIns="0" bIns="0" rtlCol="0" anchor="t"/>
          <a:lstStyle/>
          <a:p>
            <a:pPr marL="0" indent="0">
              <a:lnSpc>
                <a:spcPct val="112000"/>
              </a:lnSpc>
              <a:buNone/>
            </a:pPr>
            <a:r>
              <a:rPr lang="en-US" sz="1200" dirty="0">
                <a:solidFill>
                  <a:srgbClr val="16282A"/>
                </a:solidFill>
                <a:latin typeface="Calibri" pitchFamily="34" charset="0"/>
                <a:ea typeface="Calibri" pitchFamily="34" charset="-122"/>
                <a:cs typeface="Calibri" pitchFamily="34" charset="-120"/>
              </a:rPr>
              <a:t>Explore additional explainability methods such as Counterfactual Explanations and Integrated Gradients for more comprehensive model interpretability.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502920"/>
            <a:ext cx="603504" cy="603504"/>
          </a:xfrm>
          <a:prstGeom prst="ellipse">
            <a:avLst/>
          </a:prstGeom>
          <a:solidFill>
            <a:srgbClr val="0E7C7B"/>
          </a:solidFill>
          <a:ln/>
        </p:spPr>
      </p:sp>
      <p:pic>
        <p:nvPicPr>
          <p:cNvPr id="3" name="Image 0" descr="icons/check-circle-white.png"/>
          <p:cNvPicPr>
            <a:picLocks noChangeAspect="1"/>
          </p:cNvPicPr>
          <p:nvPr/>
        </p:nvPicPr>
        <p:blipFill>
          <a:blip r:embed="rId3"/>
          <a:stretch>
            <a:fillRect/>
          </a:stretch>
        </p:blipFill>
        <p:spPr>
          <a:xfrm>
            <a:off x="694944" y="649224"/>
            <a:ext cx="310896" cy="310896"/>
          </a:xfrm>
          <a:prstGeom prst="rect">
            <a:avLst/>
          </a:prstGeom>
        </p:spPr>
      </p:pic>
      <p:sp>
        <p:nvSpPr>
          <p:cNvPr id="4" name="Text 1"/>
          <p:cNvSpPr/>
          <p:nvPr/>
        </p:nvSpPr>
        <p:spPr>
          <a:xfrm>
            <a:off x="1325880" y="457200"/>
            <a:ext cx="7315200" cy="676656"/>
          </a:xfrm>
          <a:prstGeom prst="rect">
            <a:avLst/>
          </a:prstGeom>
          <a:noFill/>
          <a:ln/>
        </p:spPr>
        <p:txBody>
          <a:bodyPr wrap="square" lIns="0" tIns="0" rIns="0" bIns="0" rtlCol="0" anchor="ctr"/>
          <a:lstStyle/>
          <a:p>
            <a:pPr marL="0" indent="0">
              <a:buNone/>
            </a:pPr>
            <a:r>
              <a:rPr lang="en-US" sz="3000" b="1" dirty="0">
                <a:latin typeface="Cambria" pitchFamily="34" charset="0"/>
                <a:ea typeface="Cambria" pitchFamily="34" charset="-122"/>
                <a:cs typeface="Cambria" pitchFamily="34" charset="-120"/>
              </a:rPr>
              <a:t>Conclusion</a:t>
            </a:r>
            <a:endParaRPr lang="en-US" sz="3000" dirty="0"/>
          </a:p>
        </p:txBody>
      </p:sp>
      <p:sp>
        <p:nvSpPr>
          <p:cNvPr id="5" name="Text 2"/>
          <p:cNvSpPr/>
          <p:nvPr/>
        </p:nvSpPr>
        <p:spPr>
          <a:xfrm>
            <a:off x="502920" y="1555330"/>
            <a:ext cx="11375136" cy="1260422"/>
          </a:xfrm>
          <a:prstGeom prst="rect">
            <a:avLst/>
          </a:prstGeom>
          <a:noFill/>
          <a:ln/>
        </p:spPr>
        <p:txBody>
          <a:bodyPr wrap="square" lIns="0" tIns="0" rIns="0" bIns="0" rtlCol="0" anchor="ctr"/>
          <a:lstStyle/>
          <a:p>
            <a:pPr marL="0" indent="0" algn="just">
              <a:lnSpc>
                <a:spcPct val="130000"/>
              </a:lnSpc>
              <a:buNone/>
            </a:pPr>
            <a:r>
              <a:rPr lang="en-US" sz="1500" dirty="0">
                <a:latin typeface="Calibri" pitchFamily="34" charset="0"/>
                <a:ea typeface="Calibri" pitchFamily="34" charset="-122"/>
                <a:cs typeface="Calibri" pitchFamily="34" charset="-120"/>
              </a:rPr>
              <a:t>This thesis developed a machine learning framework for early heart failure detection using 887 patient records. Among seven classification algorithms, LightGBM achieved the best performance with 91.01% accuracy and 94.66% ROC-AUC.SHAP and LIME were applied to explain model predictions, revealing that ST_Slope, ChestPainType, and Sex are the most influential features for heart failure prediction. </a:t>
            </a:r>
          </a:p>
          <a:p>
            <a:pPr marL="0" indent="0" algn="just">
              <a:lnSpc>
                <a:spcPct val="130000"/>
              </a:lnSpc>
              <a:buNone/>
            </a:pPr>
            <a:r>
              <a:rPr lang="en-US" sz="1500" dirty="0">
                <a:latin typeface="Calibri" pitchFamily="34" charset="0"/>
                <a:ea typeface="Calibri" pitchFamily="34" charset="-122"/>
                <a:cs typeface="Calibri" pitchFamily="34" charset="-120"/>
              </a:rPr>
              <a:t>This framework demonstrates that combining ensemble models with Explainable AI can provide accurate, transparent, and clinically meaningful predictions for early cardiac risk assessment.</a:t>
            </a:r>
          </a:p>
          <a:p>
            <a:pPr marL="0" indent="0">
              <a:lnSpc>
                <a:spcPct val="130000"/>
              </a:lnSpc>
              <a:buNone/>
            </a:pPr>
            <a:endParaRPr lang="en-US" sz="1500" dirty="0"/>
          </a:p>
        </p:txBody>
      </p:sp>
      <p:sp>
        <p:nvSpPr>
          <p:cNvPr id="6" name="Shape 3"/>
          <p:cNvSpPr/>
          <p:nvPr/>
        </p:nvSpPr>
        <p:spPr>
          <a:xfrm>
            <a:off x="548640" y="3109392"/>
            <a:ext cx="3611880" cy="2286000"/>
          </a:xfrm>
          <a:prstGeom prst="roundRect">
            <a:avLst>
              <a:gd name="adj" fmla="val 3600"/>
            </a:avLst>
          </a:prstGeom>
          <a:solidFill>
            <a:srgbClr val="123E45"/>
          </a:solidFill>
          <a:ln/>
          <a:effectLst>
            <a:outerShdw blurRad="114300" dist="38100" dir="5400000" algn="bl" rotWithShape="0">
              <a:srgbClr val="0B2E33">
                <a:alpha val="28000"/>
              </a:srgbClr>
            </a:outerShdw>
          </a:effectLst>
        </p:spPr>
      </p:sp>
      <p:sp>
        <p:nvSpPr>
          <p:cNvPr id="7" name="Shape 4"/>
          <p:cNvSpPr/>
          <p:nvPr/>
        </p:nvSpPr>
        <p:spPr>
          <a:xfrm>
            <a:off x="768096" y="3328848"/>
            <a:ext cx="438912" cy="438912"/>
          </a:xfrm>
          <a:prstGeom prst="ellipse">
            <a:avLst/>
          </a:prstGeom>
          <a:solidFill>
            <a:srgbClr val="E4572E"/>
          </a:solidFill>
          <a:ln/>
        </p:spPr>
      </p:sp>
      <p:pic>
        <p:nvPicPr>
          <p:cNvPr id="8" name="Image 1" descr="icons/robot-white.png"/>
          <p:cNvPicPr>
            <a:picLocks noChangeAspect="1"/>
          </p:cNvPicPr>
          <p:nvPr/>
        </p:nvPicPr>
        <p:blipFill>
          <a:blip r:embed="rId4"/>
          <a:stretch>
            <a:fillRect/>
          </a:stretch>
        </p:blipFill>
        <p:spPr>
          <a:xfrm>
            <a:off x="877824" y="3438576"/>
            <a:ext cx="219456" cy="219456"/>
          </a:xfrm>
          <a:prstGeom prst="rect">
            <a:avLst/>
          </a:prstGeom>
        </p:spPr>
      </p:pic>
      <p:sp>
        <p:nvSpPr>
          <p:cNvPr id="9" name="Text 5"/>
          <p:cNvSpPr/>
          <p:nvPr/>
        </p:nvSpPr>
        <p:spPr>
          <a:xfrm>
            <a:off x="786384" y="3886632"/>
            <a:ext cx="3136392" cy="41148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91.01% Accuracy</a:t>
            </a:r>
            <a:endParaRPr lang="en-US" sz="1550" dirty="0"/>
          </a:p>
        </p:txBody>
      </p:sp>
      <p:sp>
        <p:nvSpPr>
          <p:cNvPr id="10" name="Text 6"/>
          <p:cNvSpPr/>
          <p:nvPr/>
        </p:nvSpPr>
        <p:spPr>
          <a:xfrm>
            <a:off x="786384" y="4298112"/>
            <a:ext cx="3136392" cy="1005840"/>
          </a:xfrm>
          <a:prstGeom prst="rect">
            <a:avLst/>
          </a:prstGeom>
          <a:noFill/>
          <a:ln/>
        </p:spPr>
        <p:txBody>
          <a:bodyPr wrap="square" lIns="0" tIns="0" rIns="0" bIns="0" rtlCol="0" anchor="ctr"/>
          <a:lstStyle/>
          <a:p>
            <a:pPr marL="0" indent="0">
              <a:lnSpc>
                <a:spcPct val="122000"/>
              </a:lnSpc>
              <a:buNone/>
            </a:pPr>
            <a:r>
              <a:rPr lang="en-US" sz="1080" dirty="0">
                <a:solidFill>
                  <a:srgbClr val="C7E5E3"/>
                </a:solidFill>
                <a:latin typeface="Calibri" pitchFamily="34" charset="0"/>
                <a:ea typeface="Calibri" pitchFamily="34" charset="-122"/>
                <a:cs typeface="Calibri" pitchFamily="34" charset="-120"/>
              </a:rPr>
              <a:t>LightGBM outperformed six other algorithms, exceeding the clinically-acceptable 90% threshold with the fewest misclassifications.</a:t>
            </a:r>
            <a:endParaRPr lang="en-US" sz="1080" dirty="0"/>
          </a:p>
        </p:txBody>
      </p:sp>
      <p:sp>
        <p:nvSpPr>
          <p:cNvPr id="11" name="Shape 7"/>
          <p:cNvSpPr/>
          <p:nvPr/>
        </p:nvSpPr>
        <p:spPr>
          <a:xfrm>
            <a:off x="4407408" y="3109392"/>
            <a:ext cx="3611880" cy="2286000"/>
          </a:xfrm>
          <a:prstGeom prst="roundRect">
            <a:avLst>
              <a:gd name="adj" fmla="val 3600"/>
            </a:avLst>
          </a:prstGeom>
          <a:solidFill>
            <a:srgbClr val="123E45"/>
          </a:solidFill>
          <a:ln/>
          <a:effectLst>
            <a:outerShdw blurRad="114300" dist="38100" dir="5400000" algn="bl" rotWithShape="0">
              <a:srgbClr val="0B2E33">
                <a:alpha val="28000"/>
              </a:srgbClr>
            </a:outerShdw>
          </a:effectLst>
        </p:spPr>
      </p:sp>
      <p:sp>
        <p:nvSpPr>
          <p:cNvPr id="12" name="Shape 8"/>
          <p:cNvSpPr/>
          <p:nvPr/>
        </p:nvSpPr>
        <p:spPr>
          <a:xfrm>
            <a:off x="4626864" y="3328848"/>
            <a:ext cx="438912" cy="438912"/>
          </a:xfrm>
          <a:prstGeom prst="ellipse">
            <a:avLst/>
          </a:prstGeom>
          <a:solidFill>
            <a:srgbClr val="E4572E"/>
          </a:solidFill>
          <a:ln/>
        </p:spPr>
      </p:sp>
      <p:pic>
        <p:nvPicPr>
          <p:cNvPr id="13" name="Image 2" descr="icons/lightbulb-white.png"/>
          <p:cNvPicPr>
            <a:picLocks noChangeAspect="1"/>
          </p:cNvPicPr>
          <p:nvPr/>
        </p:nvPicPr>
        <p:blipFill>
          <a:blip r:embed="rId5"/>
          <a:stretch>
            <a:fillRect/>
          </a:stretch>
        </p:blipFill>
        <p:spPr>
          <a:xfrm>
            <a:off x="4736592" y="3438576"/>
            <a:ext cx="219456" cy="219456"/>
          </a:xfrm>
          <a:prstGeom prst="rect">
            <a:avLst/>
          </a:prstGeom>
        </p:spPr>
      </p:pic>
      <p:sp>
        <p:nvSpPr>
          <p:cNvPr id="14" name="Text 9"/>
          <p:cNvSpPr/>
          <p:nvPr/>
        </p:nvSpPr>
        <p:spPr>
          <a:xfrm>
            <a:off x="4645152" y="3886632"/>
            <a:ext cx="3136392" cy="41148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Transparent by Design</a:t>
            </a:r>
            <a:endParaRPr lang="en-US" sz="1550" dirty="0"/>
          </a:p>
        </p:txBody>
      </p:sp>
      <p:sp>
        <p:nvSpPr>
          <p:cNvPr id="15" name="Text 10"/>
          <p:cNvSpPr/>
          <p:nvPr/>
        </p:nvSpPr>
        <p:spPr>
          <a:xfrm>
            <a:off x="4645152" y="4298112"/>
            <a:ext cx="3136392" cy="1005840"/>
          </a:xfrm>
          <a:prstGeom prst="rect">
            <a:avLst/>
          </a:prstGeom>
          <a:noFill/>
          <a:ln/>
        </p:spPr>
        <p:txBody>
          <a:bodyPr wrap="square" lIns="0" tIns="0" rIns="0" bIns="0" rtlCol="0" anchor="ctr"/>
          <a:lstStyle/>
          <a:p>
            <a:pPr marL="0" indent="0">
              <a:lnSpc>
                <a:spcPct val="122000"/>
              </a:lnSpc>
              <a:buNone/>
            </a:pPr>
            <a:r>
              <a:rPr lang="en-US" sz="1080" dirty="0">
                <a:solidFill>
                  <a:srgbClr val="C7E5E3"/>
                </a:solidFill>
                <a:latin typeface="Calibri" pitchFamily="34" charset="0"/>
                <a:ea typeface="Calibri" pitchFamily="34" charset="-122"/>
                <a:cs typeface="Calibri" pitchFamily="34" charset="-120"/>
              </a:rPr>
              <a:t>SHAP and LIME consistently identified ST_Slope, ChestPainType, and Sex as the leading predictors, validated against clinical knowledge.</a:t>
            </a:r>
            <a:endParaRPr lang="en-US" sz="1080" dirty="0"/>
          </a:p>
        </p:txBody>
      </p:sp>
      <p:sp>
        <p:nvSpPr>
          <p:cNvPr id="16" name="Shape 11"/>
          <p:cNvSpPr/>
          <p:nvPr/>
        </p:nvSpPr>
        <p:spPr>
          <a:xfrm>
            <a:off x="8266176" y="3109392"/>
            <a:ext cx="3611880" cy="2286000"/>
          </a:xfrm>
          <a:prstGeom prst="roundRect">
            <a:avLst>
              <a:gd name="adj" fmla="val 3600"/>
            </a:avLst>
          </a:prstGeom>
          <a:solidFill>
            <a:srgbClr val="123E45"/>
          </a:solidFill>
          <a:ln/>
          <a:effectLst>
            <a:outerShdw blurRad="114300" dist="38100" dir="5400000" algn="bl" rotWithShape="0">
              <a:srgbClr val="0B2E33">
                <a:alpha val="28000"/>
              </a:srgbClr>
            </a:outerShdw>
          </a:effectLst>
        </p:spPr>
      </p:sp>
      <p:sp>
        <p:nvSpPr>
          <p:cNvPr id="17" name="Shape 12"/>
          <p:cNvSpPr/>
          <p:nvPr/>
        </p:nvSpPr>
        <p:spPr>
          <a:xfrm>
            <a:off x="8485632" y="3328848"/>
            <a:ext cx="438912" cy="438912"/>
          </a:xfrm>
          <a:prstGeom prst="ellipse">
            <a:avLst/>
          </a:prstGeom>
          <a:solidFill>
            <a:srgbClr val="E4572E"/>
          </a:solidFill>
          <a:ln/>
        </p:spPr>
      </p:sp>
      <p:pic>
        <p:nvPicPr>
          <p:cNvPr id="18" name="Image 3" descr="icons/compass-white.png"/>
          <p:cNvPicPr>
            <a:picLocks noChangeAspect="1"/>
          </p:cNvPicPr>
          <p:nvPr/>
        </p:nvPicPr>
        <p:blipFill>
          <a:blip r:embed="rId6"/>
          <a:stretch>
            <a:fillRect/>
          </a:stretch>
        </p:blipFill>
        <p:spPr>
          <a:xfrm>
            <a:off x="8595360" y="3438576"/>
            <a:ext cx="219456" cy="219456"/>
          </a:xfrm>
          <a:prstGeom prst="rect">
            <a:avLst/>
          </a:prstGeom>
        </p:spPr>
      </p:pic>
      <p:sp>
        <p:nvSpPr>
          <p:cNvPr id="19" name="Text 13"/>
          <p:cNvSpPr/>
          <p:nvPr/>
        </p:nvSpPr>
        <p:spPr>
          <a:xfrm>
            <a:off x="8503920" y="3886632"/>
            <a:ext cx="3136392" cy="41148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Practically Relevant</a:t>
            </a:r>
            <a:endParaRPr lang="en-US" sz="1550" dirty="0"/>
          </a:p>
        </p:txBody>
      </p:sp>
      <p:sp>
        <p:nvSpPr>
          <p:cNvPr id="20" name="Text 14"/>
          <p:cNvSpPr/>
          <p:nvPr/>
        </p:nvSpPr>
        <p:spPr>
          <a:xfrm>
            <a:off x="8503920" y="4298112"/>
            <a:ext cx="3136392" cy="1005840"/>
          </a:xfrm>
          <a:prstGeom prst="rect">
            <a:avLst/>
          </a:prstGeom>
          <a:noFill/>
          <a:ln/>
        </p:spPr>
        <p:txBody>
          <a:bodyPr wrap="square" lIns="0" tIns="0" rIns="0" bIns="0" rtlCol="0" anchor="ctr"/>
          <a:lstStyle/>
          <a:p>
            <a:pPr marL="0" indent="0">
              <a:lnSpc>
                <a:spcPct val="122000"/>
              </a:lnSpc>
              <a:buNone/>
            </a:pPr>
            <a:r>
              <a:rPr lang="en-US" sz="1080" dirty="0">
                <a:solidFill>
                  <a:srgbClr val="C7E5E3"/>
                </a:solidFill>
                <a:latin typeface="Calibri" pitchFamily="34" charset="0"/>
                <a:ea typeface="Calibri" pitchFamily="34" charset="-122"/>
                <a:cs typeface="Calibri" pitchFamily="34" charset="-120"/>
              </a:rPr>
              <a:t>A reproducible, low-cost early-detection framework suited to resource-limited healthcare settings such as Bangladesh.</a:t>
            </a:r>
            <a:endParaRPr lang="en-US" sz="1080" dirty="0"/>
          </a:p>
        </p:txBody>
      </p:sp>
      <p:pic>
        <p:nvPicPr>
          <p:cNvPr id="21" name="Image 4" descr="motif/ecg-coral.png"/>
          <p:cNvPicPr>
            <a:picLocks noChangeAspect="1"/>
          </p:cNvPicPr>
          <p:nvPr/>
        </p:nvPicPr>
        <p:blipFill>
          <a:blip r:embed="rId7"/>
          <a:stretch>
            <a:fillRect/>
          </a:stretch>
        </p:blipFill>
        <p:spPr>
          <a:xfrm>
            <a:off x="2438248" y="5510756"/>
            <a:ext cx="7315200" cy="914400"/>
          </a:xfrm>
          <a:prstGeom prst="rect">
            <a:avLst/>
          </a:prstGeom>
        </p:spPr>
      </p:pic>
      <p:sp>
        <p:nvSpPr>
          <p:cNvPr id="23" name="Text 16"/>
          <p:cNvSpPr/>
          <p:nvPr/>
        </p:nvSpPr>
        <p:spPr>
          <a:xfrm>
            <a:off x="5615788" y="6515374"/>
            <a:ext cx="960120" cy="256032"/>
          </a:xfrm>
          <a:prstGeom prst="rect">
            <a:avLst/>
          </a:prstGeom>
          <a:noFill/>
          <a:ln/>
        </p:spPr>
        <p:txBody>
          <a:bodyPr wrap="square" lIns="0" tIns="0" rIns="0" bIns="0" rtlCol="0" anchor="ctr"/>
          <a:lstStyle/>
          <a:p>
            <a:pPr marL="0" indent="0" algn="r">
              <a:buNone/>
            </a:pPr>
            <a:r>
              <a:rPr lang="en-US" sz="1200" dirty="0">
                <a:solidFill>
                  <a:srgbClr val="5C8D8A"/>
                </a:solidFill>
                <a:latin typeface="Calibri" pitchFamily="34" charset="0"/>
                <a:ea typeface="Calibri" pitchFamily="34" charset="-122"/>
                <a:cs typeface="Calibri" pitchFamily="34" charset="-120"/>
              </a:rPr>
              <a:t>13/ 15</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CAEB6B-8854-FE0E-0A6E-5DE722EA051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AFE7B65-D12D-10CB-DC7B-01941D2571D7}"/>
              </a:ext>
            </a:extLst>
          </p:cNvPr>
          <p:cNvSpPr/>
          <p:nvPr/>
        </p:nvSpPr>
        <p:spPr>
          <a:xfrm>
            <a:off x="548640" y="502920"/>
            <a:ext cx="603504" cy="603504"/>
          </a:xfrm>
          <a:prstGeom prst="ellipse">
            <a:avLst/>
          </a:prstGeom>
          <a:solidFill>
            <a:srgbClr val="0E7C7B"/>
          </a:solidFill>
          <a:ln/>
        </p:spPr>
      </p:sp>
      <p:pic>
        <p:nvPicPr>
          <p:cNvPr id="3" name="Image 0" descr="icons/check-circle-white.png">
            <a:extLst>
              <a:ext uri="{FF2B5EF4-FFF2-40B4-BE49-F238E27FC236}">
                <a16:creationId xmlns:a16="http://schemas.microsoft.com/office/drawing/2014/main" id="{93443A2C-A4CF-0CCB-FD66-4A74C41C2CA1}"/>
              </a:ext>
            </a:extLst>
          </p:cNvPr>
          <p:cNvPicPr>
            <a:picLocks noChangeAspect="1"/>
          </p:cNvPicPr>
          <p:nvPr/>
        </p:nvPicPr>
        <p:blipFill>
          <a:blip r:embed="rId3"/>
          <a:stretch>
            <a:fillRect/>
          </a:stretch>
        </p:blipFill>
        <p:spPr>
          <a:xfrm>
            <a:off x="694944" y="649224"/>
            <a:ext cx="310896" cy="310896"/>
          </a:xfrm>
          <a:prstGeom prst="rect">
            <a:avLst/>
          </a:prstGeom>
        </p:spPr>
      </p:pic>
      <p:sp>
        <p:nvSpPr>
          <p:cNvPr id="4" name="Text 1">
            <a:extLst>
              <a:ext uri="{FF2B5EF4-FFF2-40B4-BE49-F238E27FC236}">
                <a16:creationId xmlns:a16="http://schemas.microsoft.com/office/drawing/2014/main" id="{FB01D53E-32BC-8088-851C-A2D839615E78}"/>
              </a:ext>
            </a:extLst>
          </p:cNvPr>
          <p:cNvSpPr/>
          <p:nvPr/>
        </p:nvSpPr>
        <p:spPr>
          <a:xfrm>
            <a:off x="1325880" y="457200"/>
            <a:ext cx="7315200" cy="676656"/>
          </a:xfrm>
          <a:prstGeom prst="rect">
            <a:avLst/>
          </a:prstGeom>
          <a:noFill/>
          <a:ln/>
        </p:spPr>
        <p:txBody>
          <a:bodyPr wrap="square" lIns="0" tIns="0" rIns="0" bIns="0" rtlCol="0" anchor="ctr"/>
          <a:lstStyle/>
          <a:p>
            <a:endParaRPr lang="en-US" sz="3000" dirty="0"/>
          </a:p>
        </p:txBody>
      </p:sp>
      <p:sp>
        <p:nvSpPr>
          <p:cNvPr id="9" name="Text 5">
            <a:extLst>
              <a:ext uri="{FF2B5EF4-FFF2-40B4-BE49-F238E27FC236}">
                <a16:creationId xmlns:a16="http://schemas.microsoft.com/office/drawing/2014/main" id="{16FFAEC5-F9D8-5525-1409-0ABCC3CA56D0}"/>
              </a:ext>
            </a:extLst>
          </p:cNvPr>
          <p:cNvSpPr/>
          <p:nvPr/>
        </p:nvSpPr>
        <p:spPr>
          <a:xfrm>
            <a:off x="2684526" y="1279881"/>
            <a:ext cx="3136392" cy="411480"/>
          </a:xfrm>
          <a:prstGeom prst="rect">
            <a:avLst/>
          </a:prstGeom>
          <a:noFill/>
          <a:ln/>
        </p:spPr>
        <p:txBody>
          <a:bodyPr wrap="square" lIns="0" tIns="0" rIns="0" bIns="0" rtlCol="0" anchor="ctr"/>
          <a:lstStyle/>
          <a:p>
            <a:endParaRPr lang="en-US" sz="1550" dirty="0">
              <a:solidFill>
                <a:schemeClr val="bg1"/>
              </a:solidFill>
            </a:endParaRPr>
          </a:p>
        </p:txBody>
      </p:sp>
      <p:sp>
        <p:nvSpPr>
          <p:cNvPr id="10" name="Text 6">
            <a:extLst>
              <a:ext uri="{FF2B5EF4-FFF2-40B4-BE49-F238E27FC236}">
                <a16:creationId xmlns:a16="http://schemas.microsoft.com/office/drawing/2014/main" id="{498A8323-AC2B-9FF2-D9CB-89B4BB4AC407}"/>
              </a:ext>
            </a:extLst>
          </p:cNvPr>
          <p:cNvSpPr/>
          <p:nvPr/>
        </p:nvSpPr>
        <p:spPr>
          <a:xfrm>
            <a:off x="2684526" y="1940050"/>
            <a:ext cx="3136392" cy="1005840"/>
          </a:xfrm>
          <a:prstGeom prst="rect">
            <a:avLst/>
          </a:prstGeom>
          <a:noFill/>
          <a:ln/>
        </p:spPr>
        <p:txBody>
          <a:bodyPr wrap="square" lIns="0" tIns="0" rIns="0" bIns="0" rtlCol="0" anchor="ctr"/>
          <a:lstStyle/>
          <a:p>
            <a:pPr>
              <a:lnSpc>
                <a:spcPct val="122000"/>
              </a:lnSpc>
            </a:pPr>
            <a:r>
              <a:rPr lang="en-US" sz="1200" dirty="0">
                <a:solidFill>
                  <a:schemeClr val="bg1"/>
                </a:solidFill>
              </a:rPr>
              <a:t>Early Detection of Heart Failure through Machine Learning with Explainable Artificial Intelligence</a:t>
            </a:r>
          </a:p>
        </p:txBody>
      </p:sp>
      <p:sp>
        <p:nvSpPr>
          <p:cNvPr id="14" name="Text 9">
            <a:extLst>
              <a:ext uri="{FF2B5EF4-FFF2-40B4-BE49-F238E27FC236}">
                <a16:creationId xmlns:a16="http://schemas.microsoft.com/office/drawing/2014/main" id="{621F8045-DA1B-2AB8-19A7-F37C6B1813A4}"/>
              </a:ext>
            </a:extLst>
          </p:cNvPr>
          <p:cNvSpPr/>
          <p:nvPr/>
        </p:nvSpPr>
        <p:spPr>
          <a:xfrm>
            <a:off x="6736842" y="1279881"/>
            <a:ext cx="3136392" cy="411480"/>
          </a:xfrm>
          <a:prstGeom prst="rect">
            <a:avLst/>
          </a:prstGeom>
          <a:noFill/>
          <a:ln/>
        </p:spPr>
        <p:txBody>
          <a:bodyPr wrap="square" lIns="0" tIns="0" rIns="0" bIns="0" rtlCol="0" anchor="ctr"/>
          <a:lstStyle/>
          <a:p>
            <a:r>
              <a:rPr lang="en-US" sz="1600" b="1" dirty="0">
                <a:solidFill>
                  <a:schemeClr val="bg1"/>
                </a:solidFill>
              </a:rPr>
              <a:t>Conference:</a:t>
            </a:r>
            <a:endParaRPr lang="en-US" sz="1550" dirty="0">
              <a:solidFill>
                <a:schemeClr val="bg1"/>
              </a:solidFill>
            </a:endParaRPr>
          </a:p>
        </p:txBody>
      </p:sp>
      <p:sp>
        <p:nvSpPr>
          <p:cNvPr id="15" name="Text 10">
            <a:extLst>
              <a:ext uri="{FF2B5EF4-FFF2-40B4-BE49-F238E27FC236}">
                <a16:creationId xmlns:a16="http://schemas.microsoft.com/office/drawing/2014/main" id="{FA3F7FFA-C4F7-A2A9-29A0-A58F6EEC12AA}"/>
              </a:ext>
            </a:extLst>
          </p:cNvPr>
          <p:cNvSpPr/>
          <p:nvPr/>
        </p:nvSpPr>
        <p:spPr>
          <a:xfrm>
            <a:off x="6711696" y="1897580"/>
            <a:ext cx="3136392" cy="1005840"/>
          </a:xfrm>
          <a:prstGeom prst="rect">
            <a:avLst/>
          </a:prstGeom>
          <a:noFill/>
          <a:ln/>
        </p:spPr>
        <p:txBody>
          <a:bodyPr wrap="square" lIns="0" tIns="0" rIns="0" bIns="0" rtlCol="0" anchor="ctr"/>
          <a:lstStyle/>
          <a:p>
            <a:pPr>
              <a:lnSpc>
                <a:spcPct val="122000"/>
              </a:lnSpc>
            </a:pPr>
            <a:r>
              <a:rPr lang="en-US" sz="1100" dirty="0">
                <a:solidFill>
                  <a:schemeClr val="bg1"/>
                </a:solidFill>
              </a:rPr>
              <a:t>IEEE International Conference on Biomedical Engineering, Computer and Information Technology for Health</a:t>
            </a:r>
            <a:endParaRPr lang="en-US" sz="1080" dirty="0">
              <a:solidFill>
                <a:schemeClr val="bg1"/>
              </a:solidFill>
            </a:endParaRPr>
          </a:p>
        </p:txBody>
      </p:sp>
      <p:sp>
        <p:nvSpPr>
          <p:cNvPr id="23" name="Text 16">
            <a:extLst>
              <a:ext uri="{FF2B5EF4-FFF2-40B4-BE49-F238E27FC236}">
                <a16:creationId xmlns:a16="http://schemas.microsoft.com/office/drawing/2014/main" id="{4BE1ED87-C728-4DA3-9DFF-5A1B7CA12EE8}"/>
              </a:ext>
            </a:extLst>
          </p:cNvPr>
          <p:cNvSpPr/>
          <p:nvPr/>
        </p:nvSpPr>
        <p:spPr>
          <a:xfrm>
            <a:off x="5615788" y="6515374"/>
            <a:ext cx="960120" cy="256032"/>
          </a:xfrm>
          <a:prstGeom prst="rect">
            <a:avLst/>
          </a:prstGeom>
          <a:noFill/>
          <a:ln/>
        </p:spPr>
        <p:txBody>
          <a:bodyPr wrap="square" lIns="0" tIns="0" rIns="0" bIns="0" rtlCol="0" anchor="ctr"/>
          <a:lstStyle/>
          <a:p>
            <a:pPr marL="0" indent="0" algn="r">
              <a:buNone/>
            </a:pPr>
            <a:r>
              <a:rPr lang="en-US" sz="1200" dirty="0">
                <a:solidFill>
                  <a:srgbClr val="5C8D8A"/>
                </a:solidFill>
                <a:latin typeface="Calibri" pitchFamily="34" charset="0"/>
                <a:ea typeface="Calibri" pitchFamily="34" charset="-122"/>
                <a:cs typeface="Calibri" pitchFamily="34" charset="-120"/>
              </a:rPr>
              <a:t>14/ 15</a:t>
            </a:r>
            <a:endParaRPr lang="en-US" sz="1200" dirty="0"/>
          </a:p>
        </p:txBody>
      </p:sp>
      <p:sp>
        <p:nvSpPr>
          <p:cNvPr id="28" name="Text 5">
            <a:extLst>
              <a:ext uri="{FF2B5EF4-FFF2-40B4-BE49-F238E27FC236}">
                <a16:creationId xmlns:a16="http://schemas.microsoft.com/office/drawing/2014/main" id="{A46AE727-0989-7DDC-2E89-97579882E6CF}"/>
              </a:ext>
            </a:extLst>
          </p:cNvPr>
          <p:cNvSpPr/>
          <p:nvPr/>
        </p:nvSpPr>
        <p:spPr>
          <a:xfrm>
            <a:off x="2729484" y="4464355"/>
            <a:ext cx="3136392" cy="411480"/>
          </a:xfrm>
          <a:prstGeom prst="rect">
            <a:avLst/>
          </a:prstGeom>
          <a:noFill/>
          <a:ln/>
        </p:spPr>
        <p:txBody>
          <a:bodyPr wrap="square" lIns="0" tIns="0" rIns="0" bIns="0" rtlCol="0" anchor="ctr"/>
          <a:lstStyle/>
          <a:p>
            <a:r>
              <a:rPr lang="en-US" sz="1600" b="1" dirty="0">
                <a:solidFill>
                  <a:schemeClr val="bg1"/>
                </a:solidFill>
              </a:rPr>
              <a:t>Submission Status:</a:t>
            </a:r>
            <a:endParaRPr lang="en-US" sz="1600" dirty="0">
              <a:solidFill>
                <a:schemeClr val="bg1"/>
              </a:solidFill>
            </a:endParaRPr>
          </a:p>
        </p:txBody>
      </p:sp>
      <p:sp>
        <p:nvSpPr>
          <p:cNvPr id="37" name="Rectangle 9">
            <a:extLst>
              <a:ext uri="{FF2B5EF4-FFF2-40B4-BE49-F238E27FC236}">
                <a16:creationId xmlns:a16="http://schemas.microsoft.com/office/drawing/2014/main" id="{86DAC083-C1AF-4E14-41F1-476A3113CEF8}"/>
              </a:ext>
            </a:extLst>
          </p:cNvPr>
          <p:cNvSpPr>
            <a:spLocks noChangeArrowheads="1"/>
          </p:cNvSpPr>
          <p:nvPr/>
        </p:nvSpPr>
        <p:spPr bwMode="auto">
          <a:xfrm>
            <a:off x="2645092" y="4679501"/>
            <a:ext cx="303085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bg1"/>
                </a:solidFill>
                <a:effectLst/>
                <a:latin typeface="Arial" panose="020B0604020202020204" pitchFamily="34" charset="0"/>
              </a:rPr>
              <a:t> </a:t>
            </a:r>
          </a:p>
        </p:txBody>
      </p:sp>
      <p:sp>
        <p:nvSpPr>
          <p:cNvPr id="8" name="Text 2">
            <a:extLst>
              <a:ext uri="{FF2B5EF4-FFF2-40B4-BE49-F238E27FC236}">
                <a16:creationId xmlns:a16="http://schemas.microsoft.com/office/drawing/2014/main" id="{78E3E9E5-6762-D66C-6E41-D569917AA30F}"/>
              </a:ext>
            </a:extLst>
          </p:cNvPr>
          <p:cNvSpPr/>
          <p:nvPr/>
        </p:nvSpPr>
        <p:spPr>
          <a:xfrm>
            <a:off x="1298448" y="457200"/>
            <a:ext cx="7315200" cy="274320"/>
          </a:xfrm>
          <a:prstGeom prst="rect">
            <a:avLst/>
          </a:prstGeom>
          <a:noFill/>
          <a:ln/>
        </p:spPr>
        <p:txBody>
          <a:bodyPr wrap="square" lIns="0" tIns="0" rIns="0" bIns="0" rtlCol="0" anchor="ctr"/>
          <a:lstStyle/>
          <a:p>
            <a:pPr marL="0" indent="0">
              <a:buNone/>
            </a:pPr>
            <a:endParaRPr lang="en-US" sz="1100" dirty="0"/>
          </a:p>
        </p:txBody>
      </p:sp>
      <p:sp>
        <p:nvSpPr>
          <p:cNvPr id="12" name="Text 3">
            <a:extLst>
              <a:ext uri="{FF2B5EF4-FFF2-40B4-BE49-F238E27FC236}">
                <a16:creationId xmlns:a16="http://schemas.microsoft.com/office/drawing/2014/main" id="{5DD70B35-A266-E62A-5FE4-ECFC856A5AF5}"/>
              </a:ext>
            </a:extLst>
          </p:cNvPr>
          <p:cNvSpPr/>
          <p:nvPr/>
        </p:nvSpPr>
        <p:spPr>
          <a:xfrm>
            <a:off x="1298448" y="526934"/>
            <a:ext cx="8778240" cy="566928"/>
          </a:xfrm>
          <a:prstGeom prst="rect">
            <a:avLst/>
          </a:prstGeom>
          <a:noFill/>
          <a:ln/>
        </p:spPr>
        <p:txBody>
          <a:bodyPr wrap="square" lIns="0" tIns="0" rIns="0" bIns="0" rtlCol="0" anchor="ctr"/>
          <a:lstStyle/>
          <a:p>
            <a:pPr marL="0" indent="0">
              <a:buNone/>
            </a:pPr>
            <a:r>
              <a:rPr lang="en-US" sz="3000" b="1" dirty="0">
                <a:solidFill>
                  <a:srgbClr val="0B2E33"/>
                </a:solidFill>
                <a:latin typeface="Cambria" pitchFamily="34" charset="0"/>
                <a:ea typeface="Cambria" pitchFamily="34" charset="-122"/>
                <a:cs typeface="Cambria" pitchFamily="34" charset="-120"/>
              </a:rPr>
              <a:t>Publication Status</a:t>
            </a:r>
            <a:endParaRPr lang="en-US" sz="3000" dirty="0"/>
          </a:p>
        </p:txBody>
      </p:sp>
      <p:pic>
        <p:nvPicPr>
          <p:cNvPr id="16" name="Image 1" descr="icons/rocket-white.png">
            <a:extLst>
              <a:ext uri="{FF2B5EF4-FFF2-40B4-BE49-F238E27FC236}">
                <a16:creationId xmlns:a16="http://schemas.microsoft.com/office/drawing/2014/main" id="{6EC4E646-F2A7-A7E0-D371-0869D0493C63}"/>
              </a:ext>
            </a:extLst>
          </p:cNvPr>
          <p:cNvPicPr>
            <a:picLocks noChangeAspect="1"/>
          </p:cNvPicPr>
          <p:nvPr/>
        </p:nvPicPr>
        <p:blipFill>
          <a:blip r:embed="rId4"/>
          <a:stretch>
            <a:fillRect/>
          </a:stretch>
        </p:blipFill>
        <p:spPr>
          <a:xfrm>
            <a:off x="7680960" y="2001906"/>
            <a:ext cx="457200" cy="457200"/>
          </a:xfrm>
          <a:prstGeom prst="rect">
            <a:avLst/>
          </a:prstGeom>
        </p:spPr>
      </p:pic>
      <p:sp>
        <p:nvSpPr>
          <p:cNvPr id="17" name="Text 8">
            <a:extLst>
              <a:ext uri="{FF2B5EF4-FFF2-40B4-BE49-F238E27FC236}">
                <a16:creationId xmlns:a16="http://schemas.microsoft.com/office/drawing/2014/main" id="{C46C18EB-B656-807E-F840-EC88FD1DFEAE}"/>
              </a:ext>
            </a:extLst>
          </p:cNvPr>
          <p:cNvSpPr/>
          <p:nvPr/>
        </p:nvSpPr>
        <p:spPr>
          <a:xfrm>
            <a:off x="7680960" y="3121074"/>
            <a:ext cx="3749040" cy="868680"/>
          </a:xfrm>
          <a:prstGeom prst="rect">
            <a:avLst/>
          </a:prstGeom>
          <a:noFill/>
          <a:ln/>
        </p:spPr>
        <p:txBody>
          <a:bodyPr wrap="square" lIns="0" tIns="0" rIns="0" bIns="0" rtlCol="0" anchor="ctr"/>
          <a:lstStyle/>
          <a:p>
            <a:pPr marL="0" indent="0">
              <a:lnSpc>
                <a:spcPct val="115000"/>
              </a:lnSpc>
              <a:buNone/>
            </a:pPr>
            <a:r>
              <a:rPr lang="en-US" sz="1800" b="1" dirty="0">
                <a:solidFill>
                  <a:srgbClr val="FFFFFF"/>
                </a:solidFill>
                <a:latin typeface="Cambria" pitchFamily="34" charset="0"/>
                <a:ea typeface="Cambria" pitchFamily="34" charset="-122"/>
                <a:cs typeface="Cambria" pitchFamily="34" charset="-120"/>
              </a:rPr>
              <a:t>Toward Real-World</a:t>
            </a:r>
            <a:endParaRPr lang="en-US" sz="1800" dirty="0"/>
          </a:p>
          <a:p>
            <a:pPr marL="0" indent="0">
              <a:lnSpc>
                <a:spcPct val="115000"/>
              </a:lnSpc>
              <a:buNone/>
            </a:pPr>
            <a:r>
              <a:rPr lang="en-US" sz="1800" b="1" dirty="0">
                <a:solidFill>
                  <a:srgbClr val="FFFFFF"/>
                </a:solidFill>
                <a:latin typeface="Cambria" pitchFamily="34" charset="0"/>
                <a:ea typeface="Cambria" pitchFamily="34" charset="-122"/>
                <a:cs typeface="Cambria" pitchFamily="34" charset="-120"/>
              </a:rPr>
              <a:t>Clinical Deployment</a:t>
            </a:r>
            <a:endParaRPr lang="en-US" sz="1800" dirty="0"/>
          </a:p>
        </p:txBody>
      </p:sp>
      <p:sp>
        <p:nvSpPr>
          <p:cNvPr id="19" name="Shape 7">
            <a:extLst>
              <a:ext uri="{FF2B5EF4-FFF2-40B4-BE49-F238E27FC236}">
                <a16:creationId xmlns:a16="http://schemas.microsoft.com/office/drawing/2014/main" id="{AB8C9CF6-BA19-7A0E-8756-8AFE894CEDDF}"/>
              </a:ext>
            </a:extLst>
          </p:cNvPr>
          <p:cNvSpPr/>
          <p:nvPr/>
        </p:nvSpPr>
        <p:spPr>
          <a:xfrm>
            <a:off x="704088" y="1856938"/>
            <a:ext cx="420624" cy="420624"/>
          </a:xfrm>
          <a:prstGeom prst="ellipse">
            <a:avLst/>
          </a:prstGeom>
          <a:solidFill>
            <a:srgbClr val="E4572E"/>
          </a:solidFill>
          <a:ln/>
        </p:spPr>
      </p:sp>
      <p:pic>
        <p:nvPicPr>
          <p:cNvPr id="20" name="Image 1" descr="icons/database-white.png">
            <a:extLst>
              <a:ext uri="{FF2B5EF4-FFF2-40B4-BE49-F238E27FC236}">
                <a16:creationId xmlns:a16="http://schemas.microsoft.com/office/drawing/2014/main" id="{91CA57DE-85C4-1AEC-8912-25C4AAF6E1B8}"/>
              </a:ext>
            </a:extLst>
          </p:cNvPr>
          <p:cNvPicPr>
            <a:picLocks noChangeAspect="1"/>
          </p:cNvPicPr>
          <p:nvPr/>
        </p:nvPicPr>
        <p:blipFill>
          <a:blip r:embed="rId5"/>
          <a:stretch>
            <a:fillRect/>
          </a:stretch>
        </p:blipFill>
        <p:spPr>
          <a:xfrm>
            <a:off x="813816" y="1966666"/>
            <a:ext cx="201168" cy="201168"/>
          </a:xfrm>
          <a:prstGeom prst="rect">
            <a:avLst/>
          </a:prstGeom>
        </p:spPr>
      </p:pic>
      <p:sp>
        <p:nvSpPr>
          <p:cNvPr id="21" name="Text 8">
            <a:extLst>
              <a:ext uri="{FF2B5EF4-FFF2-40B4-BE49-F238E27FC236}">
                <a16:creationId xmlns:a16="http://schemas.microsoft.com/office/drawing/2014/main" id="{95072188-9F21-207C-87E3-145096F36663}"/>
              </a:ext>
            </a:extLst>
          </p:cNvPr>
          <p:cNvSpPr/>
          <p:nvPr/>
        </p:nvSpPr>
        <p:spPr>
          <a:xfrm>
            <a:off x="1252728" y="1820362"/>
            <a:ext cx="4434840" cy="457200"/>
          </a:xfrm>
          <a:prstGeom prst="rect">
            <a:avLst/>
          </a:prstGeom>
          <a:noFill/>
          <a:ln/>
        </p:spPr>
        <p:txBody>
          <a:bodyPr wrap="square" lIns="0" tIns="0" rIns="0" bIns="0" rtlCol="0" anchor="ctr"/>
          <a:lstStyle/>
          <a:p>
            <a:pPr marL="0" indent="0">
              <a:buNone/>
            </a:pPr>
            <a:r>
              <a:rPr lang="en-US" sz="1250" b="1" dirty="0">
                <a:solidFill>
                  <a:srgbClr val="0B2E33"/>
                </a:solidFill>
                <a:latin typeface="Cambria" pitchFamily="34" charset="0"/>
                <a:ea typeface="Cambria" pitchFamily="34" charset="-122"/>
                <a:cs typeface="Cambria" pitchFamily="34" charset="-120"/>
              </a:rPr>
              <a:t>Larger and Diverse Dataset</a:t>
            </a:r>
            <a:endParaRPr lang="en-US" sz="1250" dirty="0"/>
          </a:p>
        </p:txBody>
      </p:sp>
      <p:sp>
        <p:nvSpPr>
          <p:cNvPr id="22" name="Text 9">
            <a:extLst>
              <a:ext uri="{FF2B5EF4-FFF2-40B4-BE49-F238E27FC236}">
                <a16:creationId xmlns:a16="http://schemas.microsoft.com/office/drawing/2014/main" id="{F1B20216-B4A0-EA65-A10E-6B9925954262}"/>
              </a:ext>
            </a:extLst>
          </p:cNvPr>
          <p:cNvSpPr/>
          <p:nvPr/>
        </p:nvSpPr>
        <p:spPr>
          <a:xfrm>
            <a:off x="758952" y="2369002"/>
            <a:ext cx="4837176" cy="512064"/>
          </a:xfrm>
          <a:prstGeom prst="rect">
            <a:avLst/>
          </a:prstGeom>
          <a:noFill/>
          <a:ln/>
        </p:spPr>
        <p:txBody>
          <a:bodyPr wrap="square" lIns="0" tIns="0" rIns="0" bIns="0" rtlCol="0" anchor="t"/>
          <a:lstStyle/>
          <a:p>
            <a:pPr marL="0" indent="0">
              <a:lnSpc>
                <a:spcPct val="112000"/>
              </a:lnSpc>
              <a:buNone/>
            </a:pPr>
            <a:r>
              <a:rPr lang="en-US" sz="980" dirty="0">
                <a:solidFill>
                  <a:srgbClr val="16282A"/>
                </a:solidFill>
                <a:latin typeface="Calibri" pitchFamily="34" charset="0"/>
                <a:ea typeface="Calibri" pitchFamily="34" charset="-122"/>
                <a:cs typeface="Calibri" pitchFamily="34" charset="-120"/>
              </a:rPr>
              <a:t>Future research should use larger multi-center datasets from different countries and demographics to improve model generalizability.</a:t>
            </a:r>
            <a:endParaRPr lang="en-US" sz="980" dirty="0"/>
          </a:p>
        </p:txBody>
      </p:sp>
      <p:sp>
        <p:nvSpPr>
          <p:cNvPr id="24" name="Shape 10">
            <a:extLst>
              <a:ext uri="{FF2B5EF4-FFF2-40B4-BE49-F238E27FC236}">
                <a16:creationId xmlns:a16="http://schemas.microsoft.com/office/drawing/2014/main" id="{C46BC89E-CD5C-AF0F-7212-45AB8E4052B5}"/>
              </a:ext>
            </a:extLst>
          </p:cNvPr>
          <p:cNvSpPr/>
          <p:nvPr/>
        </p:nvSpPr>
        <p:spPr>
          <a:xfrm>
            <a:off x="6205728" y="1823793"/>
            <a:ext cx="5349240" cy="1298448"/>
          </a:xfrm>
          <a:prstGeom prst="roundRect">
            <a:avLst>
              <a:gd name="adj" fmla="val 6338"/>
            </a:avLst>
          </a:prstGeom>
          <a:solidFill>
            <a:srgbClr val="FFFFFF"/>
          </a:solidFill>
          <a:ln/>
          <a:effectLst>
            <a:outerShdw blurRad="114300" dist="38100" dir="5400000" algn="bl" rotWithShape="0">
              <a:srgbClr val="0B2E33">
                <a:alpha val="14000"/>
              </a:srgbClr>
            </a:outerShdw>
          </a:effectLst>
        </p:spPr>
        <p:txBody>
          <a:bodyPr/>
          <a:lstStyle/>
          <a:p>
            <a:endParaRPr lang="en-US" dirty="0"/>
          </a:p>
        </p:txBody>
      </p:sp>
      <p:sp>
        <p:nvSpPr>
          <p:cNvPr id="25" name="Shape 11">
            <a:extLst>
              <a:ext uri="{FF2B5EF4-FFF2-40B4-BE49-F238E27FC236}">
                <a16:creationId xmlns:a16="http://schemas.microsoft.com/office/drawing/2014/main" id="{6698B8D6-F595-C8EB-C191-858750B83B33}"/>
              </a:ext>
            </a:extLst>
          </p:cNvPr>
          <p:cNvSpPr/>
          <p:nvPr/>
        </p:nvSpPr>
        <p:spPr>
          <a:xfrm>
            <a:off x="6327648" y="1864746"/>
            <a:ext cx="420624" cy="420624"/>
          </a:xfrm>
          <a:prstGeom prst="ellipse">
            <a:avLst/>
          </a:prstGeom>
          <a:solidFill>
            <a:srgbClr val="E4572E"/>
          </a:solidFill>
          <a:ln/>
        </p:spPr>
        <p:txBody>
          <a:bodyPr/>
          <a:lstStyle/>
          <a:p>
            <a:endParaRPr lang="en-US" dirty="0"/>
          </a:p>
        </p:txBody>
      </p:sp>
      <p:sp>
        <p:nvSpPr>
          <p:cNvPr id="31" name="Text 12">
            <a:extLst>
              <a:ext uri="{FF2B5EF4-FFF2-40B4-BE49-F238E27FC236}">
                <a16:creationId xmlns:a16="http://schemas.microsoft.com/office/drawing/2014/main" id="{55EE1D6A-4AFB-A310-9EBB-70F86BA34D55}"/>
              </a:ext>
            </a:extLst>
          </p:cNvPr>
          <p:cNvSpPr/>
          <p:nvPr/>
        </p:nvSpPr>
        <p:spPr>
          <a:xfrm>
            <a:off x="6876288" y="1828170"/>
            <a:ext cx="4434840" cy="457200"/>
          </a:xfrm>
          <a:prstGeom prst="rect">
            <a:avLst/>
          </a:prstGeom>
          <a:noFill/>
          <a:ln/>
        </p:spPr>
        <p:txBody>
          <a:bodyPr wrap="square" lIns="0" tIns="0" rIns="0" bIns="0" rtlCol="0" anchor="ctr"/>
          <a:lstStyle/>
          <a:p>
            <a:pPr marL="0" indent="0">
              <a:buNone/>
            </a:pPr>
            <a:r>
              <a:rPr lang="en-US" sz="1250" b="1" dirty="0">
                <a:solidFill>
                  <a:srgbClr val="0B2E33"/>
                </a:solidFill>
                <a:latin typeface="Cambria" pitchFamily="34" charset="0"/>
                <a:ea typeface="Cambria" pitchFamily="34" charset="-122"/>
                <a:cs typeface="Cambria" pitchFamily="34" charset="-120"/>
              </a:rPr>
              <a:t>Conference</a:t>
            </a:r>
            <a:endParaRPr lang="en-US" sz="1250" dirty="0"/>
          </a:p>
        </p:txBody>
      </p:sp>
      <p:sp>
        <p:nvSpPr>
          <p:cNvPr id="32" name="Text 13">
            <a:extLst>
              <a:ext uri="{FF2B5EF4-FFF2-40B4-BE49-F238E27FC236}">
                <a16:creationId xmlns:a16="http://schemas.microsoft.com/office/drawing/2014/main" id="{4111E30E-9C94-DCF0-9221-69935A0EDF82}"/>
              </a:ext>
            </a:extLst>
          </p:cNvPr>
          <p:cNvSpPr/>
          <p:nvPr/>
        </p:nvSpPr>
        <p:spPr>
          <a:xfrm>
            <a:off x="6382512" y="2376810"/>
            <a:ext cx="4837176" cy="512064"/>
          </a:xfrm>
          <a:prstGeom prst="rect">
            <a:avLst/>
          </a:prstGeom>
          <a:noFill/>
          <a:ln/>
        </p:spPr>
        <p:txBody>
          <a:bodyPr wrap="square" lIns="0" tIns="0" rIns="0" bIns="0" rtlCol="0" anchor="t"/>
          <a:lstStyle/>
          <a:p>
            <a:pPr marL="0" indent="0">
              <a:lnSpc>
                <a:spcPct val="112000"/>
              </a:lnSpc>
              <a:buNone/>
            </a:pPr>
            <a:r>
              <a:rPr lang="en-US" sz="1200" dirty="0">
                <a:solidFill>
                  <a:srgbClr val="16282A"/>
                </a:solidFill>
                <a:latin typeface="Calibri" pitchFamily="34" charset="0"/>
                <a:ea typeface="Calibri" pitchFamily="34" charset="-122"/>
                <a:cs typeface="Calibri" pitchFamily="34" charset="-120"/>
              </a:rPr>
              <a:t>2026 IEEE International Conference on Biomedical Engineering, Computer and Information Technology for Health (BECITHCON2026)</a:t>
            </a:r>
            <a:endParaRPr lang="en-US" sz="1200" dirty="0"/>
          </a:p>
        </p:txBody>
      </p:sp>
      <p:sp>
        <p:nvSpPr>
          <p:cNvPr id="33" name="Shape 15">
            <a:extLst>
              <a:ext uri="{FF2B5EF4-FFF2-40B4-BE49-F238E27FC236}">
                <a16:creationId xmlns:a16="http://schemas.microsoft.com/office/drawing/2014/main" id="{C98A20B2-42C6-6846-3BDF-44101B0C3B1B}"/>
              </a:ext>
            </a:extLst>
          </p:cNvPr>
          <p:cNvSpPr/>
          <p:nvPr/>
        </p:nvSpPr>
        <p:spPr>
          <a:xfrm>
            <a:off x="704088" y="3718561"/>
            <a:ext cx="420624" cy="420624"/>
          </a:xfrm>
          <a:prstGeom prst="ellipse">
            <a:avLst/>
          </a:prstGeom>
          <a:solidFill>
            <a:srgbClr val="E4572E"/>
          </a:solidFill>
          <a:ln/>
        </p:spPr>
      </p:sp>
      <p:pic>
        <p:nvPicPr>
          <p:cNvPr id="34" name="Image 3" descr="icons/robot-white.png">
            <a:extLst>
              <a:ext uri="{FF2B5EF4-FFF2-40B4-BE49-F238E27FC236}">
                <a16:creationId xmlns:a16="http://schemas.microsoft.com/office/drawing/2014/main" id="{4A106374-0373-3BA5-0B2E-D0BCCBD5049F}"/>
              </a:ext>
            </a:extLst>
          </p:cNvPr>
          <p:cNvPicPr>
            <a:picLocks noChangeAspect="1"/>
          </p:cNvPicPr>
          <p:nvPr/>
        </p:nvPicPr>
        <p:blipFill>
          <a:blip r:embed="rId6"/>
          <a:stretch>
            <a:fillRect/>
          </a:stretch>
        </p:blipFill>
        <p:spPr>
          <a:xfrm>
            <a:off x="813816" y="3828289"/>
            <a:ext cx="201168" cy="201168"/>
          </a:xfrm>
          <a:prstGeom prst="rect">
            <a:avLst/>
          </a:prstGeom>
        </p:spPr>
      </p:pic>
      <p:sp>
        <p:nvSpPr>
          <p:cNvPr id="35" name="Text 16">
            <a:extLst>
              <a:ext uri="{FF2B5EF4-FFF2-40B4-BE49-F238E27FC236}">
                <a16:creationId xmlns:a16="http://schemas.microsoft.com/office/drawing/2014/main" id="{5B83E118-3A08-7AAC-994A-8A919D034A14}"/>
              </a:ext>
            </a:extLst>
          </p:cNvPr>
          <p:cNvSpPr/>
          <p:nvPr/>
        </p:nvSpPr>
        <p:spPr>
          <a:xfrm>
            <a:off x="1252728" y="3681985"/>
            <a:ext cx="4434840" cy="457200"/>
          </a:xfrm>
          <a:prstGeom prst="rect">
            <a:avLst/>
          </a:prstGeom>
          <a:noFill/>
          <a:ln/>
        </p:spPr>
        <p:txBody>
          <a:bodyPr wrap="square" lIns="0" tIns="0" rIns="0" bIns="0" rtlCol="0" anchor="ctr"/>
          <a:lstStyle/>
          <a:p>
            <a:pPr marL="0" indent="0">
              <a:buNone/>
            </a:pPr>
            <a:r>
              <a:rPr lang="en-US" sz="1250" b="1" dirty="0">
                <a:solidFill>
                  <a:srgbClr val="0B2E33"/>
                </a:solidFill>
                <a:latin typeface="Cambria" pitchFamily="34" charset="0"/>
                <a:ea typeface="Cambria" pitchFamily="34" charset="-122"/>
                <a:cs typeface="Cambria" pitchFamily="34" charset="-120"/>
              </a:rPr>
              <a:t>Deep Learning Approaches</a:t>
            </a:r>
            <a:endParaRPr lang="en-US" sz="1250" dirty="0"/>
          </a:p>
        </p:txBody>
      </p:sp>
      <p:sp>
        <p:nvSpPr>
          <p:cNvPr id="36" name="Text 17">
            <a:extLst>
              <a:ext uri="{FF2B5EF4-FFF2-40B4-BE49-F238E27FC236}">
                <a16:creationId xmlns:a16="http://schemas.microsoft.com/office/drawing/2014/main" id="{4D96D3B3-3BE7-F4C2-EA69-3F4F56BB0510}"/>
              </a:ext>
            </a:extLst>
          </p:cNvPr>
          <p:cNvSpPr/>
          <p:nvPr/>
        </p:nvSpPr>
        <p:spPr>
          <a:xfrm>
            <a:off x="758952" y="4230625"/>
            <a:ext cx="4837176" cy="512064"/>
          </a:xfrm>
          <a:prstGeom prst="rect">
            <a:avLst/>
          </a:prstGeom>
          <a:noFill/>
          <a:ln/>
        </p:spPr>
        <p:txBody>
          <a:bodyPr wrap="square" lIns="0" tIns="0" rIns="0" bIns="0" rtlCol="0" anchor="t"/>
          <a:lstStyle/>
          <a:p>
            <a:pPr marL="0" indent="0">
              <a:lnSpc>
                <a:spcPct val="112000"/>
              </a:lnSpc>
              <a:buNone/>
            </a:pPr>
            <a:r>
              <a:rPr lang="en-US" sz="980" dirty="0">
                <a:solidFill>
                  <a:srgbClr val="16282A"/>
                </a:solidFill>
                <a:latin typeface="Calibri" pitchFamily="34" charset="0"/>
                <a:ea typeface="Calibri" pitchFamily="34" charset="-122"/>
                <a:cs typeface="Calibri" pitchFamily="34" charset="-120"/>
              </a:rPr>
              <a:t>Explore advanced deep learning models such as Transformer and Graph Neural Networks for improved prediction accuracy.</a:t>
            </a:r>
            <a:endParaRPr lang="en-US" sz="980" dirty="0"/>
          </a:p>
        </p:txBody>
      </p:sp>
      <p:sp>
        <p:nvSpPr>
          <p:cNvPr id="38" name="Shape 18">
            <a:extLst>
              <a:ext uri="{FF2B5EF4-FFF2-40B4-BE49-F238E27FC236}">
                <a16:creationId xmlns:a16="http://schemas.microsoft.com/office/drawing/2014/main" id="{CA7FDDC3-4C4B-FA1D-6EF7-65B82D0CBD7C}"/>
              </a:ext>
            </a:extLst>
          </p:cNvPr>
          <p:cNvSpPr/>
          <p:nvPr/>
        </p:nvSpPr>
        <p:spPr>
          <a:xfrm>
            <a:off x="6234489" y="3665884"/>
            <a:ext cx="5233416" cy="1298449"/>
          </a:xfrm>
          <a:prstGeom prst="roundRect">
            <a:avLst>
              <a:gd name="adj" fmla="val 6338"/>
            </a:avLst>
          </a:prstGeom>
          <a:solidFill>
            <a:srgbClr val="FFFFFF"/>
          </a:solidFill>
          <a:ln/>
          <a:effectLst>
            <a:outerShdw blurRad="114300" dist="38100" dir="5400000" algn="bl" rotWithShape="0">
              <a:srgbClr val="0B2E33">
                <a:alpha val="14000"/>
              </a:srgbClr>
            </a:outerShdw>
          </a:effectLst>
        </p:spPr>
      </p:sp>
      <p:sp>
        <p:nvSpPr>
          <p:cNvPr id="40" name="Shape 19">
            <a:extLst>
              <a:ext uri="{FF2B5EF4-FFF2-40B4-BE49-F238E27FC236}">
                <a16:creationId xmlns:a16="http://schemas.microsoft.com/office/drawing/2014/main" id="{A6F21889-25A3-55EB-D7FD-4F39B26F3324}"/>
              </a:ext>
            </a:extLst>
          </p:cNvPr>
          <p:cNvSpPr/>
          <p:nvPr/>
        </p:nvSpPr>
        <p:spPr>
          <a:xfrm>
            <a:off x="6319833" y="3867054"/>
            <a:ext cx="420624" cy="420624"/>
          </a:xfrm>
          <a:prstGeom prst="ellipse">
            <a:avLst/>
          </a:prstGeom>
          <a:solidFill>
            <a:srgbClr val="E4572E"/>
          </a:solidFill>
          <a:ln/>
        </p:spPr>
      </p:sp>
      <p:sp>
        <p:nvSpPr>
          <p:cNvPr id="42" name="Text 20">
            <a:extLst>
              <a:ext uri="{FF2B5EF4-FFF2-40B4-BE49-F238E27FC236}">
                <a16:creationId xmlns:a16="http://schemas.microsoft.com/office/drawing/2014/main" id="{1AA77DD0-B1E4-66D7-92AD-477A0EB81F08}"/>
              </a:ext>
            </a:extLst>
          </p:cNvPr>
          <p:cNvSpPr/>
          <p:nvPr/>
        </p:nvSpPr>
        <p:spPr>
          <a:xfrm>
            <a:off x="6868473" y="3830478"/>
            <a:ext cx="4434840" cy="457200"/>
          </a:xfrm>
          <a:prstGeom prst="rect">
            <a:avLst/>
          </a:prstGeom>
          <a:noFill/>
          <a:ln/>
        </p:spPr>
        <p:txBody>
          <a:bodyPr wrap="square" lIns="0" tIns="0" rIns="0" bIns="0" rtlCol="0" anchor="ctr"/>
          <a:lstStyle/>
          <a:p>
            <a:pPr marL="0" indent="0">
              <a:buNone/>
            </a:pPr>
            <a:r>
              <a:rPr lang="en-US" sz="1250" b="1" dirty="0">
                <a:solidFill>
                  <a:srgbClr val="0B2E33"/>
                </a:solidFill>
                <a:latin typeface="Cambria" pitchFamily="34" charset="0"/>
                <a:ea typeface="Cambria" pitchFamily="34" charset="-122"/>
                <a:cs typeface="Cambria" pitchFamily="34" charset="-120"/>
              </a:rPr>
              <a:t>Primary Subject Area</a:t>
            </a:r>
            <a:endParaRPr lang="en-US" sz="1250" dirty="0"/>
          </a:p>
        </p:txBody>
      </p:sp>
      <p:sp>
        <p:nvSpPr>
          <p:cNvPr id="43" name="Text 21">
            <a:extLst>
              <a:ext uri="{FF2B5EF4-FFF2-40B4-BE49-F238E27FC236}">
                <a16:creationId xmlns:a16="http://schemas.microsoft.com/office/drawing/2014/main" id="{EA854A39-7CEA-3CB2-D58A-B43CF70FD1A9}"/>
              </a:ext>
            </a:extLst>
          </p:cNvPr>
          <p:cNvSpPr/>
          <p:nvPr/>
        </p:nvSpPr>
        <p:spPr>
          <a:xfrm>
            <a:off x="6374697" y="4379118"/>
            <a:ext cx="4837176" cy="512064"/>
          </a:xfrm>
          <a:prstGeom prst="rect">
            <a:avLst/>
          </a:prstGeom>
          <a:noFill/>
          <a:ln/>
        </p:spPr>
        <p:txBody>
          <a:bodyPr wrap="square" lIns="0" tIns="0" rIns="0" bIns="0" rtlCol="0" anchor="t"/>
          <a:lstStyle/>
          <a:p>
            <a:pPr marL="0" indent="0">
              <a:lnSpc>
                <a:spcPct val="112000"/>
              </a:lnSpc>
              <a:buNone/>
            </a:pPr>
            <a:r>
              <a:rPr lang="en-US" sz="1200" dirty="0">
                <a:solidFill>
                  <a:srgbClr val="16282A"/>
                </a:solidFill>
                <a:latin typeface="Calibri" pitchFamily="34" charset="0"/>
                <a:ea typeface="Calibri" pitchFamily="34" charset="-122"/>
                <a:cs typeface="Calibri" pitchFamily="34" charset="-120"/>
              </a:rPr>
              <a:t>Translational Engineering &amp; Healthcare Innovation Biomedical, Cognitive and Health Informatics</a:t>
            </a:r>
            <a:endParaRPr lang="en-US" sz="1200" dirty="0"/>
          </a:p>
        </p:txBody>
      </p:sp>
      <p:sp>
        <p:nvSpPr>
          <p:cNvPr id="48" name="Shape 6">
            <a:extLst>
              <a:ext uri="{FF2B5EF4-FFF2-40B4-BE49-F238E27FC236}">
                <a16:creationId xmlns:a16="http://schemas.microsoft.com/office/drawing/2014/main" id="{F4393464-C8EC-518B-7716-14311DE27774}"/>
              </a:ext>
            </a:extLst>
          </p:cNvPr>
          <p:cNvSpPr/>
          <p:nvPr/>
        </p:nvSpPr>
        <p:spPr>
          <a:xfrm>
            <a:off x="655320" y="1808170"/>
            <a:ext cx="5349240" cy="1298448"/>
          </a:xfrm>
          <a:prstGeom prst="roundRect">
            <a:avLst>
              <a:gd name="adj" fmla="val 6338"/>
            </a:avLst>
          </a:prstGeom>
          <a:solidFill>
            <a:srgbClr val="FFFFFF"/>
          </a:solidFill>
          <a:ln/>
          <a:effectLst>
            <a:outerShdw blurRad="114300" dist="38100" dir="5400000" algn="bl" rotWithShape="0">
              <a:srgbClr val="0B2E33">
                <a:alpha val="14000"/>
              </a:srgbClr>
            </a:outerShdw>
          </a:effectLst>
        </p:spPr>
      </p:sp>
      <p:sp>
        <p:nvSpPr>
          <p:cNvPr id="49" name="Shape 7">
            <a:extLst>
              <a:ext uri="{FF2B5EF4-FFF2-40B4-BE49-F238E27FC236}">
                <a16:creationId xmlns:a16="http://schemas.microsoft.com/office/drawing/2014/main" id="{A28916E2-6524-2D25-5694-498671F41FAD}"/>
              </a:ext>
            </a:extLst>
          </p:cNvPr>
          <p:cNvSpPr/>
          <p:nvPr/>
        </p:nvSpPr>
        <p:spPr>
          <a:xfrm>
            <a:off x="856488" y="2009338"/>
            <a:ext cx="420624" cy="420624"/>
          </a:xfrm>
          <a:prstGeom prst="ellipse">
            <a:avLst/>
          </a:prstGeom>
          <a:solidFill>
            <a:srgbClr val="E4572E"/>
          </a:solidFill>
          <a:ln/>
        </p:spPr>
      </p:sp>
      <p:sp>
        <p:nvSpPr>
          <p:cNvPr id="51" name="Text 8">
            <a:extLst>
              <a:ext uri="{FF2B5EF4-FFF2-40B4-BE49-F238E27FC236}">
                <a16:creationId xmlns:a16="http://schemas.microsoft.com/office/drawing/2014/main" id="{3B2BB25E-23B7-309C-2053-73A8B6F6800C}"/>
              </a:ext>
            </a:extLst>
          </p:cNvPr>
          <p:cNvSpPr/>
          <p:nvPr/>
        </p:nvSpPr>
        <p:spPr>
          <a:xfrm>
            <a:off x="1405128" y="1972762"/>
            <a:ext cx="4434840" cy="457200"/>
          </a:xfrm>
          <a:prstGeom prst="rect">
            <a:avLst/>
          </a:prstGeom>
          <a:noFill/>
          <a:ln/>
        </p:spPr>
        <p:txBody>
          <a:bodyPr wrap="square" lIns="0" tIns="0" rIns="0" bIns="0" rtlCol="0" anchor="ctr"/>
          <a:lstStyle/>
          <a:p>
            <a:pPr marL="0" indent="0">
              <a:buNone/>
            </a:pPr>
            <a:r>
              <a:rPr lang="en-US" sz="1250" b="1" dirty="0">
                <a:solidFill>
                  <a:srgbClr val="0B2E33"/>
                </a:solidFill>
                <a:latin typeface="Cambria" pitchFamily="34" charset="0"/>
                <a:ea typeface="Cambria" pitchFamily="34" charset="-122"/>
                <a:cs typeface="Cambria" pitchFamily="34" charset="-120"/>
              </a:rPr>
              <a:t>Paper Title</a:t>
            </a:r>
            <a:endParaRPr lang="en-US" sz="1250" dirty="0"/>
          </a:p>
        </p:txBody>
      </p:sp>
      <p:sp>
        <p:nvSpPr>
          <p:cNvPr id="52" name="Text 9">
            <a:extLst>
              <a:ext uri="{FF2B5EF4-FFF2-40B4-BE49-F238E27FC236}">
                <a16:creationId xmlns:a16="http://schemas.microsoft.com/office/drawing/2014/main" id="{EC5AE489-D010-2823-127F-65DAFDE72309}"/>
              </a:ext>
            </a:extLst>
          </p:cNvPr>
          <p:cNvSpPr/>
          <p:nvPr/>
        </p:nvSpPr>
        <p:spPr>
          <a:xfrm>
            <a:off x="911352" y="2521402"/>
            <a:ext cx="4837176" cy="512064"/>
          </a:xfrm>
          <a:prstGeom prst="rect">
            <a:avLst/>
          </a:prstGeom>
          <a:noFill/>
          <a:ln/>
        </p:spPr>
        <p:txBody>
          <a:bodyPr wrap="square" lIns="0" tIns="0" rIns="0" bIns="0" rtlCol="0" anchor="t"/>
          <a:lstStyle/>
          <a:p>
            <a:pPr marL="0" indent="0">
              <a:lnSpc>
                <a:spcPct val="112000"/>
              </a:lnSpc>
              <a:buNone/>
            </a:pPr>
            <a:r>
              <a:rPr lang="en-US" sz="1200" dirty="0">
                <a:solidFill>
                  <a:srgbClr val="16282A"/>
                </a:solidFill>
                <a:latin typeface="Calibri" pitchFamily="34" charset="0"/>
                <a:ea typeface="Calibri" pitchFamily="34" charset="-122"/>
                <a:cs typeface="Calibri" pitchFamily="34" charset="-120"/>
              </a:rPr>
              <a:t>Early Detection of Heart Failure through Machine Learning with Explainable Artificial Intelligence</a:t>
            </a:r>
            <a:endParaRPr lang="en-US" sz="1200" dirty="0"/>
          </a:p>
        </p:txBody>
      </p:sp>
      <p:sp>
        <p:nvSpPr>
          <p:cNvPr id="53" name="Shape 14">
            <a:extLst>
              <a:ext uri="{FF2B5EF4-FFF2-40B4-BE49-F238E27FC236}">
                <a16:creationId xmlns:a16="http://schemas.microsoft.com/office/drawing/2014/main" id="{518FABF6-1646-1E03-1AB3-5347942F5472}"/>
              </a:ext>
            </a:extLst>
          </p:cNvPr>
          <p:cNvSpPr/>
          <p:nvPr/>
        </p:nvSpPr>
        <p:spPr>
          <a:xfrm>
            <a:off x="655320" y="3669793"/>
            <a:ext cx="5349240" cy="1298448"/>
          </a:xfrm>
          <a:prstGeom prst="roundRect">
            <a:avLst>
              <a:gd name="adj" fmla="val 6338"/>
            </a:avLst>
          </a:prstGeom>
          <a:solidFill>
            <a:srgbClr val="FFFFFF"/>
          </a:solidFill>
          <a:ln/>
          <a:effectLst>
            <a:outerShdw blurRad="114300" dist="38100" dir="5400000" algn="bl" rotWithShape="0">
              <a:srgbClr val="0B2E33">
                <a:alpha val="14000"/>
              </a:srgbClr>
            </a:outerShdw>
          </a:effectLst>
        </p:spPr>
      </p:sp>
      <p:sp>
        <p:nvSpPr>
          <p:cNvPr id="54" name="Shape 15">
            <a:extLst>
              <a:ext uri="{FF2B5EF4-FFF2-40B4-BE49-F238E27FC236}">
                <a16:creationId xmlns:a16="http://schemas.microsoft.com/office/drawing/2014/main" id="{18E7E5C5-535A-9A02-0C7F-85491D448BE9}"/>
              </a:ext>
            </a:extLst>
          </p:cNvPr>
          <p:cNvSpPr/>
          <p:nvPr/>
        </p:nvSpPr>
        <p:spPr>
          <a:xfrm>
            <a:off x="856488" y="3870961"/>
            <a:ext cx="420624" cy="420624"/>
          </a:xfrm>
          <a:prstGeom prst="ellipse">
            <a:avLst/>
          </a:prstGeom>
          <a:solidFill>
            <a:srgbClr val="E4572E"/>
          </a:solidFill>
          <a:ln/>
        </p:spPr>
      </p:sp>
      <p:sp>
        <p:nvSpPr>
          <p:cNvPr id="56" name="Text 16">
            <a:extLst>
              <a:ext uri="{FF2B5EF4-FFF2-40B4-BE49-F238E27FC236}">
                <a16:creationId xmlns:a16="http://schemas.microsoft.com/office/drawing/2014/main" id="{58CF8C0F-6BB9-4B06-8ADD-9AB96C4F6435}"/>
              </a:ext>
            </a:extLst>
          </p:cNvPr>
          <p:cNvSpPr/>
          <p:nvPr/>
        </p:nvSpPr>
        <p:spPr>
          <a:xfrm>
            <a:off x="1405128" y="3834385"/>
            <a:ext cx="4434840" cy="457200"/>
          </a:xfrm>
          <a:prstGeom prst="rect">
            <a:avLst/>
          </a:prstGeom>
          <a:noFill/>
          <a:ln/>
        </p:spPr>
        <p:txBody>
          <a:bodyPr wrap="square" lIns="0" tIns="0" rIns="0" bIns="0" rtlCol="0" anchor="ctr"/>
          <a:lstStyle/>
          <a:p>
            <a:pPr marL="0" indent="0">
              <a:buNone/>
            </a:pPr>
            <a:r>
              <a:rPr lang="en-US" sz="1250" b="1" dirty="0">
                <a:solidFill>
                  <a:srgbClr val="0B2E33"/>
                </a:solidFill>
                <a:latin typeface="Cambria" pitchFamily="34" charset="0"/>
                <a:ea typeface="Cambria" pitchFamily="34" charset="-122"/>
                <a:cs typeface="Cambria" pitchFamily="34" charset="-120"/>
              </a:rPr>
              <a:t>Status</a:t>
            </a:r>
            <a:endParaRPr lang="en-US" sz="1250" dirty="0"/>
          </a:p>
        </p:txBody>
      </p:sp>
      <p:sp>
        <p:nvSpPr>
          <p:cNvPr id="57" name="Text 17">
            <a:extLst>
              <a:ext uri="{FF2B5EF4-FFF2-40B4-BE49-F238E27FC236}">
                <a16:creationId xmlns:a16="http://schemas.microsoft.com/office/drawing/2014/main" id="{D16454AD-5046-0AA2-4ED1-E011FA323FC5}"/>
              </a:ext>
            </a:extLst>
          </p:cNvPr>
          <p:cNvSpPr/>
          <p:nvPr/>
        </p:nvSpPr>
        <p:spPr>
          <a:xfrm>
            <a:off x="911352" y="4383025"/>
            <a:ext cx="4837176" cy="512064"/>
          </a:xfrm>
          <a:prstGeom prst="rect">
            <a:avLst/>
          </a:prstGeom>
          <a:noFill/>
          <a:ln/>
        </p:spPr>
        <p:txBody>
          <a:bodyPr wrap="square" lIns="0" tIns="0" rIns="0" bIns="0" rtlCol="0" anchor="t"/>
          <a:lstStyle/>
          <a:p>
            <a:pPr marL="0" indent="0">
              <a:lnSpc>
                <a:spcPct val="112000"/>
              </a:lnSpc>
              <a:buNone/>
            </a:pPr>
            <a:r>
              <a:rPr lang="en-US" sz="1200" dirty="0">
                <a:solidFill>
                  <a:srgbClr val="16282A"/>
                </a:solidFill>
                <a:latin typeface="Calibri" pitchFamily="34" charset="0"/>
                <a:ea typeface="Calibri" pitchFamily="34" charset="-122"/>
                <a:cs typeface="Calibri" pitchFamily="34" charset="-120"/>
              </a:rPr>
              <a:t>✅ Successfully Submitted — Wed, 03 June 2026</a:t>
            </a:r>
            <a:endParaRPr lang="en-US" sz="1200" dirty="0"/>
          </a:p>
        </p:txBody>
      </p:sp>
      <p:sp>
        <p:nvSpPr>
          <p:cNvPr id="61" name="Text 24">
            <a:extLst>
              <a:ext uri="{FF2B5EF4-FFF2-40B4-BE49-F238E27FC236}">
                <a16:creationId xmlns:a16="http://schemas.microsoft.com/office/drawing/2014/main" id="{2725C5BD-E675-EE9C-A471-2742E84D3132}"/>
              </a:ext>
            </a:extLst>
          </p:cNvPr>
          <p:cNvSpPr/>
          <p:nvPr/>
        </p:nvSpPr>
        <p:spPr>
          <a:xfrm>
            <a:off x="1405128" y="4508071"/>
            <a:ext cx="4434840" cy="457200"/>
          </a:xfrm>
          <a:prstGeom prst="rect">
            <a:avLst/>
          </a:prstGeom>
          <a:noFill/>
          <a:ln/>
        </p:spPr>
        <p:txBody>
          <a:bodyPr wrap="square" lIns="0" tIns="0" rIns="0" bIns="0" rtlCol="0" anchor="ctr"/>
          <a:lstStyle/>
          <a:p>
            <a:pPr marL="0" indent="0">
              <a:buNone/>
            </a:pPr>
            <a:endParaRPr lang="en-US" sz="1250" dirty="0"/>
          </a:p>
        </p:txBody>
      </p:sp>
      <p:sp>
        <p:nvSpPr>
          <p:cNvPr id="62" name="Text 25">
            <a:extLst>
              <a:ext uri="{FF2B5EF4-FFF2-40B4-BE49-F238E27FC236}">
                <a16:creationId xmlns:a16="http://schemas.microsoft.com/office/drawing/2014/main" id="{AAF727B4-138B-A917-5D8E-1AAA64293196}"/>
              </a:ext>
            </a:extLst>
          </p:cNvPr>
          <p:cNvSpPr/>
          <p:nvPr/>
        </p:nvSpPr>
        <p:spPr>
          <a:xfrm>
            <a:off x="911352" y="5236464"/>
            <a:ext cx="4837176" cy="512064"/>
          </a:xfrm>
          <a:prstGeom prst="rect">
            <a:avLst/>
          </a:prstGeom>
          <a:noFill/>
          <a:ln/>
        </p:spPr>
        <p:txBody>
          <a:bodyPr wrap="square" lIns="0" tIns="0" rIns="0" bIns="0" rtlCol="0" anchor="t"/>
          <a:lstStyle/>
          <a:p>
            <a:pPr marL="0" indent="0">
              <a:lnSpc>
                <a:spcPct val="112000"/>
              </a:lnSpc>
              <a:buNone/>
            </a:pPr>
            <a:endParaRPr lang="en-US" sz="980" dirty="0"/>
          </a:p>
        </p:txBody>
      </p:sp>
      <p:pic>
        <p:nvPicPr>
          <p:cNvPr id="6" name="Graphic 5" descr="Document with solid fill">
            <a:extLst>
              <a:ext uri="{FF2B5EF4-FFF2-40B4-BE49-F238E27FC236}">
                <a16:creationId xmlns:a16="http://schemas.microsoft.com/office/drawing/2014/main" id="{7C2D05C3-0C7F-1A81-C1DF-DBA6B8BBE9C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29571" y="2073345"/>
            <a:ext cx="269663" cy="269663"/>
          </a:xfrm>
          <a:prstGeom prst="rect">
            <a:avLst/>
          </a:prstGeom>
        </p:spPr>
      </p:pic>
      <p:pic>
        <p:nvPicPr>
          <p:cNvPr id="11" name="Graphic 10" descr="Meeting with solid fill">
            <a:extLst>
              <a:ext uri="{FF2B5EF4-FFF2-40B4-BE49-F238E27FC236}">
                <a16:creationId xmlns:a16="http://schemas.microsoft.com/office/drawing/2014/main" id="{91BFBDA2-17C2-A99E-4FE0-43CCF8DC095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92253" y="1920514"/>
            <a:ext cx="308505" cy="308505"/>
          </a:xfrm>
          <a:prstGeom prst="rect">
            <a:avLst/>
          </a:prstGeom>
        </p:spPr>
      </p:pic>
      <p:pic>
        <p:nvPicPr>
          <p:cNvPr id="18" name="Graphic 17" descr="Checkmark with solid fill">
            <a:extLst>
              <a:ext uri="{FF2B5EF4-FFF2-40B4-BE49-F238E27FC236}">
                <a16:creationId xmlns:a16="http://schemas.microsoft.com/office/drawing/2014/main" id="{712EB270-BF34-C263-110F-6C92CF84C5E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27485" y="3953467"/>
            <a:ext cx="284727" cy="284727"/>
          </a:xfrm>
          <a:prstGeom prst="rect">
            <a:avLst/>
          </a:prstGeom>
        </p:spPr>
      </p:pic>
      <p:pic>
        <p:nvPicPr>
          <p:cNvPr id="27" name="Graphic 26" descr="Open book with solid fill">
            <a:extLst>
              <a:ext uri="{FF2B5EF4-FFF2-40B4-BE49-F238E27FC236}">
                <a16:creationId xmlns:a16="http://schemas.microsoft.com/office/drawing/2014/main" id="{3BDCBFB1-246A-BADE-007F-1EA7BF31279D}"/>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365648" y="3919075"/>
            <a:ext cx="333561" cy="333561"/>
          </a:xfrm>
          <a:prstGeom prst="rect">
            <a:avLst/>
          </a:prstGeom>
        </p:spPr>
      </p:pic>
    </p:spTree>
    <p:extLst>
      <p:ext uri="{BB962C8B-B14F-4D97-AF65-F5344CB8AC3E}">
        <p14:creationId xmlns:p14="http://schemas.microsoft.com/office/powerpoint/2010/main" val="22686428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0B2E33"/>
        </a:solidFill>
        <a:effectLst/>
      </p:bgPr>
    </p:bg>
    <p:spTree>
      <p:nvGrpSpPr>
        <p:cNvPr id="1" name=""/>
        <p:cNvGrpSpPr/>
        <p:nvPr/>
      </p:nvGrpSpPr>
      <p:grpSpPr>
        <a:xfrm>
          <a:off x="0" y="0"/>
          <a:ext cx="0" cy="0"/>
          <a:chOff x="0" y="0"/>
          <a:chExt cx="0" cy="0"/>
        </a:xfrm>
      </p:grpSpPr>
      <p:sp>
        <p:nvSpPr>
          <p:cNvPr id="4" name="Text 0"/>
          <p:cNvSpPr/>
          <p:nvPr/>
        </p:nvSpPr>
        <p:spPr>
          <a:xfrm>
            <a:off x="0" y="1965960"/>
            <a:ext cx="12191695" cy="1005840"/>
          </a:xfrm>
          <a:prstGeom prst="rect">
            <a:avLst/>
          </a:prstGeom>
          <a:noFill/>
          <a:ln/>
        </p:spPr>
        <p:txBody>
          <a:bodyPr wrap="square" lIns="0" tIns="0" rIns="0" bIns="0" rtlCol="0" anchor="ctr"/>
          <a:lstStyle/>
          <a:p>
            <a:pPr marL="0" indent="0" algn="ctr">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pic>
        <p:nvPicPr>
          <p:cNvPr id="6" name="Image 2" descr="motif/ecg-coral.png"/>
          <p:cNvPicPr>
            <a:picLocks noChangeAspect="1"/>
          </p:cNvPicPr>
          <p:nvPr/>
        </p:nvPicPr>
        <p:blipFill>
          <a:blip r:embed="rId3"/>
          <a:stretch>
            <a:fillRect/>
          </a:stretch>
        </p:blipFill>
        <p:spPr>
          <a:xfrm>
            <a:off x="3535528" y="3246120"/>
            <a:ext cx="5120640" cy="640080"/>
          </a:xfrm>
          <a:prstGeom prst="rect">
            <a:avLst/>
          </a:prstGeom>
        </p:spPr>
      </p:pic>
      <p:sp>
        <p:nvSpPr>
          <p:cNvPr id="8" name="Text 3"/>
          <p:cNvSpPr/>
          <p:nvPr/>
        </p:nvSpPr>
        <p:spPr>
          <a:xfrm>
            <a:off x="305" y="4457701"/>
            <a:ext cx="12191695" cy="36576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Md. Tohidul Islam   ·   Mahfuz Sarker   ·   Md. Ibrahim Khan</a:t>
            </a:r>
            <a:endParaRPr lang="en-US" sz="3200" dirty="0"/>
          </a:p>
        </p:txBody>
      </p:sp>
      <p:sp>
        <p:nvSpPr>
          <p:cNvPr id="9" name="Text 4"/>
          <p:cNvSpPr/>
          <p:nvPr/>
        </p:nvSpPr>
        <p:spPr>
          <a:xfrm>
            <a:off x="-1" y="5372101"/>
            <a:ext cx="12191695" cy="1400174"/>
          </a:xfrm>
          <a:prstGeom prst="rect">
            <a:avLst/>
          </a:prstGeom>
          <a:noFill/>
          <a:ln/>
        </p:spPr>
        <p:txBody>
          <a:bodyPr wrap="square" lIns="0" tIns="0" rIns="0" bIns="0" rtlCol="0" anchor="ctr"/>
          <a:lstStyle/>
          <a:p>
            <a:pPr marL="0" indent="0" algn="ctr">
              <a:buNone/>
            </a:pPr>
            <a:r>
              <a:rPr lang="en-US" sz="2400" dirty="0">
                <a:solidFill>
                  <a:srgbClr val="8FB8B6"/>
                </a:solidFill>
                <a:latin typeface="Calibri" pitchFamily="34" charset="0"/>
                <a:ea typeface="Calibri" pitchFamily="34" charset="-122"/>
                <a:cs typeface="Calibri" pitchFamily="34" charset="-120"/>
              </a:rPr>
              <a:t>Supervised by Md. Raihanul Haque, </a:t>
            </a:r>
          </a:p>
          <a:p>
            <a:pPr marL="0" indent="0" algn="ctr">
              <a:buNone/>
            </a:pPr>
            <a:r>
              <a:rPr lang="en-US" sz="2400" dirty="0">
                <a:solidFill>
                  <a:srgbClr val="8FB8B6"/>
                </a:solidFill>
                <a:latin typeface="Calibri" pitchFamily="34" charset="0"/>
                <a:ea typeface="Calibri" pitchFamily="34" charset="-122"/>
                <a:cs typeface="Calibri" pitchFamily="34" charset="-120"/>
              </a:rPr>
              <a:t>Lecturer, Dept. of CSE, </a:t>
            </a:r>
          </a:p>
          <a:p>
            <a:pPr marL="0" indent="0" algn="ctr">
              <a:buNone/>
            </a:pPr>
            <a:r>
              <a:rPr lang="en-US" sz="2400" dirty="0">
                <a:solidFill>
                  <a:srgbClr val="8FB8B6"/>
                </a:solidFill>
                <a:latin typeface="Calibri" pitchFamily="34" charset="0"/>
                <a:ea typeface="Calibri" pitchFamily="34" charset="-122"/>
                <a:cs typeface="Calibri" pitchFamily="34" charset="-120"/>
              </a:rPr>
              <a:t>World University of Bangladesh</a:t>
            </a:r>
            <a:endParaRPr lang="en-US" sz="2400" dirty="0"/>
          </a:p>
        </p:txBody>
      </p:sp>
      <p:pic>
        <p:nvPicPr>
          <p:cNvPr id="11" name="Picture 10">
            <a:extLst>
              <a:ext uri="{FF2B5EF4-FFF2-40B4-BE49-F238E27FC236}">
                <a16:creationId xmlns:a16="http://schemas.microsoft.com/office/drawing/2014/main" id="{C412D587-0298-4777-55EF-2A2F84BB6F28}"/>
              </a:ext>
            </a:extLst>
          </p:cNvPr>
          <p:cNvPicPr>
            <a:picLocks noChangeAspect="1"/>
          </p:cNvPicPr>
          <p:nvPr/>
        </p:nvPicPr>
        <p:blipFill>
          <a:blip r:embed="rId4"/>
          <a:stretch>
            <a:fillRect/>
          </a:stretch>
        </p:blipFill>
        <p:spPr>
          <a:xfrm>
            <a:off x="5178879" y="355069"/>
            <a:ext cx="1834241" cy="154040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386</TotalTime>
  <Words>1958</Words>
  <Application>Microsoft Office PowerPoint</Application>
  <PresentationFormat>Widescreen</PresentationFormat>
  <Paragraphs>215</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Early Detection of Heart Failure through Machine Learning with Explainable Artificial Intelligence</dc:title>
  <dc:subject>PptxGenJS Presentation</dc:subject>
  <dc:creator>Md. Tohidul Islam, Mahfuz Sarker, Md. Ibrahim Khan</dc:creator>
  <cp:lastModifiedBy>RASEL</cp:lastModifiedBy>
  <cp:revision>18</cp:revision>
  <dcterms:created xsi:type="dcterms:W3CDTF">2026-06-21T15:41:40Z</dcterms:created>
  <dcterms:modified xsi:type="dcterms:W3CDTF">2026-06-24T15:48:38Z</dcterms:modified>
</cp:coreProperties>
</file>